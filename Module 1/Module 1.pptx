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58389"/>
  </p:normalViewPr>
  <p:slideViewPr>
    <p:cSldViewPr snapToGrid="0">
      <p:cViewPr varScale="1">
        <p:scale>
          <a:sx n="73" d="100"/>
          <a:sy n="73" d="100"/>
        </p:scale>
        <p:origin x="20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the session by setting expectations: this is not deep product training, it is practical orientation for QA. Emphasize that the purpose of Day 1 is to help the team locate the right validation surfaces before later modules go deeper into test design and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frame pace. Tell learners the session is designed for roughly 30 minutes and intentionally stays at the orientation level so the hands-on work feels less abstract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</a:t>
            </a:r>
            <a:r>
              <a:rPr lang="en-IN" b="1" dirty="0"/>
              <a:t>What This Slide Really Means (QA Perspective)</a:t>
            </a:r>
            <a:endParaRPr lang="en-IN" dirty="0"/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</a:t>
            </a:r>
            <a:r>
              <a:rPr lang="en-IN" b="1" dirty="0"/>
              <a:t>“Why Fabric knowledge matters for QA”</a:t>
            </a:r>
            <a:endParaRPr lang="en-IN" dirty="0"/>
          </a:p>
          <a:p>
            <a:r>
              <a:rPr lang="en-IN" dirty="0"/>
              <a:t>This is basically answering one core QA question:</a:t>
            </a:r>
          </a:p>
          <a:p>
            <a:r>
              <a:rPr lang="en-IN" dirty="0"/>
              <a:t>❓ </a:t>
            </a:r>
            <a:r>
              <a:rPr lang="en-IN" b="1" dirty="0"/>
              <a:t>“Why can’t QA treat Fabric like a normal database system?”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🧩 </a:t>
            </a:r>
            <a:r>
              <a:rPr lang="en-IN" b="1" dirty="0"/>
              <a:t>1. Multiple Validation Surfaces</a:t>
            </a:r>
            <a:endParaRPr lang="en-IN" dirty="0"/>
          </a:p>
          <a:p>
            <a:r>
              <a:rPr lang="en-IN" dirty="0"/>
              <a:t>Fabric is not just one layer—it has multiple layers where issues can occur:</a:t>
            </a:r>
          </a:p>
          <a:p>
            <a:r>
              <a:rPr lang="en-IN" dirty="0"/>
              <a:t>Storage (Lakehouse / tables)</a:t>
            </a:r>
          </a:p>
          <a:p>
            <a:r>
              <a:rPr lang="en-IN" dirty="0"/>
              <a:t>Orchestration (pipelines)</a:t>
            </a:r>
          </a:p>
          <a:p>
            <a:r>
              <a:rPr lang="en-IN" dirty="0"/>
              <a:t>Permissions (roles &amp; access)</a:t>
            </a:r>
          </a:p>
          <a:p>
            <a:r>
              <a:rPr lang="en-IN" dirty="0"/>
              <a:t>Semantic layer (models, relationships, DAX)</a:t>
            </a:r>
          </a:p>
          <a:p>
            <a:r>
              <a:rPr lang="en-IN" dirty="0"/>
              <a:t>Reporting (Power BI visuals)</a:t>
            </a:r>
          </a:p>
          <a:p>
            <a:r>
              <a:rPr lang="en-IN" dirty="0"/>
              <a:t>👉 Defects can appear in </a:t>
            </a:r>
            <a:r>
              <a:rPr lang="en-IN" b="1" dirty="0"/>
              <a:t>any of these layers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Data is correct in tables</a:t>
            </a:r>
          </a:p>
          <a:p>
            <a:r>
              <a:rPr lang="en-IN" dirty="0"/>
              <a:t>Pipelines execute correctly</a:t>
            </a:r>
          </a:p>
          <a:p>
            <a:r>
              <a:rPr lang="en-IN" dirty="0"/>
              <a:t>Permissions restrict properly</a:t>
            </a:r>
          </a:p>
          <a:p>
            <a:r>
              <a:rPr lang="en-IN" dirty="0"/>
              <a:t>Semantic model calculations are accurate</a:t>
            </a:r>
          </a:p>
          <a:p>
            <a:r>
              <a:rPr lang="en-IN" dirty="0"/>
              <a:t>Reports display correct results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Table has correct data → ✅</a:t>
            </a:r>
          </a:p>
          <a:p>
            <a:r>
              <a:rPr lang="en-IN" dirty="0"/>
              <a:t>But report shows wrong totals → ❌</a:t>
            </a:r>
          </a:p>
          <a:p>
            <a:r>
              <a:rPr lang="en-IN" dirty="0"/>
              <a:t>👉 Issue is in </a:t>
            </a:r>
            <a:r>
              <a:rPr lang="en-IN" b="1" dirty="0"/>
              <a:t>semantic/report layer</a:t>
            </a:r>
            <a:r>
              <a:rPr lang="en-IN" dirty="0"/>
              <a:t>, not data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</a:t>
            </a:r>
            <a:r>
              <a:rPr lang="en-IN" b="1" dirty="0"/>
              <a:t>2. Evidence is Distributed</a:t>
            </a:r>
            <a:endParaRPr lang="en-IN" dirty="0"/>
          </a:p>
          <a:p>
            <a:r>
              <a:rPr lang="en-IN" dirty="0"/>
              <a:t>In Fabric, validation evidence is not in one place—it is spread across multiple components:</a:t>
            </a:r>
          </a:p>
          <a:p>
            <a:r>
              <a:rPr lang="en-IN" dirty="0"/>
              <a:t>Pipeline run history</a:t>
            </a:r>
          </a:p>
          <a:p>
            <a:r>
              <a:rPr lang="en-IN" dirty="0"/>
              <a:t>Table data (Lakehouse/Warehouse)</a:t>
            </a:r>
          </a:p>
          <a:p>
            <a:r>
              <a:rPr lang="en-IN" dirty="0"/>
              <a:t>Roles and permissions</a:t>
            </a:r>
          </a:p>
          <a:p>
            <a:r>
              <a:rPr lang="en-IN" dirty="0"/>
              <a:t>Relationships in semantic models</a:t>
            </a:r>
          </a:p>
          <a:p>
            <a:r>
              <a:rPr lang="en-IN" dirty="0"/>
              <a:t>Workspace settings</a:t>
            </a:r>
          </a:p>
          <a:p>
            <a:r>
              <a:rPr lang="en-IN" dirty="0"/>
              <a:t>👉 QA must know </a:t>
            </a:r>
            <a:r>
              <a:rPr lang="en-IN" b="1" dirty="0"/>
              <a:t>where to look for proof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Check pipeline logs for failures</a:t>
            </a:r>
          </a:p>
          <a:p>
            <a:r>
              <a:rPr lang="en-IN" dirty="0"/>
              <a:t>Validate data in tables</a:t>
            </a:r>
          </a:p>
          <a:p>
            <a:r>
              <a:rPr lang="en-IN" dirty="0"/>
              <a:t>Verify role assignments</a:t>
            </a:r>
          </a:p>
          <a:p>
            <a:r>
              <a:rPr lang="en-IN" dirty="0"/>
              <a:t>Validate relationships and joins</a:t>
            </a:r>
          </a:p>
          <a:p>
            <a:r>
              <a:rPr lang="en-IN" dirty="0"/>
              <a:t>Confirm workspace-level configurations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Pipeline succeeded → ✅</a:t>
            </a:r>
          </a:p>
          <a:p>
            <a:r>
              <a:rPr lang="en-IN" dirty="0"/>
              <a:t>But table is empty → ❌</a:t>
            </a:r>
          </a:p>
          <a:p>
            <a:r>
              <a:rPr lang="en-IN" dirty="0"/>
              <a:t>👉 QA must check both </a:t>
            </a:r>
            <a:r>
              <a:rPr lang="en-IN" b="1" dirty="0"/>
              <a:t>execution logs AND data output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🔒 </a:t>
            </a:r>
            <a:r>
              <a:rPr lang="en-IN" b="1" dirty="0"/>
              <a:t>3. Isolation is Functional</a:t>
            </a:r>
            <a:endParaRPr lang="en-IN" dirty="0"/>
          </a:p>
          <a:p>
            <a:r>
              <a:rPr lang="en-IN" dirty="0"/>
              <a:t>Data separation is not just design—it must be validated through </a:t>
            </a:r>
            <a:r>
              <a:rPr lang="en-IN" dirty="0" err="1"/>
              <a:t>behavior</a:t>
            </a:r>
            <a:endParaRPr lang="en-IN" dirty="0"/>
          </a:p>
          <a:p>
            <a:r>
              <a:rPr lang="en-IN" dirty="0"/>
              <a:t>👉 Isolation means:</a:t>
            </a:r>
          </a:p>
          <a:p>
            <a:r>
              <a:rPr lang="en-IN" dirty="0"/>
              <a:t>Users only see allowed data</a:t>
            </a:r>
          </a:p>
          <a:p>
            <a:r>
              <a:rPr lang="en-IN" dirty="0"/>
              <a:t>No data leakage across users or roles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Different users see different data</a:t>
            </a:r>
          </a:p>
          <a:p>
            <a:r>
              <a:rPr lang="en-IN" dirty="0"/>
              <a:t>Access restrictions are enforced</a:t>
            </a:r>
          </a:p>
          <a:p>
            <a:r>
              <a:rPr lang="en-IN" dirty="0"/>
              <a:t>Row-Level Security works correctly</a:t>
            </a:r>
          </a:p>
          <a:p>
            <a:r>
              <a:rPr lang="en-IN" dirty="0"/>
              <a:t>No unintended data exposure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User A → sees only Region A</a:t>
            </a:r>
          </a:p>
          <a:p>
            <a:r>
              <a:rPr lang="en-IN" dirty="0"/>
              <a:t>User B → sees only Region B</a:t>
            </a:r>
          </a:p>
          <a:p>
            <a:r>
              <a:rPr lang="en-IN" dirty="0"/>
              <a:t>👉 If User A sees Region B data → ❌ </a:t>
            </a:r>
            <a:r>
              <a:rPr lang="en-IN" b="1" dirty="0"/>
              <a:t>Isolation failure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</a:t>
            </a:r>
            <a:r>
              <a:rPr lang="en-IN" b="1" dirty="0"/>
              <a:t>Final Understanding:</a:t>
            </a:r>
            <a:endParaRPr lang="en-IN" dirty="0"/>
          </a:p>
          <a:p>
            <a:r>
              <a:rPr lang="en-IN" dirty="0"/>
              <a:t>Fabric testing spans </a:t>
            </a:r>
            <a:r>
              <a:rPr lang="en-IN" b="1" dirty="0"/>
              <a:t>multiple layers</a:t>
            </a:r>
            <a:endParaRPr lang="en-IN" dirty="0"/>
          </a:p>
          <a:p>
            <a:r>
              <a:rPr lang="en-IN" dirty="0"/>
              <a:t>Evidence is </a:t>
            </a:r>
            <a:r>
              <a:rPr lang="en-IN" b="1" dirty="0"/>
              <a:t>spread across systems</a:t>
            </a:r>
            <a:endParaRPr lang="en-IN" dirty="0"/>
          </a:p>
          <a:p>
            <a:r>
              <a:rPr lang="en-IN" dirty="0"/>
              <a:t>Security and isolation must be </a:t>
            </a:r>
            <a:r>
              <a:rPr lang="en-IN" b="1" dirty="0"/>
              <a:t>validated through actual </a:t>
            </a:r>
            <a:r>
              <a:rPr lang="en-IN" b="1" dirty="0" err="1"/>
              <a:t>behavior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</a:t>
            </a:r>
            <a:r>
              <a:rPr lang="en-IN" b="1" dirty="0"/>
              <a:t>What This Slide Really Means (QA Perspective)</a:t>
            </a:r>
            <a:endParaRPr lang="en-IN" dirty="0"/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</a:t>
            </a:r>
            <a:r>
              <a:rPr lang="en-IN" b="1" dirty="0"/>
              <a:t>“End-to-end customer view in Fabric”</a:t>
            </a:r>
            <a:endParaRPr lang="en-IN" dirty="0"/>
          </a:p>
          <a:p>
            <a:r>
              <a:rPr lang="en-IN" dirty="0"/>
              <a:t>This is basically answering one core QA question:</a:t>
            </a:r>
          </a:p>
          <a:p>
            <a:r>
              <a:rPr lang="en-IN" dirty="0"/>
              <a:t>❓ </a:t>
            </a:r>
            <a:r>
              <a:rPr lang="en-IN" b="1" dirty="0"/>
              <a:t>“Is the data correct across the entire pipeline—from source to final report?”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🔗 </a:t>
            </a:r>
            <a:r>
              <a:rPr lang="en-IN" b="1" dirty="0"/>
              <a:t>1. Source Systems (Starting Point)</a:t>
            </a:r>
            <a:endParaRPr lang="en-IN" dirty="0"/>
          </a:p>
          <a:p>
            <a:r>
              <a:rPr lang="en-IN" dirty="0"/>
              <a:t>Examples:</a:t>
            </a:r>
          </a:p>
          <a:p>
            <a:r>
              <a:rPr lang="en-IN" dirty="0"/>
              <a:t>ERP</a:t>
            </a:r>
          </a:p>
          <a:p>
            <a:r>
              <a:rPr lang="en-IN" dirty="0"/>
              <a:t>CRM</a:t>
            </a:r>
          </a:p>
          <a:p>
            <a:r>
              <a:rPr lang="en-IN" dirty="0"/>
              <a:t>Files</a:t>
            </a:r>
          </a:p>
          <a:p>
            <a:r>
              <a:rPr lang="en-IN" dirty="0"/>
              <a:t>👉 This is where data originates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All required sources are connected</a:t>
            </a:r>
          </a:p>
          <a:p>
            <a:r>
              <a:rPr lang="en-IN" dirty="0"/>
              <a:t>Data is being ingested completely</a:t>
            </a:r>
          </a:p>
          <a:p>
            <a:r>
              <a:rPr lang="en-IN" dirty="0"/>
              <a:t>No missing or partial data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Source has 10,000 records</a:t>
            </a:r>
          </a:p>
          <a:p>
            <a:r>
              <a:rPr lang="en-IN" dirty="0"/>
              <a:t>Fabric ingests only 8,000</a:t>
            </a:r>
          </a:p>
          <a:p>
            <a:r>
              <a:rPr lang="en-IN" dirty="0"/>
              <a:t>👉 ❌ </a:t>
            </a:r>
            <a:r>
              <a:rPr lang="en-IN" b="1" dirty="0"/>
              <a:t>Source coverage issue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💧 </a:t>
            </a:r>
            <a:r>
              <a:rPr lang="en-IN" b="1" dirty="0"/>
              <a:t>2. </a:t>
            </a:r>
            <a:r>
              <a:rPr lang="en-IN" b="1" dirty="0" err="1"/>
              <a:t>OneLake</a:t>
            </a:r>
            <a:r>
              <a:rPr lang="en-IN" b="1" dirty="0"/>
              <a:t> (Storage Foundation)</a:t>
            </a:r>
            <a:endParaRPr lang="en-IN" dirty="0"/>
          </a:p>
          <a:p>
            <a:r>
              <a:rPr lang="en-IN" dirty="0"/>
              <a:t>👉 Central storage layer in Fabric</a:t>
            </a:r>
          </a:p>
          <a:p>
            <a:r>
              <a:rPr lang="en-IN" dirty="0"/>
              <a:t>Stores all ingested data</a:t>
            </a:r>
          </a:p>
          <a:p>
            <a:r>
              <a:rPr lang="en-IN" dirty="0"/>
              <a:t>Acts as the base for all downstream processing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Data is stored correctly</a:t>
            </a:r>
          </a:p>
          <a:p>
            <a:r>
              <a:rPr lang="en-IN" dirty="0"/>
              <a:t>No duplication or loss during ingestion</a:t>
            </a:r>
          </a:p>
          <a:p>
            <a:r>
              <a:rPr lang="en-IN" dirty="0"/>
              <a:t>Data separation (multi-customer or multi-domain) is correct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Customer A data should not appear in Customer B folder</a:t>
            </a:r>
          </a:p>
          <a:p>
            <a:r>
              <a:rPr lang="en-IN" dirty="0"/>
              <a:t>👉 ❌ </a:t>
            </a:r>
            <a:r>
              <a:rPr lang="en-IN" b="1" dirty="0"/>
              <a:t>Data isolation issue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🏗️ </a:t>
            </a:r>
            <a:r>
              <a:rPr lang="en-IN" b="1" dirty="0"/>
              <a:t>3. Lakehouse (Raw + Curated Layer)</a:t>
            </a:r>
            <a:endParaRPr lang="en-IN" dirty="0"/>
          </a:p>
          <a:p>
            <a:r>
              <a:rPr lang="en-IN" dirty="0"/>
              <a:t>👉 Data is transformed and structured</a:t>
            </a:r>
          </a:p>
          <a:p>
            <a:r>
              <a:rPr lang="en-IN" dirty="0"/>
              <a:t>Raw tables (as ingested)</a:t>
            </a:r>
          </a:p>
          <a:p>
            <a:r>
              <a:rPr lang="en-IN" dirty="0"/>
              <a:t>Curated tables (cleaned and processed)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Raw data matches source</a:t>
            </a:r>
          </a:p>
          <a:p>
            <a:r>
              <a:rPr lang="en-IN" dirty="0"/>
              <a:t>Curated data reflects transformations correctly</a:t>
            </a:r>
          </a:p>
          <a:p>
            <a:r>
              <a:rPr lang="en-IN" dirty="0"/>
              <a:t>No unintended data changes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Raw table → correct</a:t>
            </a:r>
          </a:p>
          <a:p>
            <a:r>
              <a:rPr lang="en-IN" dirty="0"/>
              <a:t>Curated table → missing columns or wrong values</a:t>
            </a:r>
          </a:p>
          <a:p>
            <a:r>
              <a:rPr lang="en-IN" dirty="0"/>
              <a:t>👉 ❌ </a:t>
            </a:r>
            <a:r>
              <a:rPr lang="en-IN" b="1" dirty="0"/>
              <a:t>Transformation issue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🧮 </a:t>
            </a:r>
            <a:r>
              <a:rPr lang="en-IN" b="1" dirty="0"/>
              <a:t>4. Warehouse (Business Logic Layer)</a:t>
            </a:r>
            <a:endParaRPr lang="en-IN" dirty="0"/>
          </a:p>
          <a:p>
            <a:r>
              <a:rPr lang="en-IN" dirty="0"/>
              <a:t>👉 SQL layer where business rules are applied</a:t>
            </a:r>
          </a:p>
          <a:p>
            <a:r>
              <a:rPr lang="en-IN" dirty="0"/>
              <a:t>Aggregations</a:t>
            </a:r>
          </a:p>
          <a:p>
            <a:r>
              <a:rPr lang="en-IN" dirty="0"/>
              <a:t>Joins</a:t>
            </a:r>
          </a:p>
          <a:p>
            <a:r>
              <a:rPr lang="en-IN" dirty="0"/>
              <a:t>Calculations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SQL queries produce correct results</a:t>
            </a:r>
          </a:p>
          <a:p>
            <a:r>
              <a:rPr lang="en-IN" dirty="0"/>
              <a:t>Business logic is correctly applied</a:t>
            </a:r>
          </a:p>
          <a:p>
            <a:r>
              <a:rPr lang="en-IN" dirty="0"/>
              <a:t>Aggregations match expectations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Total sales in table = 1,00,000</a:t>
            </a:r>
          </a:p>
          <a:p>
            <a:r>
              <a:rPr lang="en-IN" dirty="0"/>
              <a:t>SQL output = 90,000</a:t>
            </a:r>
          </a:p>
          <a:p>
            <a:r>
              <a:rPr lang="en-IN" dirty="0"/>
              <a:t>👉 ❌ </a:t>
            </a:r>
            <a:r>
              <a:rPr lang="en-IN" b="1" dirty="0"/>
              <a:t>Business logic or query issue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</a:t>
            </a:r>
            <a:r>
              <a:rPr lang="en-IN" b="1" dirty="0"/>
              <a:t>5. Semantic Model and Reports (Consumption Layer)</a:t>
            </a:r>
            <a:endParaRPr lang="en-IN" dirty="0"/>
          </a:p>
          <a:p>
            <a:r>
              <a:rPr lang="en-IN" dirty="0"/>
              <a:t>👉 Final layer used by business users</a:t>
            </a:r>
          </a:p>
          <a:p>
            <a:r>
              <a:rPr lang="en-IN" dirty="0"/>
              <a:t>Power BI reports</a:t>
            </a:r>
          </a:p>
          <a:p>
            <a:r>
              <a:rPr lang="en-IN" dirty="0"/>
              <a:t>Dashboards</a:t>
            </a:r>
          </a:p>
          <a:p>
            <a:r>
              <a:rPr lang="en-IN" dirty="0"/>
              <a:t>DAX calculations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Report visuals match backend data</a:t>
            </a:r>
          </a:p>
          <a:p>
            <a:r>
              <a:rPr lang="en-IN" dirty="0"/>
              <a:t>Filters and slicers work correctly</a:t>
            </a:r>
          </a:p>
          <a:p>
            <a:r>
              <a:rPr lang="en-IN" dirty="0"/>
              <a:t>Measures (DAX) are accurate</a:t>
            </a:r>
          </a:p>
          <a:p>
            <a:r>
              <a:rPr lang="en-IN" dirty="0"/>
              <a:t>Data is correctly exposed to users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Warehouse shows correct data</a:t>
            </a:r>
          </a:p>
          <a:p>
            <a:r>
              <a:rPr lang="en-IN" dirty="0"/>
              <a:t>Report shows incorrect totals</a:t>
            </a:r>
          </a:p>
          <a:p>
            <a:r>
              <a:rPr lang="en-IN" dirty="0"/>
              <a:t>👉 ❌ </a:t>
            </a:r>
            <a:r>
              <a:rPr lang="en-IN" b="1" dirty="0"/>
              <a:t>Semantic/report layer issue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</a:t>
            </a:r>
            <a:r>
              <a:rPr lang="en-IN" b="1" dirty="0"/>
              <a:t>Final Understanding:</a:t>
            </a:r>
            <a:endParaRPr lang="en-IN" dirty="0"/>
          </a:p>
          <a:p>
            <a:r>
              <a:rPr lang="en-IN" dirty="0"/>
              <a:t>Data flows through multiple layers</a:t>
            </a:r>
          </a:p>
          <a:p>
            <a:r>
              <a:rPr lang="en-IN" dirty="0"/>
              <a:t>Each layer introduces potential issues</a:t>
            </a:r>
          </a:p>
          <a:p>
            <a:r>
              <a:rPr lang="en-IN" dirty="0"/>
              <a:t>QA must validate </a:t>
            </a:r>
            <a:r>
              <a:rPr lang="en-IN" b="1" dirty="0"/>
              <a:t>end-to-end consistency</a:t>
            </a:r>
            <a:r>
              <a:rPr lang="en-IN" dirty="0"/>
              <a:t>, not just one layer</a:t>
            </a:r>
          </a:p>
          <a:p>
            <a:r>
              <a:rPr lang="en-IN" dirty="0"/>
              <a:t>👉 If data is wrong anywhere in the flow → </a:t>
            </a:r>
            <a:r>
              <a:rPr lang="en-IN" b="1" dirty="0"/>
              <a:t>final output is unreliable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</a:t>
            </a:r>
            <a:r>
              <a:rPr lang="en-IN" b="1" dirty="0"/>
              <a:t>What This Slide Really Means (QA Perspective)</a:t>
            </a:r>
            <a:endParaRPr lang="en-IN" dirty="0"/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</a:t>
            </a:r>
            <a:r>
              <a:rPr lang="en-IN" b="1" dirty="0"/>
              <a:t>“Fabric platform map for QA”</a:t>
            </a:r>
            <a:endParaRPr lang="en-IN" dirty="0"/>
          </a:p>
          <a:p>
            <a:r>
              <a:rPr lang="en-IN" dirty="0"/>
              <a:t>This is basically answering one core QA question:</a:t>
            </a:r>
          </a:p>
          <a:p>
            <a:r>
              <a:rPr lang="en-IN" dirty="0"/>
              <a:t>❓ </a:t>
            </a:r>
            <a:r>
              <a:rPr lang="en-IN" b="1" dirty="0"/>
              <a:t>“Where should QA validate across the Fabric platform?”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🧭 </a:t>
            </a:r>
            <a:r>
              <a:rPr lang="en-IN" b="1" dirty="0"/>
              <a:t>1. </a:t>
            </a:r>
            <a:r>
              <a:rPr lang="en-IN" b="1" dirty="0" err="1"/>
              <a:t>OneLake</a:t>
            </a:r>
            <a:r>
              <a:rPr lang="en-IN" b="1" dirty="0"/>
              <a:t> (Central Foundation)</a:t>
            </a:r>
            <a:endParaRPr lang="en-IN" dirty="0"/>
          </a:p>
          <a:p>
            <a:r>
              <a:rPr lang="en-IN" dirty="0"/>
              <a:t>👉 This is the core of Fabric</a:t>
            </a:r>
          </a:p>
          <a:p>
            <a:r>
              <a:rPr lang="en-IN" dirty="0"/>
              <a:t>All data is stored here</a:t>
            </a:r>
          </a:p>
          <a:p>
            <a:r>
              <a:rPr lang="en-IN" dirty="0"/>
              <a:t>All services connect to it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understand:</a:t>
            </a:r>
            <a:endParaRPr lang="en-IN" dirty="0"/>
          </a:p>
          <a:p>
            <a:r>
              <a:rPr lang="en-IN" dirty="0"/>
              <a:t>Data flows into </a:t>
            </a:r>
            <a:r>
              <a:rPr lang="en-IN" dirty="0" err="1"/>
              <a:t>OneLake</a:t>
            </a:r>
            <a:r>
              <a:rPr lang="en-IN" dirty="0"/>
              <a:t> and is reused across services</a:t>
            </a:r>
          </a:p>
          <a:p>
            <a:r>
              <a:rPr lang="en-IN" dirty="0"/>
              <a:t>Any issue in storage impacts all downstream layers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Incorrect data stored in </a:t>
            </a:r>
            <a:r>
              <a:rPr lang="en-IN" dirty="0" err="1"/>
              <a:t>OneLake</a:t>
            </a:r>
            <a:endParaRPr lang="en-IN" dirty="0"/>
          </a:p>
          <a:p>
            <a:r>
              <a:rPr lang="en-IN" dirty="0"/>
              <a:t>Same incorrect data appears in:</a:t>
            </a:r>
          </a:p>
          <a:p>
            <a:pPr lvl="1"/>
            <a:r>
              <a:rPr lang="en-IN" dirty="0"/>
              <a:t>Lakehouse</a:t>
            </a:r>
          </a:p>
          <a:p>
            <a:pPr lvl="1"/>
            <a:r>
              <a:rPr lang="en-IN" dirty="0"/>
              <a:t>Warehouse</a:t>
            </a:r>
          </a:p>
          <a:p>
            <a:pPr lvl="1"/>
            <a:r>
              <a:rPr lang="en-IN" dirty="0"/>
              <a:t>Power BI</a:t>
            </a:r>
          </a:p>
          <a:p>
            <a:r>
              <a:rPr lang="en-IN" dirty="0"/>
              <a:t>👉 ❌ Root issue is at storage level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🔄 </a:t>
            </a:r>
            <a:r>
              <a:rPr lang="en-IN" b="1" dirty="0"/>
              <a:t>2. Data Factory (Pipelines &amp; Movement)</a:t>
            </a:r>
            <a:endParaRPr lang="en-IN" dirty="0"/>
          </a:p>
          <a:p>
            <a:r>
              <a:rPr lang="en-IN" dirty="0"/>
              <a:t>👉 Responsible for:</a:t>
            </a:r>
          </a:p>
          <a:p>
            <a:r>
              <a:rPr lang="en-IN" dirty="0"/>
              <a:t>Data ingestion</a:t>
            </a:r>
          </a:p>
          <a:p>
            <a:r>
              <a:rPr lang="en-IN" dirty="0"/>
              <a:t>Data movement</a:t>
            </a:r>
          </a:p>
          <a:p>
            <a:r>
              <a:rPr lang="en-IN" dirty="0"/>
              <a:t>Orchestration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Pipelines run successfully</a:t>
            </a:r>
          </a:p>
          <a:p>
            <a:r>
              <a:rPr lang="en-IN" dirty="0"/>
              <a:t>Data is moved correctly</a:t>
            </a:r>
          </a:p>
          <a:p>
            <a:r>
              <a:rPr lang="en-IN" dirty="0"/>
              <a:t>No data loss or duplication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Pipeline succeeds → ✅</a:t>
            </a:r>
          </a:p>
          <a:p>
            <a:r>
              <a:rPr lang="en-IN" dirty="0"/>
              <a:t>But only partial data loaded → ❌</a:t>
            </a:r>
          </a:p>
          <a:p>
            <a:r>
              <a:rPr lang="en-IN" dirty="0"/>
              <a:t>👉 Pipeline logic or mapping issue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🏗️ </a:t>
            </a:r>
            <a:r>
              <a:rPr lang="en-IN" b="1" dirty="0"/>
              <a:t>3. Data Engineering (Lakehouse &amp; Spark)</a:t>
            </a:r>
            <a:endParaRPr lang="en-IN" dirty="0"/>
          </a:p>
          <a:p>
            <a:r>
              <a:rPr lang="en-IN" dirty="0"/>
              <a:t>👉 Handles:</a:t>
            </a:r>
          </a:p>
          <a:p>
            <a:r>
              <a:rPr lang="en-IN" dirty="0"/>
              <a:t>Raw data storage</a:t>
            </a:r>
          </a:p>
          <a:p>
            <a:r>
              <a:rPr lang="en-IN" dirty="0"/>
              <a:t>Data transformation</a:t>
            </a:r>
          </a:p>
          <a:p>
            <a:r>
              <a:rPr lang="en-IN" dirty="0"/>
              <a:t>Spark processing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Raw data matches source</a:t>
            </a:r>
          </a:p>
          <a:p>
            <a:r>
              <a:rPr lang="en-IN" dirty="0"/>
              <a:t>Transformations are correct</a:t>
            </a:r>
          </a:p>
          <a:p>
            <a:r>
              <a:rPr lang="en-IN" dirty="0"/>
              <a:t>No unintended data changes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Source data = correct</a:t>
            </a:r>
          </a:p>
          <a:p>
            <a:r>
              <a:rPr lang="en-IN" dirty="0"/>
              <a:t>Transformed table = incorrect</a:t>
            </a:r>
          </a:p>
          <a:p>
            <a:r>
              <a:rPr lang="en-IN" dirty="0"/>
              <a:t>👉 ❌ Transformation issue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🧮 </a:t>
            </a:r>
            <a:r>
              <a:rPr lang="en-IN" b="1" dirty="0"/>
              <a:t>4. Data Warehouse (SQL Layer)</a:t>
            </a:r>
            <a:endParaRPr lang="en-IN" dirty="0"/>
          </a:p>
          <a:p>
            <a:r>
              <a:rPr lang="en-IN" dirty="0"/>
              <a:t>👉 Business-ready layer</a:t>
            </a:r>
          </a:p>
          <a:p>
            <a:r>
              <a:rPr lang="en-IN" dirty="0"/>
              <a:t>SQL queries</a:t>
            </a:r>
          </a:p>
          <a:p>
            <a:r>
              <a:rPr lang="en-IN" dirty="0"/>
              <a:t>Aggregations</a:t>
            </a:r>
          </a:p>
          <a:p>
            <a:r>
              <a:rPr lang="en-IN" dirty="0"/>
              <a:t>Joins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SQL results are accurate</a:t>
            </a:r>
          </a:p>
          <a:p>
            <a:r>
              <a:rPr lang="en-IN" dirty="0"/>
              <a:t>Business logic is correctly applied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Table data correct</a:t>
            </a:r>
          </a:p>
          <a:p>
            <a:r>
              <a:rPr lang="en-IN" dirty="0"/>
              <a:t>SQL output incorrect</a:t>
            </a:r>
          </a:p>
          <a:p>
            <a:r>
              <a:rPr lang="en-IN" dirty="0"/>
              <a:t>👉 ❌ Query or logic issue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</a:t>
            </a:r>
            <a:r>
              <a:rPr lang="en-IN" b="1" dirty="0"/>
              <a:t>5. Power BI (Semantic &amp; Reporting Layer)</a:t>
            </a:r>
            <a:endParaRPr lang="en-IN" dirty="0"/>
          </a:p>
          <a:p>
            <a:r>
              <a:rPr lang="en-IN" dirty="0"/>
              <a:t>👉 Final consumption layer</a:t>
            </a:r>
          </a:p>
          <a:p>
            <a:r>
              <a:rPr lang="en-IN" dirty="0"/>
              <a:t>Reports</a:t>
            </a:r>
          </a:p>
          <a:p>
            <a:r>
              <a:rPr lang="en-IN" dirty="0"/>
              <a:t>Dashboards</a:t>
            </a:r>
          </a:p>
          <a:p>
            <a:r>
              <a:rPr lang="en-IN" dirty="0"/>
              <a:t>DAX calculations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Visuals match backend data</a:t>
            </a:r>
          </a:p>
          <a:p>
            <a:r>
              <a:rPr lang="en-IN" dirty="0"/>
              <a:t>Filters and slicers work correctly</a:t>
            </a:r>
          </a:p>
          <a:p>
            <a:r>
              <a:rPr lang="en-IN" dirty="0"/>
              <a:t>Measures are accurate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Warehouse shows correct data</a:t>
            </a:r>
          </a:p>
          <a:p>
            <a:r>
              <a:rPr lang="en-IN" dirty="0"/>
              <a:t>Report shows incorrect values</a:t>
            </a:r>
          </a:p>
          <a:p>
            <a:r>
              <a:rPr lang="en-IN" dirty="0"/>
              <a:t>👉 ❌ Semantic/report issue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</a:t>
            </a:r>
            <a:r>
              <a:rPr lang="en-IN" b="1" dirty="0"/>
              <a:t>Final Understanding:</a:t>
            </a:r>
            <a:endParaRPr lang="en-IN" dirty="0"/>
          </a:p>
          <a:p>
            <a:r>
              <a:rPr lang="en-IN" dirty="0"/>
              <a:t>Fabric platform is </a:t>
            </a:r>
            <a:r>
              <a:rPr lang="en-IN" b="1" dirty="0"/>
              <a:t>unified through </a:t>
            </a:r>
            <a:r>
              <a:rPr lang="en-IN" b="1" dirty="0" err="1"/>
              <a:t>OneLake</a:t>
            </a:r>
            <a:endParaRPr lang="en-IN" dirty="0"/>
          </a:p>
          <a:p>
            <a:r>
              <a:rPr lang="en-IN" dirty="0"/>
              <a:t>But QA validation is </a:t>
            </a:r>
            <a:r>
              <a:rPr lang="en-IN" b="1" dirty="0"/>
              <a:t>spread across multiple services</a:t>
            </a:r>
            <a:endParaRPr lang="en-IN" dirty="0"/>
          </a:p>
          <a:p>
            <a:r>
              <a:rPr lang="en-IN" dirty="0"/>
              <a:t>👉 Even though system looks like one platform,</a:t>
            </a:r>
            <a:br>
              <a:rPr lang="en-IN" dirty="0"/>
            </a:br>
            <a:r>
              <a:rPr lang="en-IN" dirty="0"/>
              <a:t>👉 </a:t>
            </a:r>
            <a:r>
              <a:rPr lang="en-IN" b="1" dirty="0"/>
              <a:t>Testing must happen at each layer separately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</a:t>
            </a:r>
            <a:r>
              <a:rPr lang="en-IN" b="1" dirty="0"/>
              <a:t>What This Slide Really Means (QA Perspective)</a:t>
            </a:r>
            <a:endParaRPr lang="en-IN" dirty="0"/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</a:t>
            </a:r>
            <a:r>
              <a:rPr lang="en-IN" b="1" dirty="0"/>
              <a:t>“The components QA will encounter”</a:t>
            </a:r>
            <a:endParaRPr lang="en-IN" dirty="0"/>
          </a:p>
          <a:p>
            <a:r>
              <a:rPr lang="en-IN" dirty="0"/>
              <a:t>This is basically answering one core QA question:</a:t>
            </a:r>
          </a:p>
          <a:p>
            <a:r>
              <a:rPr lang="en-IN" dirty="0"/>
              <a:t>❓ </a:t>
            </a:r>
            <a:r>
              <a:rPr lang="en-IN" b="1" dirty="0"/>
              <a:t>“What are all the places QA needs to validate in Microsoft Fabric?”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💧 </a:t>
            </a:r>
            <a:r>
              <a:rPr lang="en-IN" b="1" dirty="0"/>
              <a:t>1. </a:t>
            </a:r>
            <a:r>
              <a:rPr lang="en-IN" b="1" dirty="0" err="1"/>
              <a:t>OneLake</a:t>
            </a:r>
            <a:endParaRPr lang="en-IN" dirty="0"/>
          </a:p>
          <a:p>
            <a:r>
              <a:rPr lang="en-IN" dirty="0"/>
              <a:t>👉 Central storage layer</a:t>
            </a:r>
          </a:p>
          <a:p>
            <a:r>
              <a:rPr lang="en-IN" dirty="0"/>
              <a:t>All data is stored and shared here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Data is stored correctly</a:t>
            </a:r>
          </a:p>
          <a:p>
            <a:r>
              <a:rPr lang="en-IN" dirty="0"/>
              <a:t>Data is accessible where expected</a:t>
            </a:r>
          </a:p>
          <a:p>
            <a:r>
              <a:rPr lang="en-IN" dirty="0"/>
              <a:t>No duplication or missing data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Data written to </a:t>
            </a:r>
            <a:r>
              <a:rPr lang="en-IN" dirty="0" err="1"/>
              <a:t>OneLake</a:t>
            </a:r>
            <a:endParaRPr lang="en-IN" dirty="0"/>
          </a:p>
          <a:p>
            <a:r>
              <a:rPr lang="en-IN" dirty="0"/>
              <a:t>Not visible in downstream layers</a:t>
            </a:r>
          </a:p>
          <a:p>
            <a:r>
              <a:rPr lang="en-IN" dirty="0"/>
              <a:t>👉 ❌ </a:t>
            </a:r>
            <a:r>
              <a:rPr lang="en-IN" b="1" dirty="0"/>
              <a:t>Storage or access issue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🏗️ </a:t>
            </a:r>
            <a:r>
              <a:rPr lang="en-IN" b="1" dirty="0"/>
              <a:t>2. Lakehouse</a:t>
            </a:r>
            <a:endParaRPr lang="en-IN" dirty="0"/>
          </a:p>
          <a:p>
            <a:r>
              <a:rPr lang="en-IN" dirty="0"/>
              <a:t>👉 Data layer with files and tables</a:t>
            </a:r>
          </a:p>
          <a:p>
            <a:r>
              <a:rPr lang="en-IN" dirty="0"/>
              <a:t>Raw data</a:t>
            </a:r>
          </a:p>
          <a:p>
            <a:r>
              <a:rPr lang="en-IN" dirty="0"/>
              <a:t>Curated data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Files are correctly ingested</a:t>
            </a:r>
          </a:p>
          <a:p>
            <a:r>
              <a:rPr lang="en-IN" dirty="0"/>
              <a:t>Tables reflect correct data</a:t>
            </a:r>
          </a:p>
          <a:p>
            <a:r>
              <a:rPr lang="en-IN" dirty="0"/>
              <a:t>Schema is accurate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File has 10 columns</a:t>
            </a:r>
          </a:p>
          <a:p>
            <a:r>
              <a:rPr lang="en-IN" dirty="0"/>
              <a:t>Table has only 8 columns</a:t>
            </a:r>
          </a:p>
          <a:p>
            <a:r>
              <a:rPr lang="en-IN" dirty="0"/>
              <a:t>👉 ❌ </a:t>
            </a:r>
            <a:r>
              <a:rPr lang="en-IN" b="1" dirty="0"/>
              <a:t>Schema mismatch issue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🧮 </a:t>
            </a:r>
            <a:r>
              <a:rPr lang="en-IN" b="1" dirty="0"/>
              <a:t>3. Warehouse</a:t>
            </a:r>
            <a:endParaRPr lang="en-IN" dirty="0"/>
          </a:p>
          <a:p>
            <a:r>
              <a:rPr lang="en-IN" dirty="0"/>
              <a:t>👉 SQL-based analytics layer</a:t>
            </a:r>
          </a:p>
          <a:p>
            <a:r>
              <a:rPr lang="en-IN" dirty="0"/>
              <a:t>Business logic applied using SQL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SQL outputs are correct</a:t>
            </a:r>
          </a:p>
          <a:p>
            <a:r>
              <a:rPr lang="en-IN" dirty="0"/>
              <a:t>Aggregations and joins are accurate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Expected revenue = 1,00,000</a:t>
            </a:r>
          </a:p>
          <a:p>
            <a:r>
              <a:rPr lang="en-IN" dirty="0"/>
              <a:t>SQL output = 85,000</a:t>
            </a:r>
          </a:p>
          <a:p>
            <a:r>
              <a:rPr lang="en-IN" dirty="0"/>
              <a:t>👉 ❌ </a:t>
            </a:r>
            <a:r>
              <a:rPr lang="en-IN" b="1" dirty="0"/>
              <a:t>Query or logic issue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🔄 </a:t>
            </a:r>
            <a:r>
              <a:rPr lang="en-IN" b="1" dirty="0"/>
              <a:t>4. Pipelines</a:t>
            </a:r>
            <a:endParaRPr lang="en-IN" dirty="0"/>
          </a:p>
          <a:p>
            <a:r>
              <a:rPr lang="en-IN" dirty="0"/>
              <a:t>👉 Orchestration layer</a:t>
            </a:r>
          </a:p>
          <a:p>
            <a:r>
              <a:rPr lang="en-IN" dirty="0"/>
              <a:t>Controls data movement and execution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Pipelines run successfully</a:t>
            </a:r>
          </a:p>
          <a:p>
            <a:r>
              <a:rPr lang="en-IN" dirty="0"/>
              <a:t>All steps execute in correct order</a:t>
            </a:r>
          </a:p>
          <a:p>
            <a:r>
              <a:rPr lang="en-IN" dirty="0"/>
              <a:t>Data flows correctly between stages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Pipeline shows success</a:t>
            </a:r>
          </a:p>
          <a:p>
            <a:r>
              <a:rPr lang="en-IN" dirty="0"/>
              <a:t>But downstream table is empty</a:t>
            </a:r>
          </a:p>
          <a:p>
            <a:r>
              <a:rPr lang="en-IN" dirty="0"/>
              <a:t>👉 ❌ </a:t>
            </a:r>
            <a:r>
              <a:rPr lang="en-IN" b="1" dirty="0"/>
              <a:t>Execution or dependency issue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</a:t>
            </a:r>
            <a:r>
              <a:rPr lang="en-IN" b="1" dirty="0"/>
              <a:t>5. Semantic Model</a:t>
            </a:r>
            <a:endParaRPr lang="en-IN" dirty="0"/>
          </a:p>
          <a:p>
            <a:r>
              <a:rPr lang="en-IN" dirty="0"/>
              <a:t>👉 Business-facing data layer</a:t>
            </a:r>
          </a:p>
          <a:p>
            <a:r>
              <a:rPr lang="en-IN" dirty="0"/>
              <a:t>Relationships</a:t>
            </a:r>
          </a:p>
          <a:p>
            <a:r>
              <a:rPr lang="en-IN" dirty="0"/>
              <a:t>Measures (DAX)</a:t>
            </a:r>
          </a:p>
          <a:p>
            <a:r>
              <a:rPr lang="en-IN" dirty="0"/>
              <a:t>Data </a:t>
            </a:r>
            <a:r>
              <a:rPr lang="en-IN" dirty="0" err="1"/>
              <a:t>modeling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Relationships between tables are correct</a:t>
            </a:r>
          </a:p>
          <a:p>
            <a:r>
              <a:rPr lang="en-IN" dirty="0"/>
              <a:t>Measures produce correct values</a:t>
            </a:r>
          </a:p>
          <a:p>
            <a:r>
              <a:rPr lang="en-IN" dirty="0"/>
              <a:t>Data is shaped correctly for reporting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Table data is correct</a:t>
            </a:r>
          </a:p>
          <a:p>
            <a:r>
              <a:rPr lang="en-IN" dirty="0"/>
              <a:t>Report totals are incorrect</a:t>
            </a:r>
          </a:p>
          <a:p>
            <a:r>
              <a:rPr lang="en-IN" dirty="0"/>
              <a:t>👉 ❌ </a:t>
            </a:r>
            <a:r>
              <a:rPr lang="en-IN" b="1" dirty="0" err="1"/>
              <a:t>Modeling</a:t>
            </a:r>
            <a:r>
              <a:rPr lang="en-IN" b="1" dirty="0"/>
              <a:t> or DAX issue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🔐 </a:t>
            </a:r>
            <a:r>
              <a:rPr lang="en-IN" b="1" dirty="0"/>
              <a:t>6. Permissions and Logs</a:t>
            </a:r>
            <a:endParaRPr lang="en-IN" dirty="0"/>
          </a:p>
          <a:p>
            <a:r>
              <a:rPr lang="en-IN" dirty="0"/>
              <a:t>👉 Security and monitoring layer</a:t>
            </a:r>
          </a:p>
          <a:p>
            <a:r>
              <a:rPr lang="en-IN" dirty="0"/>
              <a:t>Who can access what</a:t>
            </a:r>
          </a:p>
          <a:p>
            <a:r>
              <a:rPr lang="en-IN" dirty="0"/>
              <a:t>What actions are recorded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Users have correct access levels</a:t>
            </a:r>
          </a:p>
          <a:p>
            <a:r>
              <a:rPr lang="en-IN" dirty="0"/>
              <a:t>Unauthorized access is blocked</a:t>
            </a:r>
          </a:p>
          <a:p>
            <a:r>
              <a:rPr lang="en-IN" dirty="0"/>
              <a:t>Logs capture all activities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User accesses restricted data</a:t>
            </a:r>
          </a:p>
          <a:p>
            <a:r>
              <a:rPr lang="en-IN" dirty="0"/>
              <a:t>👉 ❌ </a:t>
            </a:r>
            <a:r>
              <a:rPr lang="en-IN" b="1" dirty="0"/>
              <a:t>Permission issue</a:t>
            </a:r>
            <a:endParaRPr lang="en-IN" dirty="0"/>
          </a:p>
          <a:p>
            <a:r>
              <a:rPr lang="en-IN" dirty="0"/>
              <a:t>No logs recorded for access</a:t>
            </a:r>
          </a:p>
          <a:p>
            <a:r>
              <a:rPr lang="en-IN" dirty="0"/>
              <a:t>👉 ❌ </a:t>
            </a:r>
            <a:r>
              <a:rPr lang="en-IN" b="1" dirty="0"/>
              <a:t>Monitoring issue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</a:t>
            </a:r>
            <a:r>
              <a:rPr lang="en-IN" b="1" dirty="0"/>
              <a:t>Final Understanding:</a:t>
            </a:r>
            <a:endParaRPr lang="en-IN" dirty="0"/>
          </a:p>
          <a:p>
            <a:r>
              <a:rPr lang="en-IN" dirty="0"/>
              <a:t>Each Fabric component introduces a </a:t>
            </a:r>
            <a:r>
              <a:rPr lang="en-IN" b="1" dirty="0"/>
              <a:t>different validation point</a:t>
            </a:r>
            <a:endParaRPr lang="en-IN" dirty="0"/>
          </a:p>
          <a:p>
            <a:r>
              <a:rPr lang="en-IN" dirty="0"/>
              <a:t>QA must test </a:t>
            </a:r>
            <a:r>
              <a:rPr lang="en-IN" b="1" dirty="0"/>
              <a:t>data, logic, orchestration, security, and visibility</a:t>
            </a:r>
            <a:r>
              <a:rPr lang="en-IN" dirty="0"/>
              <a:t> across all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</a:t>
            </a:r>
            <a:r>
              <a:rPr lang="en-IN" b="1" dirty="0"/>
              <a:t>What This Slide Really Means (QA Perspective)</a:t>
            </a:r>
            <a:endParaRPr lang="en-IN" dirty="0"/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</a:t>
            </a:r>
            <a:r>
              <a:rPr lang="en-IN" b="1" dirty="0"/>
              <a:t>“How customer isolation works”</a:t>
            </a:r>
            <a:endParaRPr lang="en-IN" dirty="0"/>
          </a:p>
          <a:p>
            <a:r>
              <a:rPr lang="en-IN" dirty="0"/>
              <a:t>This is basically answering one core QA question:</a:t>
            </a:r>
          </a:p>
          <a:p>
            <a:r>
              <a:rPr lang="en-IN" dirty="0"/>
              <a:t>❓ </a:t>
            </a:r>
            <a:r>
              <a:rPr lang="en-IN" b="1" dirty="0"/>
              <a:t>“Is one customer’s data completely isolated from another customer?”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🏢 </a:t>
            </a:r>
            <a:r>
              <a:rPr lang="en-IN" b="1" dirty="0"/>
              <a:t>1. Tenant → Capacity → Workspace Structure</a:t>
            </a:r>
            <a:endParaRPr lang="en-IN" dirty="0"/>
          </a:p>
          <a:p>
            <a:r>
              <a:rPr lang="en-IN" dirty="0"/>
              <a:t>The hierarchy shown:</a:t>
            </a:r>
          </a:p>
          <a:p>
            <a:r>
              <a:rPr lang="en-IN" dirty="0"/>
              <a:t>Tenant (overall organization)</a:t>
            </a:r>
          </a:p>
          <a:p>
            <a:r>
              <a:rPr lang="en-IN" dirty="0"/>
              <a:t>Capacity (compute resources)</a:t>
            </a:r>
          </a:p>
          <a:p>
            <a:r>
              <a:rPr lang="en-IN" dirty="0"/>
              <a:t>Customer Workspace (logical separation)</a:t>
            </a:r>
          </a:p>
          <a:p>
            <a:r>
              <a:rPr lang="en-IN" dirty="0"/>
              <a:t>👉 Each </a:t>
            </a:r>
            <a:r>
              <a:rPr lang="en-IN" b="1" dirty="0"/>
              <a:t>customer gets their own workspace</a:t>
            </a:r>
            <a:endParaRPr lang="en-IN" dirty="0"/>
          </a:p>
          <a:p>
            <a:r>
              <a:rPr lang="en-IN" dirty="0"/>
              <a:t>Inside that workspace:</a:t>
            </a:r>
          </a:p>
          <a:p>
            <a:r>
              <a:rPr lang="en-IN" dirty="0"/>
              <a:t>Lakehouse</a:t>
            </a:r>
          </a:p>
          <a:p>
            <a:r>
              <a:rPr lang="en-IN" dirty="0"/>
              <a:t>Warehouse</a:t>
            </a:r>
          </a:p>
          <a:p>
            <a:r>
              <a:rPr lang="en-IN" dirty="0"/>
              <a:t>Pipelines</a:t>
            </a:r>
          </a:p>
          <a:p>
            <a:r>
              <a:rPr lang="en-IN" dirty="0"/>
              <a:t>Semantic model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understand:</a:t>
            </a:r>
            <a:endParaRPr lang="en-IN" dirty="0"/>
          </a:p>
          <a:p>
            <a:r>
              <a:rPr lang="en-IN" dirty="0"/>
              <a:t>Isolation is primarily enforced at </a:t>
            </a:r>
            <a:r>
              <a:rPr lang="en-IN" b="1" dirty="0"/>
              <a:t>workspace level</a:t>
            </a:r>
            <a:endParaRPr lang="en-IN" dirty="0"/>
          </a:p>
          <a:p>
            <a:r>
              <a:rPr lang="en-IN" dirty="0"/>
              <a:t>Each customer’s data and assets stay within their workspace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Customer A workspace → contains only Customer A data</a:t>
            </a:r>
          </a:p>
          <a:p>
            <a:r>
              <a:rPr lang="en-IN" dirty="0"/>
              <a:t>Customer B workspace → contains only Customer B data</a:t>
            </a:r>
          </a:p>
          <a:p>
            <a:r>
              <a:rPr lang="en-IN" dirty="0"/>
              <a:t>👉 If data overlaps → ❌ </a:t>
            </a:r>
            <a:r>
              <a:rPr lang="en-IN" b="1" dirty="0"/>
              <a:t>Isolation failure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📦 </a:t>
            </a:r>
            <a:r>
              <a:rPr lang="en-IN" b="1" dirty="0"/>
              <a:t>2. Customer Workspace (Isolation Boundary)</a:t>
            </a:r>
            <a:endParaRPr lang="en-IN" dirty="0"/>
          </a:p>
          <a:p>
            <a:r>
              <a:rPr lang="en-IN" dirty="0"/>
              <a:t>👉 This is the key unit of separation</a:t>
            </a:r>
          </a:p>
          <a:p>
            <a:r>
              <a:rPr lang="en-IN" dirty="0"/>
              <a:t>All Fabric items for a customer exist inside this boundary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Items are created in the correct workspace</a:t>
            </a:r>
          </a:p>
          <a:p>
            <a:r>
              <a:rPr lang="en-IN" dirty="0"/>
              <a:t>No cross-workspace data access</a:t>
            </a:r>
          </a:p>
          <a:p>
            <a:r>
              <a:rPr lang="en-IN" dirty="0"/>
              <a:t>Data paths stay within the workspace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Pipeline in Customer A workspace reads data from Customer B</a:t>
            </a:r>
          </a:p>
          <a:p>
            <a:r>
              <a:rPr lang="en-IN" dirty="0"/>
              <a:t>👉 ❌ </a:t>
            </a:r>
            <a:r>
              <a:rPr lang="en-IN" b="1" dirty="0"/>
              <a:t>Cross-customer access issue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🔐 </a:t>
            </a:r>
            <a:r>
              <a:rPr lang="en-IN" b="1" dirty="0"/>
              <a:t>3. Role-Based Access Inside Workspace</a:t>
            </a:r>
            <a:endParaRPr lang="en-IN" dirty="0"/>
          </a:p>
          <a:p>
            <a:r>
              <a:rPr lang="en-IN" dirty="0"/>
              <a:t>👉 Even within a workspace:</a:t>
            </a:r>
          </a:p>
          <a:p>
            <a:r>
              <a:rPr lang="en-IN" dirty="0"/>
              <a:t>Users have different roles (Admin, Member, etc.)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Roles match expected access levels</a:t>
            </a:r>
          </a:p>
          <a:p>
            <a:r>
              <a:rPr lang="en-IN" dirty="0"/>
              <a:t>Users cannot exceed their permissions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Example:</a:t>
            </a:r>
            <a:endParaRPr lang="en-IN" dirty="0"/>
          </a:p>
          <a:p>
            <a:r>
              <a:rPr lang="en-IN" dirty="0"/>
              <a:t>Viewer modifies data</a:t>
            </a:r>
          </a:p>
          <a:p>
            <a:r>
              <a:rPr lang="en-IN" dirty="0"/>
              <a:t>👉 ❌ </a:t>
            </a:r>
            <a:r>
              <a:rPr lang="en-IN" b="1" dirty="0"/>
              <a:t>Permission violation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🔄 </a:t>
            </a:r>
            <a:r>
              <a:rPr lang="en-IN" b="1" dirty="0"/>
              <a:t>4. Access Paths Must Respect Isolation</a:t>
            </a:r>
            <a:endParaRPr lang="en-IN" dirty="0"/>
          </a:p>
          <a:p>
            <a:r>
              <a:rPr lang="en-IN" dirty="0"/>
              <a:t>Data can be accessed via:</a:t>
            </a:r>
          </a:p>
          <a:p>
            <a:r>
              <a:rPr lang="en-IN" dirty="0"/>
              <a:t>SQL</a:t>
            </a:r>
          </a:p>
          <a:p>
            <a:r>
              <a:rPr lang="en-IN" dirty="0"/>
              <a:t>Spark</a:t>
            </a:r>
          </a:p>
          <a:p>
            <a:r>
              <a:rPr lang="en-IN" dirty="0"/>
              <a:t>Reports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🚨 </a:t>
            </a:r>
            <a:r>
              <a:rPr lang="en-IN" b="1" dirty="0"/>
              <a:t>Risk:</a:t>
            </a:r>
            <a:endParaRPr lang="en-IN" dirty="0"/>
          </a:p>
          <a:p>
            <a:r>
              <a:rPr lang="en-IN" dirty="0"/>
              <a:t>Isolation works in one path</a:t>
            </a:r>
          </a:p>
          <a:p>
            <a:r>
              <a:rPr lang="en-IN" dirty="0"/>
              <a:t>But breaks in another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Test Case:</a:t>
            </a:r>
            <a:endParaRPr lang="en-IN" dirty="0"/>
          </a:p>
          <a:p>
            <a:r>
              <a:rPr lang="en-IN" dirty="0"/>
              <a:t>Restrict access in reports</a:t>
            </a:r>
          </a:p>
          <a:p>
            <a:r>
              <a:rPr lang="en-IN" dirty="0"/>
              <a:t>Try accessing via SQL or Spark</a:t>
            </a:r>
          </a:p>
          <a:p>
            <a:r>
              <a:rPr lang="en-IN" dirty="0"/>
              <a:t>👉 If access is still possible → ❌ </a:t>
            </a:r>
            <a:r>
              <a:rPr lang="en-IN" b="1" dirty="0"/>
              <a:t>Isolation breach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</a:t>
            </a:r>
            <a:r>
              <a:rPr lang="en-IN" b="1" dirty="0"/>
              <a:t>What QA Should Verify (From Slide)</a:t>
            </a:r>
            <a:endParaRPr lang="en-IN" dirty="0"/>
          </a:p>
          <a:p>
            <a:r>
              <a:rPr lang="en-IN" dirty="0"/>
              <a:t>Items are created in the correct customer workspace</a:t>
            </a:r>
          </a:p>
          <a:p>
            <a:r>
              <a:rPr lang="en-IN" dirty="0"/>
              <a:t>Workspace roles align with expected access</a:t>
            </a:r>
          </a:p>
          <a:p>
            <a:r>
              <a:rPr lang="en-IN" dirty="0"/>
              <a:t>One customer cannot access another customer’s assets</a:t>
            </a:r>
          </a:p>
          <a:p>
            <a:r>
              <a:rPr lang="en-IN" dirty="0"/>
              <a:t>All access paths (SQL, Spark, reports) enforce the same isolation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</a:t>
            </a:r>
            <a:r>
              <a:rPr lang="en-IN" b="1" dirty="0"/>
              <a:t>Final Understanding:</a:t>
            </a:r>
            <a:endParaRPr lang="en-IN" dirty="0"/>
          </a:p>
          <a:p>
            <a:r>
              <a:rPr lang="en-IN" dirty="0"/>
              <a:t>Customer isolation is enforced through </a:t>
            </a:r>
            <a:r>
              <a:rPr lang="en-IN" b="1" dirty="0"/>
              <a:t>workspace boundaries + roles + access paths</a:t>
            </a:r>
            <a:endParaRPr lang="en-IN" dirty="0"/>
          </a:p>
          <a:p>
            <a:r>
              <a:rPr lang="en-IN" dirty="0"/>
              <a:t>QA must validate </a:t>
            </a:r>
            <a:r>
              <a:rPr lang="en-IN" b="1" dirty="0"/>
              <a:t>no data leakage across customers in any scenario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</a:t>
            </a:r>
            <a:r>
              <a:rPr lang="en-IN" b="1" dirty="0"/>
              <a:t>What This Slide Really Means (QA Perspective)</a:t>
            </a:r>
            <a:endParaRPr lang="en-IN" dirty="0"/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</a:t>
            </a:r>
            <a:r>
              <a:rPr lang="en-IN" b="1" dirty="0"/>
              <a:t>“Access and evidence points”</a:t>
            </a:r>
            <a:endParaRPr lang="en-IN" dirty="0"/>
          </a:p>
          <a:p>
            <a:r>
              <a:rPr lang="en-IN" dirty="0"/>
              <a:t>This is basically answering one core QA question:</a:t>
            </a:r>
          </a:p>
          <a:p>
            <a:r>
              <a:rPr lang="en-IN" dirty="0"/>
              <a:t>❓ </a:t>
            </a:r>
            <a:r>
              <a:rPr lang="en-IN" b="1" dirty="0"/>
              <a:t>“Are users seeing only what they are supposed to see?”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🔐 </a:t>
            </a:r>
            <a:r>
              <a:rPr lang="en-IN" b="1" dirty="0"/>
              <a:t>1. Workspace Roles (First Layer of Security)</a:t>
            </a:r>
            <a:endParaRPr lang="en-IN" dirty="0"/>
          </a:p>
          <a:p>
            <a:r>
              <a:rPr lang="en-IN" dirty="0"/>
              <a:t>Roles mentioned:</a:t>
            </a:r>
          </a:p>
          <a:p>
            <a:r>
              <a:rPr lang="en-IN" dirty="0"/>
              <a:t>Admin</a:t>
            </a:r>
          </a:p>
          <a:p>
            <a:r>
              <a:rPr lang="en-IN" dirty="0"/>
              <a:t>Member</a:t>
            </a:r>
          </a:p>
          <a:p>
            <a:r>
              <a:rPr lang="en-IN" dirty="0"/>
              <a:t>Contributor</a:t>
            </a:r>
          </a:p>
          <a:p>
            <a:r>
              <a:rPr lang="en-IN" dirty="0"/>
              <a:t>Viewer</a:t>
            </a:r>
          </a:p>
          <a:p>
            <a:r>
              <a:rPr lang="en-IN" dirty="0"/>
              <a:t>👉 These roles define </a:t>
            </a:r>
            <a:r>
              <a:rPr lang="en-IN" b="1" dirty="0"/>
              <a:t>what level of control a user has within a workspace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Can a </a:t>
            </a:r>
            <a:r>
              <a:rPr lang="en-IN" b="1" dirty="0"/>
              <a:t>Viewer edit anything?</a:t>
            </a:r>
            <a:r>
              <a:rPr lang="en-IN" dirty="0"/>
              <a:t> → ❌ Should NOT</a:t>
            </a:r>
          </a:p>
          <a:p>
            <a:r>
              <a:rPr lang="en-IN" dirty="0"/>
              <a:t>Can a </a:t>
            </a:r>
            <a:r>
              <a:rPr lang="en-IN" b="1" dirty="0"/>
              <a:t>Contributor create/edit data items?</a:t>
            </a:r>
            <a:r>
              <a:rPr lang="en-IN" dirty="0"/>
              <a:t> → ✅ Should be allowed</a:t>
            </a:r>
          </a:p>
          <a:p>
            <a:r>
              <a:rPr lang="en-IN" dirty="0"/>
              <a:t>Can a </a:t>
            </a:r>
            <a:r>
              <a:rPr lang="en-IN" b="1" dirty="0"/>
              <a:t>Member manage access and share items?</a:t>
            </a:r>
            <a:r>
              <a:rPr lang="en-IN" dirty="0"/>
              <a:t> → ✅ Should be allowed</a:t>
            </a:r>
          </a:p>
          <a:p>
            <a:r>
              <a:rPr lang="en-IN" dirty="0"/>
              <a:t>Can an </a:t>
            </a:r>
            <a:r>
              <a:rPr lang="en-IN" b="1" dirty="0"/>
              <a:t>Admin perform all actions including deletion?</a:t>
            </a:r>
            <a:r>
              <a:rPr lang="en-IN" dirty="0"/>
              <a:t> → ✅ Should be allowed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Test Case:</a:t>
            </a:r>
            <a:endParaRPr lang="en-IN" dirty="0"/>
          </a:p>
          <a:p>
            <a:r>
              <a:rPr lang="en-IN" dirty="0"/>
              <a:t>Login as different roles and try:</a:t>
            </a:r>
          </a:p>
          <a:p>
            <a:r>
              <a:rPr lang="en-IN" dirty="0"/>
              <a:t>Editing a Lakehouse</a:t>
            </a:r>
          </a:p>
          <a:p>
            <a:r>
              <a:rPr lang="en-IN" dirty="0"/>
              <a:t>Creating or running pipelines</a:t>
            </a:r>
          </a:p>
          <a:p>
            <a:r>
              <a:rPr lang="en-IN" dirty="0"/>
              <a:t>Modifying reports</a:t>
            </a:r>
          </a:p>
          <a:p>
            <a:r>
              <a:rPr lang="en-IN" dirty="0"/>
              <a:t>Managing access</a:t>
            </a:r>
          </a:p>
          <a:p>
            <a:r>
              <a:rPr lang="en-IN" dirty="0"/>
              <a:t>👉 If access exceeds role → </a:t>
            </a:r>
            <a:r>
              <a:rPr lang="en-IN" b="1" dirty="0"/>
              <a:t>BUG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📦 </a:t>
            </a:r>
            <a:r>
              <a:rPr lang="en-IN" b="1" dirty="0"/>
              <a:t>2. Item Permissions (Second Layer)</a:t>
            </a:r>
            <a:endParaRPr lang="en-IN" dirty="0"/>
          </a:p>
          <a:p>
            <a:r>
              <a:rPr lang="en-IN" dirty="0"/>
              <a:t>Even inside the same workspace, access can be restricted at item level:</a:t>
            </a:r>
          </a:p>
          <a:p>
            <a:r>
              <a:rPr lang="en-IN" dirty="0"/>
              <a:t>Lakehouse → restricted</a:t>
            </a:r>
          </a:p>
          <a:p>
            <a:r>
              <a:rPr lang="en-IN" dirty="0"/>
              <a:t>Warehouse → restricted</a:t>
            </a:r>
          </a:p>
          <a:p>
            <a:r>
              <a:rPr lang="en-IN" dirty="0"/>
              <a:t>Semantic model → restricted</a:t>
            </a:r>
          </a:p>
          <a:p>
            <a:r>
              <a:rPr lang="en-IN" dirty="0"/>
              <a:t>Power BI report → restricted</a:t>
            </a:r>
          </a:p>
          <a:p>
            <a:r>
              <a:rPr lang="en-IN" dirty="0"/>
              <a:t>👉 This means </a:t>
            </a:r>
            <a:r>
              <a:rPr lang="en-IN" b="1" dirty="0"/>
              <a:t>not all users in a workspace see all items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</a:t>
            </a:r>
            <a:r>
              <a:rPr lang="en-IN" b="1" dirty="0"/>
              <a:t>What QA should test:</a:t>
            </a:r>
            <a:endParaRPr lang="en-IN" dirty="0"/>
          </a:p>
          <a:p>
            <a:r>
              <a:rPr lang="en-IN" dirty="0"/>
              <a:t>User A can access a specific item</a:t>
            </a:r>
          </a:p>
          <a:p>
            <a:r>
              <a:rPr lang="en-IN" dirty="0"/>
              <a:t>User B cannot access the same item</a:t>
            </a:r>
          </a:p>
          <a:p>
            <a:r>
              <a:rPr lang="en-IN" dirty="0"/>
              <a:t>👉 Even though both are in the same workspace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Sales team → access to Sales report</a:t>
            </a:r>
          </a:p>
          <a:p>
            <a:r>
              <a:rPr lang="en-IN" dirty="0"/>
              <a:t>HR team → access to HR report</a:t>
            </a:r>
          </a:p>
          <a:p>
            <a:r>
              <a:rPr lang="en-IN" dirty="0"/>
              <a:t>👉 QA validates </a:t>
            </a:r>
            <a:r>
              <a:rPr lang="en-IN" b="1" dirty="0"/>
              <a:t>data and item isolation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⚙️ </a:t>
            </a:r>
            <a:r>
              <a:rPr lang="en-IN" b="1" dirty="0"/>
              <a:t>3. Compute Paths (Hidden Risk Area 🔥)</a:t>
            </a:r>
            <a:endParaRPr lang="en-IN" dirty="0"/>
          </a:p>
          <a:p>
            <a:r>
              <a:rPr lang="en-IN" dirty="0"/>
              <a:t>Same data can be accessed through multiple paths:</a:t>
            </a:r>
          </a:p>
          <a:p>
            <a:r>
              <a:rPr lang="en-IN" dirty="0"/>
              <a:t>Spark (Notebook)</a:t>
            </a:r>
          </a:p>
          <a:p>
            <a:r>
              <a:rPr lang="en-IN" dirty="0"/>
              <a:t>SQL Endpoint</a:t>
            </a:r>
          </a:p>
          <a:p>
            <a:r>
              <a:rPr lang="en-IN" dirty="0"/>
              <a:t>Power BI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🚨 </a:t>
            </a:r>
            <a:r>
              <a:rPr lang="en-IN" b="1" dirty="0"/>
              <a:t>Risk:</a:t>
            </a:r>
            <a:endParaRPr lang="en-IN" dirty="0"/>
          </a:p>
          <a:p>
            <a:r>
              <a:rPr lang="en-IN" dirty="0"/>
              <a:t>User blocked in Power BI ❌</a:t>
            </a:r>
          </a:p>
          <a:p>
            <a:r>
              <a:rPr lang="en-IN" dirty="0"/>
              <a:t>But can still access data via SQL or Notebook ✅</a:t>
            </a:r>
          </a:p>
          <a:p>
            <a:r>
              <a:rPr lang="en-IN" dirty="0"/>
              <a:t>👉 That creates a </a:t>
            </a:r>
            <a:r>
              <a:rPr lang="en-IN" b="1" dirty="0"/>
              <a:t>security loophole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QA Test Case:</a:t>
            </a:r>
            <a:endParaRPr lang="en-IN" dirty="0"/>
          </a:p>
          <a:p>
            <a:r>
              <a:rPr lang="en-IN" dirty="0"/>
              <a:t>Restrict access to a report</a:t>
            </a:r>
          </a:p>
          <a:p>
            <a:r>
              <a:rPr lang="en-IN" dirty="0"/>
              <a:t>Attempt access using:</a:t>
            </a:r>
          </a:p>
          <a:p>
            <a:pPr lvl="1"/>
            <a:r>
              <a:rPr lang="en-IN" dirty="0"/>
              <a:t>SQL endpoint</a:t>
            </a:r>
          </a:p>
          <a:p>
            <a:pPr lvl="1"/>
            <a:r>
              <a:rPr lang="en-IN" dirty="0"/>
              <a:t>Notebook</a:t>
            </a:r>
          </a:p>
          <a:p>
            <a:r>
              <a:rPr lang="en-IN" dirty="0"/>
              <a:t>👉 If data is still visible → </a:t>
            </a:r>
            <a:r>
              <a:rPr lang="en-IN" b="1" dirty="0"/>
              <a:t>Critical bug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👀 </a:t>
            </a:r>
            <a:r>
              <a:rPr lang="en-IN" b="1" dirty="0"/>
              <a:t>4. Observable Evidence (How QA Proves It)</a:t>
            </a:r>
            <a:endParaRPr lang="en-IN" dirty="0"/>
          </a:p>
          <a:p>
            <a:r>
              <a:rPr lang="en-IN" dirty="0"/>
              <a:t>QA must validate using </a:t>
            </a:r>
            <a:r>
              <a:rPr lang="en-IN" b="1" dirty="0"/>
              <a:t>actual system </a:t>
            </a:r>
            <a:r>
              <a:rPr lang="en-IN" b="1" dirty="0" err="1"/>
              <a:t>behavior</a:t>
            </a:r>
            <a:r>
              <a:rPr lang="en-IN" dirty="0"/>
              <a:t>, not assumptions</a:t>
            </a:r>
          </a:p>
          <a:p>
            <a:r>
              <a:rPr lang="en-IN" dirty="0"/>
              <a:t>Evidence includes:</a:t>
            </a:r>
          </a:p>
          <a:p>
            <a:r>
              <a:rPr lang="en-IN" dirty="0"/>
              <a:t>Visible items (what user can see)</a:t>
            </a:r>
          </a:p>
          <a:p>
            <a:r>
              <a:rPr lang="en-IN" dirty="0"/>
              <a:t>Query success or failure</a:t>
            </a:r>
          </a:p>
          <a:p>
            <a:r>
              <a:rPr lang="en-IN" dirty="0"/>
              <a:t>Access denied messages</a:t>
            </a:r>
          </a:p>
          <a:p>
            <a:r>
              <a:rPr lang="en-IN" dirty="0"/>
              <a:t>Filtered data (Row-Level Security)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</a:t>
            </a:r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User is restricted to:</a:t>
            </a:r>
          </a:p>
          <a:p>
            <a:pPr lvl="1"/>
            <a:r>
              <a:rPr lang="en-IN" dirty="0"/>
              <a:t>Region = South India</a:t>
            </a:r>
          </a:p>
          <a:p>
            <a:r>
              <a:rPr lang="en-IN" dirty="0"/>
              <a:t>👉 QA verifies:</a:t>
            </a:r>
          </a:p>
          <a:p>
            <a:r>
              <a:rPr lang="en-IN" dirty="0"/>
              <a:t>Backend dataset = 100 rows</a:t>
            </a:r>
          </a:p>
          <a:p>
            <a:r>
              <a:rPr lang="en-IN" dirty="0"/>
              <a:t>User-visible data = 20 rows</a:t>
            </a:r>
          </a:p>
          <a:p>
            <a:r>
              <a:rPr lang="en-IN" dirty="0"/>
              <a:t>✔ That confirms </a:t>
            </a:r>
            <a:r>
              <a:rPr lang="en-IN" b="1" dirty="0"/>
              <a:t>correct data filtering and enforcement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"Where QA should navigate first"</a:t>
            </a:r>
          </a:p>
          <a:p>
            <a:r>
              <a:rPr lang="en-IN" dirty="0"/>
              <a:t>This slide is answering one practical onboarding question:</a:t>
            </a:r>
          </a:p>
          <a:p>
            <a:r>
              <a:rPr lang="en-IN" dirty="0"/>
              <a:t>❓ "Before testing anything deeply, where should QA look first inside Fabric?"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the "where do I click first?" slide.</a:t>
            </a:r>
          </a:p>
          <a:p>
            <a:r>
              <a:rPr lang="en-IN" dirty="0"/>
              <a:t>The point is simple: good QA starts by finding the right evidence locations before jumping into validation.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🧭 1. Workspace Home</a:t>
            </a:r>
          </a:p>
          <a:p>
            <a:r>
              <a:rPr lang="en-IN" dirty="0"/>
              <a:t>This is the first place QA should inspect.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Why it matters:</a:t>
            </a:r>
          </a:p>
          <a:p>
            <a:r>
              <a:rPr lang="en-IN" dirty="0"/>
              <a:t>Item list</a:t>
            </a:r>
          </a:p>
          <a:p>
            <a:r>
              <a:rPr lang="en-IN" dirty="0"/>
              <a:t>Naming pattern</a:t>
            </a:r>
          </a:p>
          <a:p>
            <a:r>
              <a:rPr lang="en-IN" dirty="0"/>
              <a:t>Customer scope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check:</a:t>
            </a:r>
          </a:p>
          <a:p>
            <a:r>
              <a:rPr lang="en-IN" dirty="0"/>
              <a:t>Are the expected items present?</a:t>
            </a:r>
          </a:p>
          <a:p>
            <a:r>
              <a:rPr lang="en-IN" dirty="0"/>
              <a:t>Do names match the customer or environment pattern?</a:t>
            </a:r>
          </a:p>
          <a:p>
            <a:r>
              <a:rPr lang="en-IN" dirty="0"/>
              <a:t>Is the workspace clearly aligned to the intended customer boundary?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📂 2. Lakehouse</a:t>
            </a:r>
          </a:p>
          <a:p>
            <a:r>
              <a:rPr lang="en-IN" dirty="0"/>
              <a:t>This is where QA starts checking raw and curated data assets.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inspect:</a:t>
            </a:r>
          </a:p>
          <a:p>
            <a:r>
              <a:rPr lang="en-IN" dirty="0"/>
              <a:t>Files</a:t>
            </a:r>
          </a:p>
          <a:p>
            <a:r>
              <a:rPr lang="en-IN" dirty="0"/>
              <a:t>Tables</a:t>
            </a:r>
          </a:p>
          <a:p>
            <a:r>
              <a:rPr lang="en-IN" dirty="0"/>
              <a:t>Available access paths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is often the first place where missing assets, staging issues, or unexpected structure become visible.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🗃️ 3. Warehouse</a:t>
            </a:r>
          </a:p>
          <a:p>
            <a:r>
              <a:rPr lang="en-IN" dirty="0"/>
              <a:t>This is the SQL-focused validation surface.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inspect:</a:t>
            </a:r>
          </a:p>
          <a:p>
            <a:r>
              <a:rPr lang="en-IN" dirty="0"/>
              <a:t>Schemas</a:t>
            </a:r>
          </a:p>
          <a:p>
            <a:r>
              <a:rPr lang="en-IN" dirty="0"/>
              <a:t>Tables</a:t>
            </a:r>
          </a:p>
          <a:p>
            <a:r>
              <a:rPr lang="en-IN" dirty="0"/>
              <a:t>Query entry points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If business-facing tables are wrong here, downstream reports will also be wrong.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⚙️ 4. Pipeline Runs</a:t>
            </a:r>
          </a:p>
          <a:p>
            <a:r>
              <a:rPr lang="en-IN" dirty="0"/>
              <a:t>This is where orchestration evidence lives.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inspect:</a:t>
            </a:r>
          </a:p>
          <a:p>
            <a:r>
              <a:rPr lang="en-IN" dirty="0"/>
              <a:t>Run history</a:t>
            </a:r>
          </a:p>
          <a:p>
            <a:r>
              <a:rPr lang="en-IN" dirty="0"/>
              <a:t>Status</a:t>
            </a:r>
          </a:p>
          <a:p>
            <a:r>
              <a:rPr lang="en-IN" dirty="0"/>
              <a:t>Failures or retries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Test Mindset:</a:t>
            </a:r>
          </a:p>
          <a:p>
            <a:r>
              <a:rPr lang="en-IN" dirty="0"/>
              <a:t>If a table is wrong, QA should be able to trace whether the pipeline ran correctly or not.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5. Semantic and Report Layer</a:t>
            </a:r>
          </a:p>
          <a:p>
            <a:r>
              <a:rPr lang="en-IN" dirty="0"/>
              <a:t>This is the business consumption surface.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inspect:</a:t>
            </a:r>
          </a:p>
          <a:p>
            <a:r>
              <a:rPr lang="en-IN" dirty="0"/>
              <a:t>Semantic model presence</a:t>
            </a:r>
          </a:p>
          <a:p>
            <a:r>
              <a:rPr lang="en-IN" dirty="0"/>
              <a:t>Report availability</a:t>
            </a:r>
          </a:p>
          <a:p>
            <a:r>
              <a:rPr lang="en-IN" dirty="0"/>
              <a:t>Whether the final view matches expected outputs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Before QA validates logic, QA must first know where evidence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"Lakehouse essentials for QA"</a:t>
            </a:r>
          </a:p>
          <a:p>
            <a:r>
              <a:rPr lang="en-IN" dirty="0"/>
              <a:t>This slide is answering one practical QA question:</a:t>
            </a:r>
          </a:p>
          <a:p>
            <a:r>
              <a:rPr lang="en-IN" dirty="0"/>
              <a:t>❓ "What exactly is a Lakehouse, and what should QA inspect first?"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Lakehouse is not just a storage area.</a:t>
            </a:r>
          </a:p>
          <a:p>
            <a:r>
              <a:rPr lang="en-IN" dirty="0"/>
              <a:t>It is a validation surface where QA checks whether data is present, structured correctly, and accessible through the expected paths.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🏗️ 1. What a Lakehouse Is</a:t>
            </a:r>
          </a:p>
          <a:p>
            <a:r>
              <a:rPr lang="en-IN" dirty="0"/>
              <a:t>The slide highlights that a Lakehouse:</a:t>
            </a:r>
          </a:p>
          <a:p>
            <a:r>
              <a:rPr lang="en-IN" dirty="0"/>
              <a:t>Backed by OneLake storage</a:t>
            </a:r>
          </a:p>
          <a:p>
            <a:r>
              <a:rPr lang="en-IN" dirty="0"/>
              <a:t>Can expose files and managed tables</a:t>
            </a:r>
          </a:p>
          <a:p>
            <a:r>
              <a:rPr lang="en-IN" dirty="0"/>
              <a:t>Often supports raw and curated data stages</a:t>
            </a:r>
          </a:p>
          <a:p>
            <a:r>
              <a:rPr lang="en-IN" dirty="0"/>
              <a:t>Supports notebooks, Spark, and SQL endpoint access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tells QA that the same data may be visible through multiple interfaces.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2. Files and Tables</a:t>
            </a:r>
          </a:p>
          <a:p>
            <a:r>
              <a:rPr lang="en-IN" dirty="0"/>
              <a:t>This is the first visible evidence area.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What QA should check:</a:t>
            </a:r>
          </a:p>
          <a:p>
            <a:r>
              <a:rPr lang="en-IN" dirty="0"/>
              <a:t>Are the expected files present?</a:t>
            </a:r>
          </a:p>
          <a:p>
            <a:r>
              <a:rPr lang="en-IN" dirty="0"/>
              <a:t>Are the expected tables present?</a:t>
            </a:r>
          </a:p>
          <a:p>
            <a:r>
              <a:rPr lang="en-IN" dirty="0"/>
              <a:t>Do the names and counts look correct?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Example:</a:t>
            </a:r>
          </a:p>
          <a:p>
            <a:r>
              <a:rPr lang="en-IN" dirty="0"/>
              <a:t>If expected assets are missing or appear in the wrong place, the issue may be ingestion, staging, or publishing failure.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🧱 3. Table Structure</a:t>
            </a:r>
          </a:p>
          <a:p>
            <a:r>
              <a:rPr lang="en-IN" dirty="0"/>
              <a:t>Structure matters as much as data values.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What QA should inspect:</a:t>
            </a:r>
          </a:p>
          <a:p>
            <a:r>
              <a:rPr lang="en-IN" dirty="0"/>
              <a:t>Table names</a:t>
            </a:r>
          </a:p>
          <a:p>
            <a:r>
              <a:rPr lang="en-IN" dirty="0"/>
              <a:t>Schema shape</a:t>
            </a:r>
          </a:p>
          <a:p>
            <a:r>
              <a:rPr lang="en-IN" dirty="0"/>
              <a:t>Locations and organization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If a table exists but has the wrong columns or naming, later reports and queries may still fail even when data loads successfully.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🔀 4. Access Paths</a:t>
            </a:r>
          </a:p>
          <a:p>
            <a:r>
              <a:rPr lang="en-IN" dirty="0"/>
              <a:t>The slide calls out SQL, notebooks, and table views.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Why that matters:</a:t>
            </a:r>
          </a:p>
          <a:p>
            <a:r>
              <a:rPr lang="en-IN" dirty="0"/>
              <a:t>The same data may be reachable through multiple paths.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validate:</a:t>
            </a:r>
          </a:p>
          <a:p>
            <a:r>
              <a:rPr lang="en-IN" dirty="0"/>
              <a:t>Can the team inspect the data through the intended paths?</a:t>
            </a:r>
          </a:p>
          <a:p>
            <a:r>
              <a:rPr lang="en-IN" dirty="0"/>
              <a:t>Does access behave consistently?</a:t>
            </a:r>
          </a:p>
          <a:p>
            <a:r>
              <a:rPr lang="en-IN" dirty="0"/>
              <a:t>Is any path exposed when it should not be?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🏷️ 5. Environment Cues</a:t>
            </a:r>
          </a:p>
          <a:p>
            <a:r>
              <a:rPr lang="en-IN" dirty="0"/>
              <a:t>The workspace layout also tells QA whether the Lakehouse belongs to the right customer context.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What QA should observe:</a:t>
            </a:r>
          </a:p>
          <a:p>
            <a:r>
              <a:rPr lang="en-IN" dirty="0"/>
              <a:t>Is the item placed in the correct workspace?</a:t>
            </a:r>
          </a:p>
          <a:p>
            <a:r>
              <a:rPr lang="en-IN" dirty="0"/>
              <a:t>Does its naming align with the environment?</a:t>
            </a:r>
          </a:p>
          <a:p>
            <a:r>
              <a:rPr lang="en-IN" dirty="0"/>
              <a:t>Does it match the expected customer boundary?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QA should treat the Lakehouse as both a storage layer and a testable evidence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"Warehouse essentials for QA"</a:t>
            </a:r>
          </a:p>
          <a:p>
            <a:r>
              <a:rPr lang="en-IN" dirty="0"/>
              <a:t>This slide is answering one practical QA question:</a:t>
            </a:r>
          </a:p>
          <a:p>
            <a:r>
              <a:rPr lang="en-IN" dirty="0"/>
              <a:t>❓ "How should QA think about a Fabric Warehouse, and what should be checked first?"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Warehouse is the relational analytics layer, so QA shifts into a more SQL-driven validation mindset here.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🏗️ 1. What a Warehouse Is</a:t>
            </a:r>
          </a:p>
          <a:p>
            <a:r>
              <a:rPr lang="en-IN" dirty="0"/>
              <a:t>The slide explains that the Warehouse:</a:t>
            </a:r>
          </a:p>
          <a:p>
            <a:r>
              <a:rPr lang="en-IN" dirty="0"/>
              <a:t>Is a relational analytics experience in Fabric</a:t>
            </a:r>
          </a:p>
          <a:p>
            <a:r>
              <a:rPr lang="en-IN" dirty="0"/>
              <a:t>Is built for T-SQL querying and modeling</a:t>
            </a:r>
          </a:p>
          <a:p>
            <a:r>
              <a:rPr lang="en-IN" dirty="0"/>
              <a:t>Is often used for business-ready tables</a:t>
            </a:r>
          </a:p>
          <a:p>
            <a:r>
              <a:rPr lang="en-IN" dirty="0"/>
              <a:t>Can connect into a default semantic model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This is where QA expects data to look more structured and closer to final reporting form.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🗂️ 2. Schemas and Tables</a:t>
            </a:r>
          </a:p>
          <a:p>
            <a:r>
              <a:rPr lang="en-IN" dirty="0"/>
              <a:t>This is the first structural checkpoint.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inspect:</a:t>
            </a:r>
          </a:p>
          <a:p>
            <a:r>
              <a:rPr lang="en-IN" dirty="0"/>
              <a:t>Are schemas present as expected?</a:t>
            </a:r>
          </a:p>
          <a:p>
            <a:r>
              <a:rPr lang="en-IN" dirty="0"/>
              <a:t>Are tables named clearly?</a:t>
            </a:r>
          </a:p>
          <a:p>
            <a:r>
              <a:rPr lang="en-IN" dirty="0"/>
              <a:t>Do structures match the intended reporting design?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🚨 QA Risk:</a:t>
            </a:r>
          </a:p>
          <a:p>
            <a:r>
              <a:rPr lang="en-IN" dirty="0"/>
              <a:t>If schemas are messy or inconsistent, downstream analytics becomes harder to trust and harder to test.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💻 3. SQL Query Editor</a:t>
            </a:r>
          </a:p>
          <a:p>
            <a:r>
              <a:rPr lang="en-IN" dirty="0"/>
              <a:t>This is the natural place for early data validation.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check:</a:t>
            </a:r>
          </a:p>
          <a:p>
            <a:r>
              <a:rPr lang="en-IN" dirty="0"/>
              <a:t>Can simple queries be run?</a:t>
            </a:r>
          </a:p>
          <a:p>
            <a:r>
              <a:rPr lang="en-IN" dirty="0"/>
              <a:t>Is the query surface accessible?</a:t>
            </a:r>
          </a:p>
          <a:p>
            <a:r>
              <a:rPr lang="en-IN" dirty="0"/>
              <a:t>Can data be inspected directly without workaround steps?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Test Case:</a:t>
            </a:r>
          </a:p>
          <a:p>
            <a:r>
              <a:rPr lang="en-IN" dirty="0"/>
              <a:t>Run basic validation queries to confirm row presence, schema behavior, and business logic outputs.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📈 4. Business-Ready Outputs</a:t>
            </a:r>
          </a:p>
          <a:p>
            <a:r>
              <a:rPr lang="en-IN" dirty="0"/>
              <a:t>Warehouse tables should usually look closer to reporting-friendly data.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What QA should verify:</a:t>
            </a:r>
          </a:p>
          <a:p>
            <a:r>
              <a:rPr lang="en-IN" dirty="0"/>
              <a:t>Do the tables look clean and curated?</a:t>
            </a:r>
          </a:p>
          <a:p>
            <a:r>
              <a:rPr lang="en-IN" dirty="0"/>
              <a:t>Are the outputs aligned with downstream reporting needs?</a:t>
            </a:r>
          </a:p>
          <a:p>
            <a:r>
              <a:rPr lang="en-IN" dirty="0"/>
              <a:t>Does the structure suggest usable business logic rather than raw ingestion state?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🔗 5. Semantic Implications</a:t>
            </a:r>
          </a:p>
          <a:p>
            <a:r>
              <a:rPr lang="en-IN" dirty="0"/>
              <a:t>The Warehouse may feed a default semantic model.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Why that matters:</a:t>
            </a:r>
          </a:p>
          <a:p>
            <a:r>
              <a:rPr lang="en-IN" dirty="0"/>
              <a:t>QA should not stop at SQL correctness alone.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note:</a:t>
            </a:r>
          </a:p>
          <a:p>
            <a:r>
              <a:rPr lang="en-IN" dirty="0"/>
              <a:t>Is there a semantic model attached?</a:t>
            </a:r>
          </a:p>
          <a:p>
            <a:r>
              <a:rPr lang="en-IN" dirty="0"/>
              <a:t>Does this Warehouse feed reporting?</a:t>
            </a:r>
          </a:p>
          <a:p>
            <a:r>
              <a:rPr lang="en-IN" dirty="0"/>
              <a:t>Could a Warehouse defect show up in reports later?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The Warehouse is where SQL validation becomes central, but it still connects to downstream business consumption.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"Lakehouse vs. Warehouse from a QA perspective"</a:t>
            </a:r>
          </a:p>
          <a:p>
            <a:r>
              <a:rPr lang="en-IN" dirty="0"/>
              <a:t>This slide is answering one strategy question:</a:t>
            </a:r>
          </a:p>
          <a:p>
            <a:r>
              <a:rPr lang="en-IN" dirty="0"/>
              <a:t>❓ "If both assets exist in the same solution, how does QA decide what to validate and how to validate it?"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key message is simple:</a:t>
            </a:r>
          </a:p>
          <a:p>
            <a:r>
              <a:rPr lang="en-IN" dirty="0"/>
              <a:t>Lakehouse and Warehouse are not interchangeable from a testing perspective.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⚖️ 1. Primary Pattern</a:t>
            </a:r>
          </a:p>
          <a:p>
            <a:r>
              <a:rPr lang="en-IN" dirty="0"/>
              <a:t>The slide compares:</a:t>
            </a:r>
          </a:p>
          <a:p>
            <a:r>
              <a:rPr lang="en-IN" dirty="0"/>
              <a:t>Lakehouse = files plus tables</a:t>
            </a:r>
          </a:p>
          <a:p>
            <a:r>
              <a:rPr lang="en-IN" dirty="0"/>
              <a:t>Warehouse = relational SQL analytics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QA should not assume the same inspection technique works equally well for both.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🧭 2. Best First Inspection Path</a:t>
            </a:r>
          </a:p>
          <a:p>
            <a:r>
              <a:rPr lang="en-IN" dirty="0"/>
              <a:t>Lakehouse inspection starts with:</a:t>
            </a:r>
          </a:p>
          <a:p>
            <a:r>
              <a:rPr lang="en-IN" dirty="0"/>
              <a:t>Files</a:t>
            </a:r>
          </a:p>
          <a:p>
            <a:r>
              <a:rPr lang="en-IN" dirty="0"/>
              <a:t>Tables</a:t>
            </a:r>
          </a:p>
          <a:p>
            <a:r>
              <a:rPr lang="en-IN" dirty="0"/>
              <a:t>SQL endpoint</a:t>
            </a:r>
          </a:p>
          <a:p>
            <a:r>
              <a:rPr lang="en-IN" dirty="0"/>
              <a:t>Notebooks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Warehouse inspection starts with:</a:t>
            </a:r>
          </a:p>
          <a:p>
            <a:r>
              <a:rPr lang="en-IN" dirty="0"/>
              <a:t>Schemas</a:t>
            </a:r>
          </a:p>
          <a:p>
            <a:r>
              <a:rPr lang="en-IN" dirty="0"/>
              <a:t>Tables</a:t>
            </a:r>
          </a:p>
          <a:p>
            <a:r>
              <a:rPr lang="en-IN" dirty="0"/>
              <a:t>SQL editor</a:t>
            </a:r>
          </a:p>
          <a:p>
            <a:r>
              <a:rPr lang="en-IN" dirty="0"/>
              <a:t>Semantic context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QA Takeaway:</a:t>
            </a:r>
          </a:p>
          <a:p>
            <a:r>
              <a:rPr lang="en-IN" dirty="0"/>
              <a:t>The first test entry point depends on the asset type, not just the data domain.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📦 3. Typical QA Evidence</a:t>
            </a:r>
          </a:p>
          <a:p>
            <a:r>
              <a:rPr lang="en-IN" dirty="0"/>
              <a:t>Lakehouse evidence includes:</a:t>
            </a:r>
          </a:p>
          <a:p>
            <a:r>
              <a:rPr lang="en-IN" dirty="0"/>
              <a:t>Table presence</a:t>
            </a:r>
          </a:p>
          <a:p>
            <a:r>
              <a:rPr lang="en-IN" dirty="0"/>
              <a:t>Structure</a:t>
            </a:r>
          </a:p>
          <a:p>
            <a:r>
              <a:rPr lang="en-IN" dirty="0"/>
              <a:t>Access path behavior</a:t>
            </a:r>
          </a:p>
          <a:p>
            <a:r>
              <a:rPr lang="en-IN" dirty="0"/>
              <a:t>Raw-to-curated progression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Warehouse evidence includes:</a:t>
            </a:r>
          </a:p>
          <a:p>
            <a:r>
              <a:rPr lang="en-IN" dirty="0"/>
              <a:t>Query results</a:t>
            </a:r>
          </a:p>
          <a:p>
            <a:r>
              <a:rPr lang="en-IN" dirty="0"/>
              <a:t>Relational structure</a:t>
            </a:r>
          </a:p>
          <a:p>
            <a:r>
              <a:rPr lang="en-IN" dirty="0"/>
              <a:t>Business readiness</a:t>
            </a:r>
          </a:p>
          <a:p>
            <a:r>
              <a:rPr lang="en-IN" dirty="0"/>
              <a:t>Downstream reporting fit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Different platforms produce different evidence, so QA evidence collection should change too.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🚫 4. Common Day 1 Mistakes</a:t>
            </a:r>
          </a:p>
          <a:p>
            <a:r>
              <a:rPr lang="en-IN" dirty="0"/>
              <a:t>Lakehouse mistake:</a:t>
            </a:r>
          </a:p>
          <a:p>
            <a:r>
              <a:rPr lang="en-IN" dirty="0"/>
              <a:t>Treating it exactly like a relational database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Warehouse mistake:</a:t>
            </a:r>
          </a:p>
          <a:p>
            <a:r>
              <a:rPr lang="en-IN" dirty="0"/>
              <a:t>Ignoring item permissions and semantic exposure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Lesson:</a:t>
            </a:r>
          </a:p>
          <a:p>
            <a:r>
              <a:rPr lang="en-IN" dirty="0"/>
              <a:t>Using the wrong mental model early leads to weak tests later.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📚 5. When to Go Deeper</a:t>
            </a:r>
          </a:p>
          <a:p>
            <a:r>
              <a:rPr lang="en-IN" dirty="0"/>
              <a:t>This slide keeps the comparison high level for Day 1.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What it is signaling:</a:t>
            </a:r>
          </a:p>
          <a:p>
            <a:r>
              <a:rPr lang="en-IN" dirty="0"/>
              <a:t>Deep Lakehouse testing comes later in Module 3</a:t>
            </a:r>
          </a:p>
          <a:p>
            <a:r>
              <a:rPr lang="en-IN" dirty="0"/>
              <a:t>Deeper SQL logic and security testing also comes later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Today is about orientation. Later modules turn this comparison into deeper test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"Where QA evidence lives across Fabric"</a:t>
            </a:r>
          </a:p>
          <a:p>
            <a:r>
              <a:rPr lang="en-IN" dirty="0"/>
              <a:t>This slide is answering a very important QA question:</a:t>
            </a:r>
          </a:p>
          <a:p>
            <a:r>
              <a:rPr lang="en-IN" dirty="0"/>
              <a:t>❓ "When I need proof, where exactly do I look?"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message is clear:</a:t>
            </a:r>
          </a:p>
          <a:p>
            <a:r>
              <a:rPr lang="en-IN" dirty="0"/>
              <a:t>QA evidence in Fabric is distributed.</a:t>
            </a:r>
          </a:p>
          <a:p>
            <a:r>
              <a:rPr lang="en-IN" dirty="0"/>
              <a:t>You do not prove quality from one screen only.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📊 1. Data Correctness</a:t>
            </a:r>
          </a:p>
          <a:p>
            <a:r>
              <a:rPr lang="en-IN" dirty="0"/>
              <a:t>Evidence sources include:</a:t>
            </a:r>
          </a:p>
          <a:p>
            <a:r>
              <a:rPr lang="en-IN" dirty="0"/>
              <a:t>Lakehouse tables</a:t>
            </a:r>
          </a:p>
          <a:p>
            <a:r>
              <a:rPr lang="en-IN" dirty="0"/>
              <a:t>Warehouse queries</a:t>
            </a:r>
          </a:p>
          <a:p>
            <a:r>
              <a:rPr lang="en-IN" dirty="0"/>
              <a:t>Sample outputs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do:</a:t>
            </a:r>
          </a:p>
          <a:p>
            <a:r>
              <a:rPr lang="en-IN" dirty="0"/>
              <a:t>Use these to confirm whether stored or transformed data is correct.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⚙️ 2. Orchestration Evidence</a:t>
            </a:r>
          </a:p>
          <a:p>
            <a:r>
              <a:rPr lang="en-IN" dirty="0"/>
              <a:t>Evidence sources include:</a:t>
            </a:r>
          </a:p>
          <a:p>
            <a:r>
              <a:rPr lang="en-IN" dirty="0"/>
              <a:t>Pipeline run status</a:t>
            </a:r>
          </a:p>
          <a:p>
            <a:r>
              <a:rPr lang="en-IN" dirty="0"/>
              <a:t>Dependencies</a:t>
            </a:r>
          </a:p>
          <a:p>
            <a:r>
              <a:rPr lang="en-IN" dirty="0"/>
              <a:t>Retry history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do:</a:t>
            </a:r>
          </a:p>
          <a:p>
            <a:r>
              <a:rPr lang="en-IN" dirty="0"/>
              <a:t>If data is stale, missing, or incomplete, orchestration evidence helps explain whether the issue is process failure rather than data logic failure.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🔐 3. Access Behavior</a:t>
            </a:r>
          </a:p>
          <a:p>
            <a:r>
              <a:rPr lang="en-IN" dirty="0"/>
              <a:t>Evidence sources include:</a:t>
            </a:r>
          </a:p>
          <a:p>
            <a:r>
              <a:rPr lang="en-IN" dirty="0"/>
              <a:t>Workspace roles</a:t>
            </a:r>
          </a:p>
          <a:p>
            <a:r>
              <a:rPr lang="en-IN" dirty="0"/>
              <a:t>Item permissions</a:t>
            </a:r>
          </a:p>
          <a:p>
            <a:r>
              <a:rPr lang="en-IN" dirty="0"/>
              <a:t>Query visibility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What QA should do:</a:t>
            </a:r>
          </a:p>
          <a:p>
            <a:r>
              <a:rPr lang="en-IN" dirty="0"/>
              <a:t>Verify that users can only see and use what they are allowed to access.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👁️ 4. Consumption Behavior</a:t>
            </a:r>
          </a:p>
          <a:p>
            <a:r>
              <a:rPr lang="en-IN" dirty="0"/>
              <a:t>Evidence sources include:</a:t>
            </a:r>
          </a:p>
          <a:p>
            <a:r>
              <a:rPr lang="en-IN" dirty="0"/>
              <a:t>Semantic model structure</a:t>
            </a:r>
          </a:p>
          <a:p>
            <a:r>
              <a:rPr lang="en-IN" dirty="0"/>
              <a:t>Report access</a:t>
            </a:r>
          </a:p>
          <a:p>
            <a:r>
              <a:rPr lang="en-IN" dirty="0"/>
              <a:t>Refresh behavior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Correct backend data is not enough if the business-facing layer is wrong.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📉 5. Operational Clues</a:t>
            </a:r>
          </a:p>
          <a:p>
            <a:r>
              <a:rPr lang="en-IN" dirty="0"/>
              <a:t>Evidence sources include:</a:t>
            </a:r>
          </a:p>
          <a:p>
            <a:r>
              <a:rPr lang="en-IN" dirty="0"/>
              <a:t>Run history</a:t>
            </a:r>
          </a:p>
          <a:p>
            <a:r>
              <a:rPr lang="en-IN" dirty="0"/>
              <a:t>Monitoring signals</a:t>
            </a:r>
          </a:p>
          <a:p>
            <a:r>
              <a:rPr lang="en-IN" dirty="0"/>
              <a:t>Visible failure patterns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Good testers collect evidence from multiple layers, not just from the final report or one successful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"Day 1 lab outcome and setup"</a:t>
            </a:r>
          </a:p>
          <a:p>
            <a:r>
              <a:rPr lang="en-IN" dirty="0"/>
              <a:t>This slide is answering one learner question:</a:t>
            </a:r>
          </a:p>
          <a:p>
            <a:r>
              <a:rPr lang="en-IN" dirty="0"/>
              <a:t>❓ "What should I achieve by the end of the Day 1 hands-on session?"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not a deep implementation lab.</a:t>
            </a:r>
          </a:p>
          <a:p>
            <a:r>
              <a:rPr lang="en-IN" dirty="0"/>
              <a:t>It is an orientation lab designed to build confidence in navigation, observation, and early evidence gathering.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🎯 1. Lab Objective</a:t>
            </a:r>
          </a:p>
          <a:p>
            <a:r>
              <a:rPr lang="en-IN" dirty="0"/>
              <a:t>The learner is expected to:</a:t>
            </a:r>
          </a:p>
          <a:p>
            <a:r>
              <a:rPr lang="en-IN" dirty="0"/>
              <a:t>Locate the major Fabric items in the sample workspace</a:t>
            </a:r>
          </a:p>
          <a:p>
            <a:r>
              <a:rPr lang="en-IN" dirty="0"/>
              <a:t>Recognize the difference between Lakehouse and Warehouse surfaces</a:t>
            </a:r>
          </a:p>
          <a:p>
            <a:r>
              <a:rPr lang="en-IN" dirty="0"/>
              <a:t>Identify where QA evidence can be collected</a:t>
            </a:r>
          </a:p>
          <a:p>
            <a:r>
              <a:rPr lang="en-IN" dirty="0"/>
              <a:t>Describe how customer isolation is expected to work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The learner should leave with a mental map of the environment, not just screenshots or random clicks.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2. Learner Success Looks Like This</a:t>
            </a:r>
          </a:p>
          <a:p>
            <a:r>
              <a:rPr lang="en-IN" dirty="0"/>
              <a:t>Success means producing:</a:t>
            </a:r>
          </a:p>
          <a:p>
            <a:r>
              <a:rPr lang="en-IN" dirty="0"/>
              <a:t>A clear list of the items found in the workspace</a:t>
            </a:r>
          </a:p>
          <a:p>
            <a:r>
              <a:rPr lang="en-IN" dirty="0"/>
              <a:t>One sentence describing OneLake, Lakehouse, and Warehouse in QA terms</a:t>
            </a:r>
          </a:p>
          <a:p>
            <a:r>
              <a:rPr lang="en-IN" dirty="0"/>
              <a:t>A short set of evidence points the learner knows how to inspect</a:t>
            </a:r>
          </a:p>
          <a:p>
            <a:r>
              <a:rPr lang="en-IN" dirty="0"/>
              <a:t>A first draft of customer isolation checks for the environment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Mindset:</a:t>
            </a:r>
          </a:p>
          <a:p>
            <a:r>
              <a:rPr lang="en-IN" dirty="0"/>
              <a:t>This turns passive exploration into observable learning output.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⏱️ 3. Recommended Duration</a:t>
            </a:r>
          </a:p>
          <a:p>
            <a:r>
              <a:rPr lang="en-IN" dirty="0"/>
              <a:t>The slide suggests:</a:t>
            </a:r>
          </a:p>
          <a:p>
            <a:r>
              <a:rPr lang="en-IN" dirty="0"/>
              <a:t>45 to 60 minutes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1 is about orientation, evidence awareness, and building confidence before deeper testing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"Lab step 1: Explore the workspace"</a:t>
            </a:r>
          </a:p>
          <a:p>
            <a:r>
              <a:rPr lang="en-IN" dirty="0"/>
              <a:t>This slide is teaching the first QA habit:</a:t>
            </a:r>
          </a:p>
          <a:p>
            <a:r>
              <a:rPr lang="en-IN" dirty="0"/>
              <a:t>❓ "Start by understanding the container before inspecting the contents."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workspace is the first place QA should learn to read for clues.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🧭 1. Tasks</a:t>
            </a:r>
          </a:p>
          <a:p>
            <a:r>
              <a:rPr lang="en-IN" dirty="0"/>
              <a:t>The learner should:</a:t>
            </a:r>
          </a:p>
          <a:p>
            <a:r>
              <a:rPr lang="en-IN" dirty="0"/>
              <a:t>Open the assigned Fabric workspace</a:t>
            </a:r>
          </a:p>
          <a:p>
            <a:r>
              <a:rPr lang="en-IN" dirty="0"/>
              <a:t>List the items that are visible</a:t>
            </a:r>
          </a:p>
          <a:p>
            <a:r>
              <a:rPr lang="en-IN" dirty="0"/>
              <a:t>Categorize each item by type</a:t>
            </a:r>
          </a:p>
          <a:p>
            <a:r>
              <a:rPr lang="en-IN" dirty="0"/>
              <a:t>Decide which items look most relevant to QA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QA meaning:</a:t>
            </a:r>
          </a:p>
          <a:p>
            <a:r>
              <a:rPr lang="en-IN" dirty="0"/>
              <a:t>Before writing tests, QA needs to know what assets actually exist in the environment.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👀 2. Expected Observations</a:t>
            </a:r>
          </a:p>
          <a:p>
            <a:r>
              <a:rPr lang="en-IN" dirty="0"/>
              <a:t>The learner should notice:</a:t>
            </a:r>
          </a:p>
          <a:p>
            <a:r>
              <a:rPr lang="en-IN" dirty="0"/>
              <a:t>Workspaces are the container learners navigate first</a:t>
            </a:r>
          </a:p>
          <a:p>
            <a:r>
              <a:rPr lang="en-IN" dirty="0"/>
              <a:t>Item naming and grouping provide strong QA clues</a:t>
            </a:r>
          </a:p>
          <a:p>
            <a:r>
              <a:rPr lang="en-IN" dirty="0"/>
              <a:t>Different item types map to different validation surfaces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Item discovery is not busywork. It is the foundation for traceable testing.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📝 3. Learner Output</a:t>
            </a:r>
          </a:p>
          <a:p>
            <a:r>
              <a:rPr lang="en-IN" dirty="0"/>
              <a:t>The learner should produce:</a:t>
            </a:r>
          </a:p>
          <a:p>
            <a:r>
              <a:rPr lang="en-IN" dirty="0"/>
              <a:t>A list of items found</a:t>
            </a:r>
          </a:p>
          <a:p>
            <a:r>
              <a:rPr lang="en-IN" dirty="0"/>
              <a:t>A first pass at what each item is used for</a:t>
            </a:r>
          </a:p>
          <a:p>
            <a:r>
              <a:rPr lang="en-IN" dirty="0"/>
              <a:t>A note on how customer scope appears to be represented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Later test cases become easier when QA already understands what the workspace contains.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"Lab step 2: Inspect the Lakehouse"</a:t>
            </a:r>
          </a:p>
          <a:p>
            <a:r>
              <a:rPr lang="en-IN" dirty="0"/>
              <a:t>This slide is answering one practical lab question:</a:t>
            </a:r>
          </a:p>
          <a:p>
            <a:r>
              <a:rPr lang="en-IN" dirty="0"/>
              <a:t>❓ "What should a learner look for when first opening a Lakehouse?"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where QA moves from simple navigation into early data-surface inspection.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📂 1. Tasks</a:t>
            </a:r>
          </a:p>
          <a:p>
            <a:r>
              <a:rPr lang="en-IN" dirty="0"/>
              <a:t>The learner should:</a:t>
            </a:r>
          </a:p>
          <a:p>
            <a:r>
              <a:rPr lang="en-IN" dirty="0"/>
              <a:t>Open the Lakehouse item</a:t>
            </a:r>
          </a:p>
          <a:p>
            <a:r>
              <a:rPr lang="en-IN" dirty="0"/>
              <a:t>Review visible files and tables</a:t>
            </a:r>
          </a:p>
          <a:p>
            <a:r>
              <a:rPr lang="en-IN" dirty="0"/>
              <a:t>Check which access paths are available</a:t>
            </a:r>
          </a:p>
          <a:p>
            <a:r>
              <a:rPr lang="en-IN" dirty="0"/>
              <a:t>Identify one likely raw or staging table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QA meaning:</a:t>
            </a:r>
          </a:p>
          <a:p>
            <a:r>
              <a:rPr lang="en-IN" dirty="0"/>
              <a:t>This is the first time the learner starts identifying a future validation target.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👀 2. Expected Observations</a:t>
            </a:r>
          </a:p>
          <a:p>
            <a:r>
              <a:rPr lang="en-IN" dirty="0"/>
              <a:t>The learner should notice:</a:t>
            </a:r>
          </a:p>
          <a:p>
            <a:r>
              <a:rPr lang="en-IN" dirty="0"/>
              <a:t>Lakehouse combines file and table views</a:t>
            </a:r>
          </a:p>
          <a:p>
            <a:r>
              <a:rPr lang="en-IN" dirty="0"/>
              <a:t>Data may be inspectable through SQL endpoint, notebooks, or table views</a:t>
            </a:r>
          </a:p>
          <a:p>
            <a:r>
              <a:rPr lang="en-IN" dirty="0"/>
              <a:t>The structure often hints at Bronze, Silver, or Gold style progression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The Lakehouse gives structural clues about where data is landing and how it may be moving through transformation stages.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📝 3. Learner Output</a:t>
            </a:r>
          </a:p>
          <a:p>
            <a:r>
              <a:rPr lang="en-IN" dirty="0"/>
              <a:t>The learner should produce:</a:t>
            </a:r>
          </a:p>
          <a:p>
            <a:r>
              <a:rPr lang="en-IN" dirty="0"/>
              <a:t>One short description of the Lakehouse in QA terms</a:t>
            </a:r>
          </a:p>
          <a:p>
            <a:r>
              <a:rPr lang="en-IN" dirty="0"/>
              <a:t>One example of a table or asset worth validating later</a:t>
            </a:r>
          </a:p>
          <a:p>
            <a:r>
              <a:rPr lang="en-IN" dirty="0"/>
              <a:t>A note on how the Lakehouse can be inspected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This step builds the bridge from orientation into future test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"Lab step 3: Inspect the Warehouse"</a:t>
            </a:r>
          </a:p>
          <a:p>
            <a:r>
              <a:rPr lang="en-IN" dirty="0"/>
              <a:t>This slide is answering one practical lab question:</a:t>
            </a:r>
          </a:p>
          <a:p>
            <a:r>
              <a:rPr lang="en-IN" dirty="0"/>
              <a:t>❓ "How should the learner start evaluating the Warehouse as a QA surface?"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focus now shifts from mixed file-plus-table exploration to SQL-centric inspection.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🗃️ 1. Tasks</a:t>
            </a:r>
          </a:p>
          <a:p>
            <a:r>
              <a:rPr lang="en-IN" dirty="0"/>
              <a:t>The learner should:</a:t>
            </a:r>
          </a:p>
          <a:p>
            <a:r>
              <a:rPr lang="en-IN" dirty="0"/>
              <a:t>Open the Warehouse item</a:t>
            </a:r>
          </a:p>
          <a:p>
            <a:r>
              <a:rPr lang="en-IN" dirty="0"/>
              <a:t>Review schemas and tables</a:t>
            </a:r>
          </a:p>
          <a:p>
            <a:r>
              <a:rPr lang="en-IN" dirty="0"/>
              <a:t>Open the SQL query editor if available</a:t>
            </a:r>
          </a:p>
          <a:p>
            <a:r>
              <a:rPr lang="en-IN" dirty="0"/>
              <a:t>Note whether a default semantic model exists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QA meaning:</a:t>
            </a:r>
          </a:p>
          <a:p>
            <a:r>
              <a:rPr lang="en-IN" dirty="0"/>
              <a:t>This step introduces the learner to the most common business-facing validation path.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👀 2. Expected Observations</a:t>
            </a:r>
          </a:p>
          <a:p>
            <a:r>
              <a:rPr lang="en-IN" dirty="0"/>
              <a:t>The learner should notice:</a:t>
            </a:r>
          </a:p>
          <a:p>
            <a:r>
              <a:rPr lang="en-IN" dirty="0"/>
              <a:t>Warehouse is the SQL-centric validation surface</a:t>
            </a:r>
          </a:p>
          <a:p>
            <a:r>
              <a:rPr lang="en-IN" dirty="0"/>
              <a:t>Schemas and tables are usually closer to business-ready analytics</a:t>
            </a:r>
          </a:p>
          <a:p>
            <a:r>
              <a:rPr lang="en-IN" dirty="0"/>
              <a:t>The query editor is a natural place for later validation work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If the learner understands how to inspect the Warehouse, they are much closer to writing meaningful validation queries later.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📝 3. Learner Output</a:t>
            </a:r>
          </a:p>
          <a:p>
            <a:r>
              <a:rPr lang="en-IN" dirty="0"/>
              <a:t>The learner should produce:</a:t>
            </a:r>
          </a:p>
          <a:p>
            <a:r>
              <a:rPr lang="en-IN" dirty="0"/>
              <a:t>One short description of the Warehouse in QA terms</a:t>
            </a:r>
          </a:p>
          <a:p>
            <a:r>
              <a:rPr lang="en-IN" dirty="0"/>
              <a:t>One example of a query or output worth validating later</a:t>
            </a:r>
          </a:p>
          <a:p>
            <a:r>
              <a:rPr lang="en-IN" dirty="0"/>
              <a:t>A note on the semantic or reporting path attached to the Warehouse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This step helps QA connect backend structure with business consumption.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"Lab step 4: Validate isolation assumptions"</a:t>
            </a:r>
          </a:p>
          <a:p>
            <a:r>
              <a:rPr lang="en-IN" dirty="0"/>
              <a:t>This slide is where Day 1 stops being only architecture orientation and becomes actual QA thinking.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core question is:</a:t>
            </a:r>
          </a:p>
          <a:p>
            <a:r>
              <a:rPr lang="en-IN" dirty="0"/>
              <a:t>❓ "Can we turn isolation assumptions into real checks?"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1. Positive Checks</a:t>
            </a:r>
          </a:p>
          <a:p>
            <a:r>
              <a:rPr lang="en-IN" dirty="0"/>
              <a:t>The slide says QA should confirm that:</a:t>
            </a:r>
          </a:p>
          <a:p>
            <a:r>
              <a:rPr lang="en-IN" dirty="0"/>
              <a:t>Expected users can see the right workspace and items</a:t>
            </a:r>
          </a:p>
          <a:p>
            <a:r>
              <a:rPr lang="en-IN" dirty="0"/>
              <a:t>The customer workspace contains the intended Fabric assets</a:t>
            </a:r>
          </a:p>
          <a:p>
            <a:r>
              <a:rPr lang="en-IN" dirty="0"/>
              <a:t>Normal access paths work without unexpected denial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Not all security testing is denial. QA must also confirm valid access works as expected.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🚫 2. Negative Checks</a:t>
            </a:r>
          </a:p>
          <a:p>
            <a:r>
              <a:rPr lang="en-IN" dirty="0"/>
              <a:t>The slide also says QA should verify that:</a:t>
            </a:r>
          </a:p>
          <a:p>
            <a:r>
              <a:rPr lang="en-IN" dirty="0"/>
              <a:t>Users cannot see another customer's workspace or items</a:t>
            </a:r>
          </a:p>
          <a:p>
            <a:r>
              <a:rPr lang="en-IN" dirty="0"/>
              <a:t>Unauthorized paths do not expose data through SQL or reports</a:t>
            </a:r>
          </a:p>
          <a:p>
            <a:r>
              <a:rPr lang="en-IN" dirty="0"/>
              <a:t>Permissions do not accidentally widen through shared item settings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🚨 Critical QA mindset:</a:t>
            </a:r>
          </a:p>
          <a:p>
            <a:r>
              <a:rPr lang="en-IN" dirty="0"/>
              <a:t>Isolation is only proven when blocked behavior is tested, not when allowed behavior works.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🧾 3. Record Evidence</a:t>
            </a:r>
          </a:p>
          <a:p>
            <a:r>
              <a:rPr lang="en-IN" dirty="0"/>
              <a:t>The learner should capture:</a:t>
            </a:r>
          </a:p>
          <a:p>
            <a:r>
              <a:rPr lang="en-IN" dirty="0"/>
              <a:t>Visible items by user or role</a:t>
            </a:r>
          </a:p>
          <a:p>
            <a:r>
              <a:rPr lang="en-IN" dirty="0"/>
              <a:t>Successful and denied access attempts</a:t>
            </a:r>
          </a:p>
          <a:p>
            <a:r>
              <a:rPr lang="en-IN" dirty="0"/>
              <a:t>Any mismatch between expected and observed behavior</a:t>
            </a:r>
          </a:p>
          <a:p>
            <a:r>
              <a:rPr lang="en-IN" dirty="0"/>
              <a:t>Questions to revisit in the security module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Evidence collection turns access testing into something defensible and repeatable.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"Common Day 1 mistakes and quick wins"</a:t>
            </a:r>
          </a:p>
          <a:p>
            <a:r>
              <a:rPr lang="en-IN" dirty="0"/>
              <a:t>This slide is trying to prevent weak QA habits before they become part of later testing.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🚫 1. Common Mistakes</a:t>
            </a:r>
          </a:p>
          <a:p>
            <a:r>
              <a:rPr lang="en-IN" dirty="0"/>
              <a:t>The slide warns against:</a:t>
            </a:r>
          </a:p>
          <a:p>
            <a:r>
              <a:rPr lang="en-IN" dirty="0"/>
              <a:t>Treating all Fabric surfaces like a classic SQL database</a:t>
            </a:r>
          </a:p>
          <a:p>
            <a:r>
              <a:rPr lang="en-IN" dirty="0"/>
              <a:t>Assuming workspace access automatically proves correct data access</a:t>
            </a:r>
          </a:p>
          <a:p>
            <a:r>
              <a:rPr lang="en-IN" dirty="0"/>
              <a:t>Looking only at the final report instead of upstream items</a:t>
            </a:r>
          </a:p>
          <a:p>
            <a:r>
              <a:rPr lang="en-IN" dirty="0"/>
              <a:t>Jumping into test cases before understanding where evidence lives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These mistakes create shallow test coverage and false confidence.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2. Quick Wins</a:t>
            </a:r>
          </a:p>
          <a:p>
            <a:r>
              <a:rPr lang="en-IN" dirty="0"/>
              <a:t>The slide suggests:</a:t>
            </a:r>
          </a:p>
          <a:p>
            <a:r>
              <a:rPr lang="en-IN" dirty="0"/>
              <a:t>Follow one dataset across the workspace before testing everything</a:t>
            </a:r>
          </a:p>
          <a:p>
            <a:r>
              <a:rPr lang="en-IN" dirty="0"/>
              <a:t>Document how each item type is inspected</a:t>
            </a:r>
          </a:p>
          <a:p>
            <a:r>
              <a:rPr lang="en-IN" dirty="0"/>
              <a:t>Record both successful and denied access behavior</a:t>
            </a:r>
          </a:p>
          <a:p>
            <a:r>
              <a:rPr lang="en-IN" dirty="0"/>
              <a:t>Use Day 1 findings to shape later validation checklists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🧪 QA Lesson:</a:t>
            </a:r>
          </a:p>
          <a:p>
            <a:r>
              <a:rPr lang="en-IN" dirty="0"/>
              <a:t>Small discipline early on leads to stronger and faster testing later.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A little context on Day 1 prevents a lot of bad testing assumptions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🎯 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👉 "Recap and transition to Module 2"</a:t>
            </a:r>
          </a:p>
          <a:p>
            <a:r>
              <a:rPr lang="en-IN" dirty="0"/>
              <a:t>This slide is closing Day 1 by answering:</a:t>
            </a:r>
          </a:p>
          <a:p>
            <a:r>
              <a:rPr lang="en-IN" dirty="0"/>
              <a:t>❓ "What should the learner now be able to do, and what comes next?"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🔗 1. Fabric Is a Connected Platform</a:t>
            </a:r>
          </a:p>
          <a:p>
            <a:r>
              <a:rPr lang="en-IN" dirty="0"/>
              <a:t>The slide reminds learners:</a:t>
            </a:r>
          </a:p>
          <a:p>
            <a:r>
              <a:rPr lang="en-IN" dirty="0"/>
              <a:t>QA does not validate one database only.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Instead, QA follows evidence across:</a:t>
            </a:r>
          </a:p>
          <a:p>
            <a:r>
              <a:rPr lang="en-IN" dirty="0"/>
              <a:t>Storage</a:t>
            </a:r>
          </a:p>
          <a:p>
            <a:r>
              <a:rPr lang="en-IN" dirty="0"/>
              <a:t>Pipelines</a:t>
            </a:r>
          </a:p>
          <a:p>
            <a:r>
              <a:rPr lang="en-IN" dirty="0"/>
              <a:t>SQL surfaces</a:t>
            </a:r>
          </a:p>
          <a:p>
            <a:r>
              <a:rPr lang="en-IN" dirty="0"/>
              <a:t>Semantic layers</a:t>
            </a:r>
          </a:p>
          <a:p>
            <a:r>
              <a:rPr lang="en-IN" dirty="0"/>
              <a:t>Reporting outputs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🏢 2. Workspaces Matter</a:t>
            </a:r>
          </a:p>
          <a:p>
            <a:r>
              <a:rPr lang="en-IN" dirty="0"/>
              <a:t>Customer isolation starts with clear workspace and item boundaries.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✅ QA implication:</a:t>
            </a:r>
          </a:p>
          <a:p>
            <a:r>
              <a:rPr lang="en-IN" dirty="0"/>
              <a:t>Before checking deep logic, QA must understand how environments and access are separated.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⚖️ 3. Lakehouse and Warehouse Differ</a:t>
            </a:r>
          </a:p>
          <a:p>
            <a:r>
              <a:rPr lang="en-IN" dirty="0"/>
              <a:t>The validation path changes depending on the asset type.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👉 Different platforms need different testing methods.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🧭 4. Navigation Comes First</a:t>
            </a:r>
          </a:p>
          <a:p>
            <a:r>
              <a:rPr lang="en-IN" dirty="0"/>
              <a:t>Confident exploration makes later testing faster and cleaner.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➡️ 5. Transition to Module 2</a:t>
            </a:r>
          </a:p>
          <a:p>
            <a:r>
              <a:rPr lang="en-IN" dirty="0"/>
              <a:t>The next module moves into:</a:t>
            </a:r>
          </a:p>
          <a:p>
            <a:r>
              <a:rPr lang="en-IN" dirty="0"/>
              <a:t>Data validation</a:t>
            </a:r>
          </a:p>
          <a:p>
            <a:r>
              <a:rPr lang="en-IN" dirty="0"/>
              <a:t>Quality checks</a:t>
            </a:r>
          </a:p>
          <a:p>
            <a:r>
              <a:rPr lang="en-IN" dirty="0"/>
              <a:t>Medallion layers</a:t>
            </a:r>
          </a:p>
          <a:p>
            <a:r>
              <a:rPr lang="en-IN" dirty="0"/>
              <a:t>Turning observations into test cases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✔ Final Understanding:</a:t>
            </a:r>
          </a:p>
          <a:p>
            <a:r>
              <a:rPr lang="en-IN" dirty="0"/>
              <a:t>Day 1 gives the learner the map, and Module 2 teaches them how to test what they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F23C046-326C-44BA-B184-19CCD9FBF3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DB93ADD-FA85-4A69-BAE2-8C443B0137A9}"/>
              </a:ext>
            </a:extLst>
          </p:cNvPr>
          <p:cNvSpPr>
            <a:spLocks noGrp="1"/>
          </p:cNvSpPr>
          <p:nvPr/>
        </p:nvSpPr>
        <p:spPr>
          <a:xfrm>
            <a:off x="8648700" y="819150"/>
            <a:ext cx="3048000" cy="304800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065FF5A-4EBD-418E-8D2C-561EFAD01015}"/>
              </a:ext>
            </a:extLst>
          </p:cNvPr>
          <p:cNvSpPr>
            <a:spLocks noGrp="1"/>
          </p:cNvSpPr>
          <p:nvPr/>
        </p:nvSpPr>
        <p:spPr>
          <a:xfrm>
            <a:off x="9886950" y="2533650"/>
            <a:ext cx="1619250" cy="161925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9DEA7E-D34F-483B-92B2-88E2F2662C07}"/>
              </a:ext>
            </a:extLst>
          </p:cNvPr>
          <p:cNvSpPr>
            <a:spLocks noGrp="1"/>
          </p:cNvSpPr>
          <p:nvPr/>
        </p:nvSpPr>
        <p:spPr>
          <a:xfrm>
            <a:off x="9315450" y="4362450"/>
            <a:ext cx="2000250" cy="2000250"/>
          </a:xfrm>
          <a:prstGeom prst="ellipse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B80156-EFD7-4B68-A191-A8637A8314FF}"/>
              </a:ext>
            </a:extLst>
          </p:cNvPr>
          <p:cNvSpPr>
            <a:spLocks noGrp="1"/>
          </p:cNvSpPr>
          <p:nvPr/>
        </p:nvSpPr>
        <p:spPr>
          <a:xfrm>
            <a:off x="7772400" y="1181100"/>
            <a:ext cx="19621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10196"/>
            </a:srgbClr>
          </a:solidFill>
          <a:ln w="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FB16BA4-2AB1-415A-94B5-453058C98C2C}"/>
              </a:ext>
            </a:extLst>
          </p:cNvPr>
          <p:cNvSpPr>
            <a:spLocks noGrp="1"/>
          </p:cNvSpPr>
          <p:nvPr/>
        </p:nvSpPr>
        <p:spPr>
          <a:xfrm>
            <a:off x="8134350" y="2324100"/>
            <a:ext cx="2419350" cy="1047750"/>
          </a:xfrm>
          <a:prstGeom prst="roundRect">
            <a:avLst>
              <a:gd name="adj" fmla="val 7273"/>
            </a:avLst>
          </a:prstGeom>
          <a:solidFill>
            <a:srgbClr val="FFFFFF">
              <a:alpha val="12549"/>
            </a:srgbClr>
          </a:solidFill>
          <a:ln w="0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6C4E7D-0BB8-4FA8-B117-E7612790711C}"/>
              </a:ext>
            </a:extLst>
          </p:cNvPr>
          <p:cNvSpPr>
            <a:spLocks noGrp="1"/>
          </p:cNvSpPr>
          <p:nvPr/>
        </p:nvSpPr>
        <p:spPr>
          <a:xfrm>
            <a:off x="7467600" y="3676650"/>
            <a:ext cx="2305050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10196"/>
            </a:srgbClr>
          </a:solidFill>
          <a:ln w="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3A4A6F-EDF8-4D94-9683-8729C3041A38}"/>
              </a:ext>
            </a:extLst>
          </p:cNvPr>
          <p:cNvSpPr>
            <a:spLocks noGrp="1"/>
          </p:cNvSpPr>
          <p:nvPr/>
        </p:nvSpPr>
        <p:spPr>
          <a:xfrm>
            <a:off x="723900" y="800100"/>
            <a:ext cx="4286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FEDEE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CFEDEE"/>
                </a:solidFill>
                <a:latin typeface="Aptos Mono"/>
                <a:ea typeface="Aptos Mono"/>
                <a:cs typeface="Aptos Mono"/>
              </a:rPr>
              <a:t>MICROSOFT FABRIC QA TRAINING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1D17A2-3DF5-4BC1-97E7-E2FF56B90A33}"/>
              </a:ext>
            </a:extLst>
          </p:cNvPr>
          <p:cNvSpPr>
            <a:spLocks noGrp="1"/>
          </p:cNvSpPr>
          <p:nvPr/>
        </p:nvSpPr>
        <p:spPr>
          <a:xfrm>
            <a:off x="723900" y="1219200"/>
            <a:ext cx="590550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FFFFFF"/>
                </a:solidFill>
                <a:latin typeface="Caladea"/>
                <a:ea typeface="Caladea"/>
                <a:cs typeface="Caladea"/>
              </a:defRPr>
            </a:pPr>
            <a:r>
              <a:rPr sz="3000" b="1">
                <a:solidFill>
                  <a:srgbClr val="FFFFFF"/>
                </a:solidFill>
                <a:latin typeface="Caladea"/>
                <a:ea typeface="Caladea"/>
                <a:cs typeface="Caladea"/>
              </a:rPr>
              <a:t>Day 1: Fabric Basics for QA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F1EF3F-32F9-4EF3-9944-659B90BA6F92}"/>
              </a:ext>
            </a:extLst>
          </p:cNvPr>
          <p:cNvSpPr>
            <a:spLocks noGrp="1"/>
          </p:cNvSpPr>
          <p:nvPr/>
        </p:nvSpPr>
        <p:spPr>
          <a:xfrm>
            <a:off x="742950" y="2362200"/>
            <a:ext cx="53340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E5EEF2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E5EEF2"/>
                </a:solidFill>
                <a:latin typeface="Lato"/>
                <a:ea typeface="Lato"/>
                <a:cs typeface="Lato"/>
              </a:rPr>
              <a:t>A QA-first introduction to Fabric components, customer isolation, and where to inspect evidence before deeper testing begins.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173957-FBF7-4ED2-A53C-9406711BC47A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17907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4B7881-E04A-499B-B169-6F2B4827B1E3}"/>
              </a:ext>
            </a:extLst>
          </p:cNvPr>
          <p:cNvSpPr>
            <a:spLocks noGrp="1"/>
          </p:cNvSpPr>
          <p:nvPr/>
        </p:nvSpPr>
        <p:spPr>
          <a:xfrm>
            <a:off x="876300" y="3419475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30 MINUTE SESSION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2250EC5-41C7-4AD8-BA46-9CBDA6379E2C}"/>
              </a:ext>
            </a:extLst>
          </p:cNvPr>
          <p:cNvSpPr>
            <a:spLocks noGrp="1"/>
          </p:cNvSpPr>
          <p:nvPr/>
        </p:nvSpPr>
        <p:spPr>
          <a:xfrm>
            <a:off x="2647950" y="3352800"/>
            <a:ext cx="2114550" cy="304800"/>
          </a:xfrm>
          <a:prstGeom prst="roundRect">
            <a:avLst>
              <a:gd name="adj" fmla="val 25000"/>
            </a:avLst>
          </a:prstGeom>
          <a:solidFill>
            <a:srgbClr val="F5E7C5"/>
          </a:solidFill>
          <a:ln w="0">
            <a:solidFill>
              <a:srgbClr val="F5E7C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1A119D-590B-4A68-B1C6-C705CBBD6810}"/>
              </a:ext>
            </a:extLst>
          </p:cNvPr>
          <p:cNvSpPr>
            <a:spLocks noGrp="1"/>
          </p:cNvSpPr>
          <p:nvPr/>
        </p:nvSpPr>
        <p:spPr>
          <a:xfrm>
            <a:off x="2781300" y="3419475"/>
            <a:ext cx="18478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59A2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59A2C"/>
                </a:solidFill>
                <a:latin typeface="Aptos Mono"/>
                <a:ea typeface="Aptos Mono"/>
                <a:cs typeface="Aptos Mono"/>
              </a:rPr>
              <a:t>20 PRESENTATION SLIDES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8DD865C-FCDA-42B9-AE26-C2C8FD73FE1C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5334000" cy="1733550"/>
          </a:xfrm>
          <a:prstGeom prst="roundRect">
            <a:avLst>
              <a:gd name="adj" fmla="val 4396"/>
            </a:avLst>
          </a:prstGeom>
          <a:solidFill>
            <a:srgbClr val="FFFFFF">
              <a:alpha val="7843"/>
            </a:srgbClr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C49926-F7D4-4019-AEA8-E9DD38C00739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76200" cy="17335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D1180A-3EB2-4BFB-9A50-5F75B8C04E13}"/>
              </a:ext>
            </a:extLst>
          </p:cNvPr>
          <p:cNvSpPr>
            <a:spLocks noGrp="1"/>
          </p:cNvSpPr>
          <p:nvPr/>
        </p:nvSpPr>
        <p:spPr>
          <a:xfrm>
            <a:off x="971550" y="4248150"/>
            <a:ext cx="445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By the end of this module, learners should be able to: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A13C43-BC94-474B-88BF-71FE8FE9E4B3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45148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Name the Fabric components that matter to QA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Explain the customer-per-workspace isolation pattern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Differentiate Lakehouse and Warehouse validation surfaces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Navigate a Fabric workspace with purpose before testing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F6E3E7-E071-479D-88E4-F9E0DCD5E9DB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CFEDEE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CFEDEE"/>
                </a:solidFill>
                <a:latin typeface="Aptos Mono"/>
                <a:ea typeface="Aptos Mono"/>
                <a:cs typeface="Aptos Mono"/>
              </a:rPr>
              <a:t>Module 1</a:t>
            </a:r>
          </a:p>
        </p:txBody>
      </p:sp>
    </p:spTree>
    <p:extLst>
      <p:ext uri="{BB962C8B-B14F-4D97-AF65-F5344CB8AC3E}">
        <p14:creationId xmlns:p14="http://schemas.microsoft.com/office/powerpoint/2010/main" val="114471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7D3FABF-F1B4-42C6-A80D-D3F00FD2EA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513B3E-1C45-456B-99D2-C5BCD339FA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2A8AF0D-303E-4A99-858A-49C2EF8E198A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B00B47-DB51-4A65-87D9-ACF33376705E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97AE735-B251-4348-9E99-80C9A3C81B8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323F03-6032-4699-98BF-55EA69AC6FF0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06CE98-C762-44DD-9D39-232DFDAF8E09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5D41A3-AA1D-4CB1-9806-9AC15D278654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What we will cover in 30 minutes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88EB06-3773-4AA2-9C6D-5F9C7A66B634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This session moves from platform context into a Day 1 lab handoff.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BAF6EF-FA4B-4CF5-9F0B-CAD795E38905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2476500" cy="2343150"/>
          </a:xfrm>
          <a:prstGeom prst="roundRect">
            <a:avLst>
              <a:gd name="adj" fmla="val 3252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FD22D9-2F16-40E8-BC6E-09D90E13D365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76200" cy="23431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D8D9CB-240F-4272-A97E-6B162D2135B3}"/>
              </a:ext>
            </a:extLst>
          </p:cNvPr>
          <p:cNvSpPr>
            <a:spLocks noGrp="1"/>
          </p:cNvSpPr>
          <p:nvPr/>
        </p:nvSpPr>
        <p:spPr>
          <a:xfrm>
            <a:off x="819150" y="3333750"/>
            <a:ext cx="205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1. QA context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434591-B944-4CF2-8650-F5B61B19CFD6}"/>
              </a:ext>
            </a:extLst>
          </p:cNvPr>
          <p:cNvSpPr>
            <a:spLocks noGrp="1"/>
          </p:cNvSpPr>
          <p:nvPr/>
        </p:nvSpPr>
        <p:spPr>
          <a:xfrm>
            <a:off x="819150" y="3848100"/>
            <a:ext cx="20574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Why a Fabric mental model matters before writing test cases.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6D148EC-B749-4D51-B4E9-A4231A394592}"/>
              </a:ext>
            </a:extLst>
          </p:cNvPr>
          <p:cNvSpPr>
            <a:spLocks noGrp="1"/>
          </p:cNvSpPr>
          <p:nvPr/>
        </p:nvSpPr>
        <p:spPr>
          <a:xfrm>
            <a:off x="819150" y="4991100"/>
            <a:ext cx="8191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E1EA9-4124-49FE-9840-2A150BA43DB6}"/>
              </a:ext>
            </a:extLst>
          </p:cNvPr>
          <p:cNvSpPr>
            <a:spLocks noGrp="1"/>
          </p:cNvSpPr>
          <p:nvPr/>
        </p:nvSpPr>
        <p:spPr>
          <a:xfrm>
            <a:off x="952500" y="5057775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7 MIN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A42863D-8A44-4418-979D-3A17984E9EA8}"/>
              </a:ext>
            </a:extLst>
          </p:cNvPr>
          <p:cNvSpPr>
            <a:spLocks noGrp="1"/>
          </p:cNvSpPr>
          <p:nvPr/>
        </p:nvSpPr>
        <p:spPr>
          <a:xfrm>
            <a:off x="3390900" y="3105150"/>
            <a:ext cx="2476500" cy="2343150"/>
          </a:xfrm>
          <a:prstGeom prst="roundRect">
            <a:avLst>
              <a:gd name="adj" fmla="val 3252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DEC25B-B8C3-4CFC-B82F-03B58A3D250A}"/>
              </a:ext>
            </a:extLst>
          </p:cNvPr>
          <p:cNvSpPr>
            <a:spLocks noGrp="1"/>
          </p:cNvSpPr>
          <p:nvPr/>
        </p:nvSpPr>
        <p:spPr>
          <a:xfrm>
            <a:off x="3390900" y="3105150"/>
            <a:ext cx="76200" cy="23431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7D6267-83BB-459B-9EC0-ACD944B5D51D}"/>
              </a:ext>
            </a:extLst>
          </p:cNvPr>
          <p:cNvSpPr>
            <a:spLocks noGrp="1"/>
          </p:cNvSpPr>
          <p:nvPr/>
        </p:nvSpPr>
        <p:spPr>
          <a:xfrm>
            <a:off x="3600450" y="3333750"/>
            <a:ext cx="205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2. Platform basics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E7AEA8-AB61-4A32-9E44-16639D4A5025}"/>
              </a:ext>
            </a:extLst>
          </p:cNvPr>
          <p:cNvSpPr>
            <a:spLocks noGrp="1"/>
          </p:cNvSpPr>
          <p:nvPr/>
        </p:nvSpPr>
        <p:spPr>
          <a:xfrm>
            <a:off x="3600450" y="3848100"/>
            <a:ext cx="20574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How Fabric, OneLake, workspaces, and items fit together.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D0DFB7B-2DBF-4F4C-BCEB-052D22C12B94}"/>
              </a:ext>
            </a:extLst>
          </p:cNvPr>
          <p:cNvSpPr>
            <a:spLocks noGrp="1"/>
          </p:cNvSpPr>
          <p:nvPr/>
        </p:nvSpPr>
        <p:spPr>
          <a:xfrm>
            <a:off x="3600450" y="4991100"/>
            <a:ext cx="819150" cy="304800"/>
          </a:xfrm>
          <a:prstGeom prst="roundRect">
            <a:avLst>
              <a:gd name="adj" fmla="val 25000"/>
            </a:avLst>
          </a:prstGeom>
          <a:solidFill>
            <a:srgbClr val="F5E7C5"/>
          </a:solidFill>
          <a:ln w="0">
            <a:solidFill>
              <a:srgbClr val="F5E7C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FCE76B-0099-4146-8F23-BE5C3DBF9EAB}"/>
              </a:ext>
            </a:extLst>
          </p:cNvPr>
          <p:cNvSpPr>
            <a:spLocks noGrp="1"/>
          </p:cNvSpPr>
          <p:nvPr/>
        </p:nvSpPr>
        <p:spPr>
          <a:xfrm>
            <a:off x="3733800" y="5057775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59A2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59A2C"/>
                </a:solidFill>
                <a:latin typeface="Aptos Mono"/>
                <a:ea typeface="Aptos Mono"/>
                <a:cs typeface="Aptos Mono"/>
              </a:rPr>
              <a:t>14 MIN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E6E1AD0-A629-48C3-8E47-D60259012462}"/>
              </a:ext>
            </a:extLst>
          </p:cNvPr>
          <p:cNvSpPr>
            <a:spLocks noGrp="1"/>
          </p:cNvSpPr>
          <p:nvPr/>
        </p:nvSpPr>
        <p:spPr>
          <a:xfrm>
            <a:off x="6172200" y="3105150"/>
            <a:ext cx="2476500" cy="2343150"/>
          </a:xfrm>
          <a:prstGeom prst="roundRect">
            <a:avLst>
              <a:gd name="adj" fmla="val 3252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CB0562-1494-43E4-8943-2B50246793FB}"/>
              </a:ext>
            </a:extLst>
          </p:cNvPr>
          <p:cNvSpPr>
            <a:spLocks noGrp="1"/>
          </p:cNvSpPr>
          <p:nvPr/>
        </p:nvSpPr>
        <p:spPr>
          <a:xfrm>
            <a:off x="6172200" y="3105150"/>
            <a:ext cx="76200" cy="23431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560357-0BA7-4131-A0E5-1038225C58FF}"/>
              </a:ext>
            </a:extLst>
          </p:cNvPr>
          <p:cNvSpPr>
            <a:spLocks noGrp="1"/>
          </p:cNvSpPr>
          <p:nvPr/>
        </p:nvSpPr>
        <p:spPr>
          <a:xfrm>
            <a:off x="6381750" y="3333750"/>
            <a:ext cx="205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3. Validation surfaces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A39AE8-84DA-4A64-9D97-BCDA5EBA5FDD}"/>
              </a:ext>
            </a:extLst>
          </p:cNvPr>
          <p:cNvSpPr>
            <a:spLocks noGrp="1"/>
          </p:cNvSpPr>
          <p:nvPr/>
        </p:nvSpPr>
        <p:spPr>
          <a:xfrm>
            <a:off x="6381750" y="3848100"/>
            <a:ext cx="20574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How Lakehouse and Warehouse differ from a tester's point of view.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08C909A-C1CC-4712-A8E3-8EA3D4696ACA}"/>
              </a:ext>
            </a:extLst>
          </p:cNvPr>
          <p:cNvSpPr>
            <a:spLocks noGrp="1"/>
          </p:cNvSpPr>
          <p:nvPr/>
        </p:nvSpPr>
        <p:spPr>
          <a:xfrm>
            <a:off x="6381750" y="4991100"/>
            <a:ext cx="819150" cy="304800"/>
          </a:xfrm>
          <a:prstGeom prst="roundRect">
            <a:avLst>
              <a:gd name="adj" fmla="val 25000"/>
            </a:avLst>
          </a:prstGeom>
          <a:solidFill>
            <a:srgbClr val="F7DED8"/>
          </a:solidFill>
          <a:ln w="0">
            <a:solidFill>
              <a:srgbClr val="F7DED8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CB0C47-1A20-45EC-A213-9C22224EFF48}"/>
              </a:ext>
            </a:extLst>
          </p:cNvPr>
          <p:cNvSpPr>
            <a:spLocks noGrp="1"/>
          </p:cNvSpPr>
          <p:nvPr/>
        </p:nvSpPr>
        <p:spPr>
          <a:xfrm>
            <a:off x="6515100" y="5057775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F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F6B57"/>
                </a:solidFill>
                <a:latin typeface="Aptos Mono"/>
                <a:ea typeface="Aptos Mono"/>
                <a:cs typeface="Aptos Mono"/>
              </a:rPr>
              <a:t>21 MIN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52EDC7A-6BAB-458E-8C76-A11591E521A6}"/>
              </a:ext>
            </a:extLst>
          </p:cNvPr>
          <p:cNvSpPr>
            <a:spLocks noGrp="1"/>
          </p:cNvSpPr>
          <p:nvPr/>
        </p:nvSpPr>
        <p:spPr>
          <a:xfrm>
            <a:off x="8953500" y="3105150"/>
            <a:ext cx="2476500" cy="2343150"/>
          </a:xfrm>
          <a:prstGeom prst="roundRect">
            <a:avLst>
              <a:gd name="adj" fmla="val 3252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EE9D5F3-49C8-4D46-AAAF-330B59236BB2}"/>
              </a:ext>
            </a:extLst>
          </p:cNvPr>
          <p:cNvSpPr>
            <a:spLocks noGrp="1"/>
          </p:cNvSpPr>
          <p:nvPr/>
        </p:nvSpPr>
        <p:spPr>
          <a:xfrm>
            <a:off x="8953500" y="3105150"/>
            <a:ext cx="76200" cy="234315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5635D1-F93C-48BF-A60B-BE882DF0B4E8}"/>
              </a:ext>
            </a:extLst>
          </p:cNvPr>
          <p:cNvSpPr>
            <a:spLocks noGrp="1"/>
          </p:cNvSpPr>
          <p:nvPr/>
        </p:nvSpPr>
        <p:spPr>
          <a:xfrm>
            <a:off x="9163050" y="3333750"/>
            <a:ext cx="2057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4. Lab orientation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92AE88-DE4A-40FA-98B4-AF5DC76852FD}"/>
              </a:ext>
            </a:extLst>
          </p:cNvPr>
          <p:cNvSpPr>
            <a:spLocks noGrp="1"/>
          </p:cNvSpPr>
          <p:nvPr/>
        </p:nvSpPr>
        <p:spPr>
          <a:xfrm>
            <a:off x="9163050" y="3848100"/>
            <a:ext cx="20574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How learners will explore the environment and record Day 1 evidence.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5E695F5-2F31-4F56-A459-20588185D86A}"/>
              </a:ext>
            </a:extLst>
          </p:cNvPr>
          <p:cNvSpPr>
            <a:spLocks noGrp="1"/>
          </p:cNvSpPr>
          <p:nvPr/>
        </p:nvSpPr>
        <p:spPr>
          <a:xfrm>
            <a:off x="9163050" y="4991100"/>
            <a:ext cx="819150" cy="304800"/>
          </a:xfrm>
          <a:prstGeom prst="roundRect">
            <a:avLst>
              <a:gd name="adj" fmla="val 25000"/>
            </a:avLst>
          </a:prstGeom>
          <a:solidFill>
            <a:srgbClr val="F2ECE3"/>
          </a:solidFill>
          <a:ln w="0">
            <a:solidFill>
              <a:srgbClr val="F2ECE3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8EDF15-6A8F-4E17-A8E7-361393894357}"/>
              </a:ext>
            </a:extLst>
          </p:cNvPr>
          <p:cNvSpPr>
            <a:spLocks noGrp="1"/>
          </p:cNvSpPr>
          <p:nvPr/>
        </p:nvSpPr>
        <p:spPr>
          <a:xfrm>
            <a:off x="9296400" y="5057775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1B2D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F1B2D"/>
                </a:solidFill>
                <a:latin typeface="Aptos Mono"/>
                <a:ea typeface="Aptos Mono"/>
                <a:cs typeface="Aptos Mono"/>
              </a:rPr>
              <a:t>28 MIN</a:t>
            </a:r>
          </a:p>
        </p:txBody>
      </p:sp>
    </p:spTree>
    <p:extLst>
      <p:ext uri="{BB962C8B-B14F-4D97-AF65-F5344CB8AC3E}">
        <p14:creationId xmlns:p14="http://schemas.microsoft.com/office/powerpoint/2010/main" val="1209620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D032748-E3F4-468C-A54B-FE29B94846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D42557-F8BB-46F2-A44C-CA0CB093E5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1105A57-8A7A-4C79-B94A-67C766C19F69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6B138C-4726-4B52-A7E1-EDBA589CDA99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FBF770-A692-4165-A8FE-F63682949F01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D9A15F-FAB6-4353-95DB-CC9746BFB2DD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QA LENS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E78FEB-577D-4870-BC2B-3CB1AE40371A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E6038-A295-4C1C-81C6-B030C8093250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Why Fabric knowledge matters for QA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413485-9018-4117-8D89-6D800A632973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Fabric testing is broader than validating a single database table.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23F5ED9-9EB7-4423-8D04-AC6AE3DA33F0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10591800" cy="895350"/>
          </a:xfrm>
          <a:prstGeom prst="roundRect">
            <a:avLst>
              <a:gd name="adj" fmla="val 8511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37839D-344D-462D-B646-A2DF90CD0D0C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76200" cy="8953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0888D-D91E-455D-ABB8-A274B0686B84}"/>
              </a:ext>
            </a:extLst>
          </p:cNvPr>
          <p:cNvSpPr>
            <a:spLocks noGrp="1"/>
          </p:cNvSpPr>
          <p:nvPr/>
        </p:nvSpPr>
        <p:spPr>
          <a:xfrm>
            <a:off x="1047750" y="32385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Multiple validation surfaces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AE03BF-F37A-4BE0-AFAC-9DFCB7E4AFA1}"/>
              </a:ext>
            </a:extLst>
          </p:cNvPr>
          <p:cNvSpPr>
            <a:spLocks noGrp="1"/>
          </p:cNvSpPr>
          <p:nvPr/>
        </p:nvSpPr>
        <p:spPr>
          <a:xfrm>
            <a:off x="4000500" y="3257550"/>
            <a:ext cx="7010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Defects can appear in storage, orchestration, permissions, semantic objects, or reporting outputs.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F1A8967-0F9E-4FE3-BFC8-F2DD9F9E9F1A}"/>
              </a:ext>
            </a:extLst>
          </p:cNvPr>
          <p:cNvSpPr>
            <a:spLocks noGrp="1"/>
          </p:cNvSpPr>
          <p:nvPr/>
        </p:nvSpPr>
        <p:spPr>
          <a:xfrm>
            <a:off x="800100" y="4152900"/>
            <a:ext cx="10591800" cy="895350"/>
          </a:xfrm>
          <a:prstGeom prst="roundRect">
            <a:avLst>
              <a:gd name="adj" fmla="val 8511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E40B75-BC28-4507-BA1E-150F942FCDED}"/>
              </a:ext>
            </a:extLst>
          </p:cNvPr>
          <p:cNvSpPr>
            <a:spLocks noGrp="1"/>
          </p:cNvSpPr>
          <p:nvPr/>
        </p:nvSpPr>
        <p:spPr>
          <a:xfrm>
            <a:off x="800100" y="4152900"/>
            <a:ext cx="76200" cy="8953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80E57D-4BFA-4E68-9F88-151126071EFA}"/>
              </a:ext>
            </a:extLst>
          </p:cNvPr>
          <p:cNvSpPr>
            <a:spLocks noGrp="1"/>
          </p:cNvSpPr>
          <p:nvPr/>
        </p:nvSpPr>
        <p:spPr>
          <a:xfrm>
            <a:off x="1047750" y="43434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Evidence is distributed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B2532C-7E9B-4511-9A7A-310C16D7167B}"/>
              </a:ext>
            </a:extLst>
          </p:cNvPr>
          <p:cNvSpPr>
            <a:spLocks noGrp="1"/>
          </p:cNvSpPr>
          <p:nvPr/>
        </p:nvSpPr>
        <p:spPr>
          <a:xfrm>
            <a:off x="4000500" y="4362450"/>
            <a:ext cx="7010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QA has to know where to inspect run history, table data, roles, relationships, and workspace settings.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CEFE7CA-677E-45DA-BDB7-3071D70D9C8F}"/>
              </a:ext>
            </a:extLst>
          </p:cNvPr>
          <p:cNvSpPr>
            <a:spLocks noGrp="1"/>
          </p:cNvSpPr>
          <p:nvPr/>
        </p:nvSpPr>
        <p:spPr>
          <a:xfrm>
            <a:off x="800100" y="5257800"/>
            <a:ext cx="10591800" cy="895350"/>
          </a:xfrm>
          <a:prstGeom prst="roundRect">
            <a:avLst>
              <a:gd name="adj" fmla="val 8511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2525BC-434D-428A-8CA9-C2BB414E493F}"/>
              </a:ext>
            </a:extLst>
          </p:cNvPr>
          <p:cNvSpPr>
            <a:spLocks noGrp="1"/>
          </p:cNvSpPr>
          <p:nvPr/>
        </p:nvSpPr>
        <p:spPr>
          <a:xfrm>
            <a:off x="800100" y="5257800"/>
            <a:ext cx="76200" cy="8953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84A097-498C-485C-AF3A-C7009B983317}"/>
              </a:ext>
            </a:extLst>
          </p:cNvPr>
          <p:cNvSpPr>
            <a:spLocks noGrp="1"/>
          </p:cNvSpPr>
          <p:nvPr/>
        </p:nvSpPr>
        <p:spPr>
          <a:xfrm>
            <a:off x="1047750" y="54483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Isolation is functional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45F331-78F3-43B3-9477-0EE3CDC502EC}"/>
              </a:ext>
            </a:extLst>
          </p:cNvPr>
          <p:cNvSpPr>
            <a:spLocks noGrp="1"/>
          </p:cNvSpPr>
          <p:nvPr/>
        </p:nvSpPr>
        <p:spPr>
          <a:xfrm>
            <a:off x="4000500" y="5467350"/>
            <a:ext cx="70104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Customer separation is not only an architecture diagram. It is a behavior that QA should verify.</a:t>
            </a:r>
          </a:p>
        </p:txBody>
      </p:sp>
    </p:spTree>
    <p:extLst>
      <p:ext uri="{BB962C8B-B14F-4D97-AF65-F5344CB8AC3E}">
        <p14:creationId xmlns:p14="http://schemas.microsoft.com/office/powerpoint/2010/main" val="643597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25789F62-84FC-424E-B8E2-D5A6B31AD1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DB59A9-28CF-4192-82F3-EFF79F8FF2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D5AA9F5-42DC-4A28-A5E7-14B9E66AD251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AA05DDB-A487-4831-A1A7-7623B9BD106A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36EE976-4BE8-43BD-B91D-589F910B437A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35223-6DAA-42E6-A1B9-958A75CEBF48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ARCHITECTURE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2FAA9D-044F-43BA-A4FE-9ACDDD7F2796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2F5A9A-ACB1-4E2C-981B-4FE7EC2F316B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End-to-end customer view in Fabric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374EEE-BCCD-4C1D-BBB4-DEF93726FC7F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lang="en-US" sz="1275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O</a:t>
            </a:r>
            <a:r>
              <a:rPr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ne shared business scenario across the week so each day adds a new QA layer.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F888E92-8CBB-4197-8A8F-DBE381629234}"/>
              </a:ext>
            </a:extLst>
          </p:cNvPr>
          <p:cNvSpPr>
            <a:spLocks noGrp="1"/>
          </p:cNvSpPr>
          <p:nvPr/>
        </p:nvSpPr>
        <p:spPr>
          <a:xfrm>
            <a:off x="666750" y="3257550"/>
            <a:ext cx="1790700" cy="1200150"/>
          </a:xfrm>
          <a:prstGeom prst="roundRect">
            <a:avLst>
              <a:gd name="adj" fmla="val 6349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F8DF2A-6BCE-4E66-8C2E-E65C3D39A1AF}"/>
              </a:ext>
            </a:extLst>
          </p:cNvPr>
          <p:cNvSpPr>
            <a:spLocks noGrp="1"/>
          </p:cNvSpPr>
          <p:nvPr/>
        </p:nvSpPr>
        <p:spPr>
          <a:xfrm>
            <a:off x="666750" y="3257550"/>
            <a:ext cx="76200" cy="12001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3936E9-7195-4363-AA3E-9F1E6B51B973}"/>
              </a:ext>
            </a:extLst>
          </p:cNvPr>
          <p:cNvSpPr>
            <a:spLocks noGrp="1"/>
          </p:cNvSpPr>
          <p:nvPr/>
        </p:nvSpPr>
        <p:spPr>
          <a:xfrm>
            <a:off x="838200" y="3467100"/>
            <a:ext cx="1447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Source systems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D88AD-2AEB-40AD-85D6-8062D42BBA6E}"/>
              </a:ext>
            </a:extLst>
          </p:cNvPr>
          <p:cNvSpPr>
            <a:spLocks noGrp="1"/>
          </p:cNvSpPr>
          <p:nvPr/>
        </p:nvSpPr>
        <p:spPr>
          <a:xfrm>
            <a:off x="800100" y="3981450"/>
            <a:ext cx="1524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ERP, CRM, files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5A77C27-D37C-499E-B6F5-0E54CAEB2A26}"/>
              </a:ext>
            </a:extLst>
          </p:cNvPr>
          <p:cNvSpPr>
            <a:spLocks noGrp="1"/>
          </p:cNvSpPr>
          <p:nvPr/>
        </p:nvSpPr>
        <p:spPr>
          <a:xfrm>
            <a:off x="2838450" y="3257550"/>
            <a:ext cx="1790700" cy="1200150"/>
          </a:xfrm>
          <a:prstGeom prst="roundRect">
            <a:avLst>
              <a:gd name="adj" fmla="val 6349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944547-A4A2-485D-80AB-47439078185D}"/>
              </a:ext>
            </a:extLst>
          </p:cNvPr>
          <p:cNvSpPr>
            <a:spLocks noGrp="1"/>
          </p:cNvSpPr>
          <p:nvPr/>
        </p:nvSpPr>
        <p:spPr>
          <a:xfrm>
            <a:off x="2838450" y="3257550"/>
            <a:ext cx="76200" cy="12001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D84CAA-9A10-4635-B6B5-EB4C12398FD1}"/>
              </a:ext>
            </a:extLst>
          </p:cNvPr>
          <p:cNvSpPr>
            <a:spLocks noGrp="1"/>
          </p:cNvSpPr>
          <p:nvPr/>
        </p:nvSpPr>
        <p:spPr>
          <a:xfrm>
            <a:off x="3009900" y="3467100"/>
            <a:ext cx="1447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OneLake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34F1A5-6C65-47B0-BF56-457F26CCA2F7}"/>
              </a:ext>
            </a:extLst>
          </p:cNvPr>
          <p:cNvSpPr>
            <a:spLocks noGrp="1"/>
          </p:cNvSpPr>
          <p:nvPr/>
        </p:nvSpPr>
        <p:spPr>
          <a:xfrm>
            <a:off x="2971800" y="3981450"/>
            <a:ext cx="1524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Shared storage foundation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6DAD3D8-209D-4DCE-91E8-CB9134FD1AF0}"/>
              </a:ext>
            </a:extLst>
          </p:cNvPr>
          <p:cNvSpPr>
            <a:spLocks noGrp="1"/>
          </p:cNvSpPr>
          <p:nvPr/>
        </p:nvSpPr>
        <p:spPr>
          <a:xfrm>
            <a:off x="5010150" y="3257550"/>
            <a:ext cx="1790700" cy="1200150"/>
          </a:xfrm>
          <a:prstGeom prst="roundRect">
            <a:avLst>
              <a:gd name="adj" fmla="val 6349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83CDE7-A54B-40B4-96EC-A6E80E6BF7B8}"/>
              </a:ext>
            </a:extLst>
          </p:cNvPr>
          <p:cNvSpPr>
            <a:spLocks noGrp="1"/>
          </p:cNvSpPr>
          <p:nvPr/>
        </p:nvSpPr>
        <p:spPr>
          <a:xfrm>
            <a:off x="5010150" y="3257550"/>
            <a:ext cx="76200" cy="12001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9B4214-64B8-4ABF-9214-EC0A2426D712}"/>
              </a:ext>
            </a:extLst>
          </p:cNvPr>
          <p:cNvSpPr>
            <a:spLocks noGrp="1"/>
          </p:cNvSpPr>
          <p:nvPr/>
        </p:nvSpPr>
        <p:spPr>
          <a:xfrm>
            <a:off x="5181600" y="3467100"/>
            <a:ext cx="1447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Lakehouse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0AC9A3-CF51-4311-9A4F-55093DEC26DB}"/>
              </a:ext>
            </a:extLst>
          </p:cNvPr>
          <p:cNvSpPr>
            <a:spLocks noGrp="1"/>
          </p:cNvSpPr>
          <p:nvPr/>
        </p:nvSpPr>
        <p:spPr>
          <a:xfrm>
            <a:off x="5143500" y="3981450"/>
            <a:ext cx="1524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Raw and curated tables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BCE9899-5C07-4CC1-A2B2-D21053BA48F1}"/>
              </a:ext>
            </a:extLst>
          </p:cNvPr>
          <p:cNvSpPr>
            <a:spLocks noGrp="1"/>
          </p:cNvSpPr>
          <p:nvPr/>
        </p:nvSpPr>
        <p:spPr>
          <a:xfrm>
            <a:off x="7181850" y="3257550"/>
            <a:ext cx="1790700" cy="1200150"/>
          </a:xfrm>
          <a:prstGeom prst="roundRect">
            <a:avLst>
              <a:gd name="adj" fmla="val 6349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4B81DD-0565-4E64-829B-2D96307911C6}"/>
              </a:ext>
            </a:extLst>
          </p:cNvPr>
          <p:cNvSpPr>
            <a:spLocks noGrp="1"/>
          </p:cNvSpPr>
          <p:nvPr/>
        </p:nvSpPr>
        <p:spPr>
          <a:xfrm>
            <a:off x="7181850" y="3257550"/>
            <a:ext cx="76200" cy="12001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44BB49-CFA2-405D-B8E4-9BED9EAB6168}"/>
              </a:ext>
            </a:extLst>
          </p:cNvPr>
          <p:cNvSpPr>
            <a:spLocks noGrp="1"/>
          </p:cNvSpPr>
          <p:nvPr/>
        </p:nvSpPr>
        <p:spPr>
          <a:xfrm>
            <a:off x="7353300" y="3467100"/>
            <a:ext cx="1447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Warehouse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A8D4D9-EC2A-4086-AD7F-4BBD55F2D091}"/>
              </a:ext>
            </a:extLst>
          </p:cNvPr>
          <p:cNvSpPr>
            <a:spLocks noGrp="1"/>
          </p:cNvSpPr>
          <p:nvPr/>
        </p:nvSpPr>
        <p:spPr>
          <a:xfrm>
            <a:off x="7315200" y="3981450"/>
            <a:ext cx="1524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Business-ready SQL layer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E584EA0-7DC6-4C82-8137-8A23DFBF0CE1}"/>
              </a:ext>
            </a:extLst>
          </p:cNvPr>
          <p:cNvSpPr>
            <a:spLocks noGrp="1"/>
          </p:cNvSpPr>
          <p:nvPr/>
        </p:nvSpPr>
        <p:spPr>
          <a:xfrm>
            <a:off x="9353550" y="3257550"/>
            <a:ext cx="1790700" cy="1200150"/>
          </a:xfrm>
          <a:prstGeom prst="roundRect">
            <a:avLst>
              <a:gd name="adj" fmla="val 6349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A09DBF-D10D-4A5A-9D91-574103FF7131}"/>
              </a:ext>
            </a:extLst>
          </p:cNvPr>
          <p:cNvSpPr>
            <a:spLocks noGrp="1"/>
          </p:cNvSpPr>
          <p:nvPr/>
        </p:nvSpPr>
        <p:spPr>
          <a:xfrm>
            <a:off x="9353550" y="3257550"/>
            <a:ext cx="76200" cy="120015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A3E52F-F4E9-4275-AEF4-24361C7BC05F}"/>
              </a:ext>
            </a:extLst>
          </p:cNvPr>
          <p:cNvSpPr>
            <a:spLocks noGrp="1"/>
          </p:cNvSpPr>
          <p:nvPr/>
        </p:nvSpPr>
        <p:spPr>
          <a:xfrm>
            <a:off x="9525000" y="3467100"/>
            <a:ext cx="1447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Semantic model</a:t>
            </a:r>
          </a:p>
          <a:p>
            <a:pPr algn="ctr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and reports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688585-6089-488B-BFE7-2466F8A97584}"/>
              </a:ext>
            </a:extLst>
          </p:cNvPr>
          <p:cNvSpPr>
            <a:spLocks noGrp="1"/>
          </p:cNvSpPr>
          <p:nvPr/>
        </p:nvSpPr>
        <p:spPr>
          <a:xfrm>
            <a:off x="9486900" y="3981450"/>
            <a:ext cx="1524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Consumption layer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7CC1F42C-C424-48D9-9B15-1CCAF6C63B0E}"/>
              </a:ext>
            </a:extLst>
          </p:cNvPr>
          <p:cNvSpPr>
            <a:spLocks noGrp="1"/>
          </p:cNvSpPr>
          <p:nvPr/>
        </p:nvSpPr>
        <p:spPr>
          <a:xfrm>
            <a:off x="2514600" y="3762375"/>
            <a:ext cx="457200" cy="2286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B214311F-3D5A-471F-B7AD-0CDA163495F1}"/>
              </a:ext>
            </a:extLst>
          </p:cNvPr>
          <p:cNvSpPr>
            <a:spLocks noGrp="1"/>
          </p:cNvSpPr>
          <p:nvPr/>
        </p:nvSpPr>
        <p:spPr>
          <a:xfrm>
            <a:off x="4686300" y="3762375"/>
            <a:ext cx="457200" cy="2286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324FAA3C-8197-4368-962D-A76F29FE18AF}"/>
              </a:ext>
            </a:extLst>
          </p:cNvPr>
          <p:cNvSpPr>
            <a:spLocks noGrp="1"/>
          </p:cNvSpPr>
          <p:nvPr/>
        </p:nvSpPr>
        <p:spPr>
          <a:xfrm>
            <a:off x="6858000" y="3762375"/>
            <a:ext cx="457200" cy="2286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F6220EF5-D883-4629-98E6-EF8A4BD28909}"/>
              </a:ext>
            </a:extLst>
          </p:cNvPr>
          <p:cNvSpPr>
            <a:spLocks noGrp="1"/>
          </p:cNvSpPr>
          <p:nvPr/>
        </p:nvSpPr>
        <p:spPr>
          <a:xfrm>
            <a:off x="9029700" y="3762375"/>
            <a:ext cx="457200" cy="2286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361B13A-B4D8-45F6-9F92-1FD52880AD94}"/>
              </a:ext>
            </a:extLst>
          </p:cNvPr>
          <p:cNvSpPr>
            <a:spLocks noGrp="1"/>
          </p:cNvSpPr>
          <p:nvPr/>
        </p:nvSpPr>
        <p:spPr>
          <a:xfrm>
            <a:off x="647700" y="4743450"/>
            <a:ext cx="1828800" cy="523874"/>
          </a:xfrm>
          <a:prstGeom prst="roundRect">
            <a:avLst>
              <a:gd name="adj" fmla="val 25000"/>
            </a:avLst>
          </a:prstGeom>
          <a:solidFill>
            <a:srgbClr val="F2ECE3"/>
          </a:solidFill>
          <a:ln w="0">
            <a:solidFill>
              <a:srgbClr val="F2ECE3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D42540-005A-4B70-877A-84F8444287E3}"/>
              </a:ext>
            </a:extLst>
          </p:cNvPr>
          <p:cNvSpPr>
            <a:spLocks noGrp="1"/>
          </p:cNvSpPr>
          <p:nvPr/>
        </p:nvSpPr>
        <p:spPr>
          <a:xfrm>
            <a:off x="781050" y="4810125"/>
            <a:ext cx="1562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rPr>
              <a:t>Is source coverage complete?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4AA39E9-55DE-46DD-A53C-86C85A39B46D}"/>
              </a:ext>
            </a:extLst>
          </p:cNvPr>
          <p:cNvSpPr>
            <a:spLocks noGrp="1"/>
          </p:cNvSpPr>
          <p:nvPr/>
        </p:nvSpPr>
        <p:spPr>
          <a:xfrm>
            <a:off x="2819400" y="4743450"/>
            <a:ext cx="1828800" cy="523874"/>
          </a:xfrm>
          <a:prstGeom prst="roundRect">
            <a:avLst>
              <a:gd name="adj" fmla="val 25000"/>
            </a:avLst>
          </a:prstGeom>
          <a:solidFill>
            <a:srgbClr val="F2ECE3"/>
          </a:solidFill>
          <a:ln w="0">
            <a:solidFill>
              <a:srgbClr val="F2ECE3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7BDE7C-6D83-43FC-8923-8BC5AFA56451}"/>
              </a:ext>
            </a:extLst>
          </p:cNvPr>
          <p:cNvSpPr>
            <a:spLocks noGrp="1"/>
          </p:cNvSpPr>
          <p:nvPr/>
        </p:nvSpPr>
        <p:spPr>
          <a:xfrm>
            <a:off x="2952750" y="4810125"/>
            <a:ext cx="1562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defRPr>
            </a:pPr>
            <a:r>
              <a:rPr sz="900" b="1" dirty="0">
                <a:solidFill>
                  <a:srgbClr val="122033"/>
                </a:solidFill>
                <a:latin typeface="Aptos Mono"/>
                <a:ea typeface="Aptos Mono"/>
                <a:cs typeface="Aptos Mono"/>
              </a:rPr>
              <a:t>Is customer data separated correctly?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6E9A98B-E015-4EA4-A7FE-A233119291DB}"/>
              </a:ext>
            </a:extLst>
          </p:cNvPr>
          <p:cNvSpPr>
            <a:spLocks noGrp="1"/>
          </p:cNvSpPr>
          <p:nvPr/>
        </p:nvSpPr>
        <p:spPr>
          <a:xfrm>
            <a:off x="4991100" y="4743450"/>
            <a:ext cx="1828800" cy="523874"/>
          </a:xfrm>
          <a:prstGeom prst="roundRect">
            <a:avLst>
              <a:gd name="adj" fmla="val 25000"/>
            </a:avLst>
          </a:prstGeom>
          <a:solidFill>
            <a:srgbClr val="F2ECE3"/>
          </a:solidFill>
          <a:ln w="0">
            <a:solidFill>
              <a:srgbClr val="F2ECE3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0A170C-A364-4ED7-9F49-96C1745B88FD}"/>
              </a:ext>
            </a:extLst>
          </p:cNvPr>
          <p:cNvSpPr>
            <a:spLocks noGrp="1"/>
          </p:cNvSpPr>
          <p:nvPr/>
        </p:nvSpPr>
        <p:spPr>
          <a:xfrm>
            <a:off x="5124450" y="4810124"/>
            <a:ext cx="15621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defRPr>
            </a:pPr>
            <a:r>
              <a:rPr sz="900" b="1" dirty="0">
                <a:solidFill>
                  <a:srgbClr val="122033"/>
                </a:solidFill>
                <a:latin typeface="Aptos Mono"/>
                <a:ea typeface="Aptos Mono"/>
                <a:cs typeface="Aptos Mono"/>
              </a:rPr>
              <a:t>Do Lakehouse tables reflect expected raw and curated states?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BA5C636-45BB-4468-BEE1-B0E06B7AF21A}"/>
              </a:ext>
            </a:extLst>
          </p:cNvPr>
          <p:cNvSpPr>
            <a:spLocks noGrp="1"/>
          </p:cNvSpPr>
          <p:nvPr/>
        </p:nvSpPr>
        <p:spPr>
          <a:xfrm>
            <a:off x="7162800" y="4743450"/>
            <a:ext cx="1828800" cy="523874"/>
          </a:xfrm>
          <a:prstGeom prst="roundRect">
            <a:avLst>
              <a:gd name="adj" fmla="val 25000"/>
            </a:avLst>
          </a:prstGeom>
          <a:solidFill>
            <a:srgbClr val="F2ECE3"/>
          </a:solidFill>
          <a:ln w="0">
            <a:solidFill>
              <a:srgbClr val="F2ECE3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D68138-FEE4-477B-8AD8-48899A6DFF16}"/>
              </a:ext>
            </a:extLst>
          </p:cNvPr>
          <p:cNvSpPr>
            <a:spLocks noGrp="1"/>
          </p:cNvSpPr>
          <p:nvPr/>
        </p:nvSpPr>
        <p:spPr>
          <a:xfrm>
            <a:off x="7296150" y="4810125"/>
            <a:ext cx="1562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defRPr>
            </a:pPr>
            <a:r>
              <a:rPr sz="900" b="1" dirty="0">
                <a:solidFill>
                  <a:srgbClr val="122033"/>
                </a:solidFill>
                <a:latin typeface="Aptos Mono"/>
                <a:ea typeface="Aptos Mono"/>
                <a:cs typeface="Aptos Mono"/>
              </a:rPr>
              <a:t>Do SQL outputs reflect business logic?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46E6D5E3-3526-44ED-8AD1-4BAAA9C92777}"/>
              </a:ext>
            </a:extLst>
          </p:cNvPr>
          <p:cNvSpPr>
            <a:spLocks noGrp="1"/>
          </p:cNvSpPr>
          <p:nvPr/>
        </p:nvSpPr>
        <p:spPr>
          <a:xfrm>
            <a:off x="9334500" y="4743450"/>
            <a:ext cx="1828800" cy="523874"/>
          </a:xfrm>
          <a:prstGeom prst="roundRect">
            <a:avLst>
              <a:gd name="adj" fmla="val 25000"/>
            </a:avLst>
          </a:prstGeom>
          <a:solidFill>
            <a:srgbClr val="F2ECE3"/>
          </a:solidFill>
          <a:ln w="0">
            <a:solidFill>
              <a:srgbClr val="F2ECE3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1151C4-A6A9-48B5-A87C-D0BC4EB84978}"/>
              </a:ext>
            </a:extLst>
          </p:cNvPr>
          <p:cNvSpPr>
            <a:spLocks noGrp="1"/>
          </p:cNvSpPr>
          <p:nvPr/>
        </p:nvSpPr>
        <p:spPr>
          <a:xfrm>
            <a:off x="9467850" y="4810125"/>
            <a:ext cx="1562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defRPr>
            </a:pPr>
            <a:r>
              <a:rPr sz="900" b="1" dirty="0">
                <a:solidFill>
                  <a:srgbClr val="122033"/>
                </a:solidFill>
                <a:latin typeface="Aptos Mono"/>
                <a:ea typeface="Aptos Mono"/>
                <a:cs typeface="Aptos Mono"/>
              </a:rPr>
              <a:t>Is the final data exposed correctly to users?</a:t>
            </a:r>
          </a:p>
        </p:txBody>
      </p:sp>
    </p:spTree>
    <p:extLst>
      <p:ext uri="{BB962C8B-B14F-4D97-AF65-F5344CB8AC3E}">
        <p14:creationId xmlns:p14="http://schemas.microsoft.com/office/powerpoint/2010/main" val="1593140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9BBA7EB-5F25-4EA9-B412-4F821BD98B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3A63AA-0205-46E3-874F-1E989816B9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EF8704C-C220-48A3-AB8B-207CDDB18BD0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5122C03-5AE8-43C4-811C-43F4E0A9DCFD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68DAF8-6316-4337-B202-26A10C77D953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E94219-78C4-49EB-B6FE-574383FA3A74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PLATFORM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FFCC94-92E5-48A0-B1AB-B21272B92830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71B77-F9DB-4892-A4FF-AE186287840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Fabric platform map for QA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2C03D8-0F4C-4C34-A707-5CF921305B3D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Think of Fabric workloads as connected validation surfaces built on OneLake.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60A2182-84FB-4382-BE34-6096F5CB5337}"/>
              </a:ext>
            </a:extLst>
          </p:cNvPr>
          <p:cNvSpPr>
            <a:spLocks noGrp="1"/>
          </p:cNvSpPr>
          <p:nvPr/>
        </p:nvSpPr>
        <p:spPr>
          <a:xfrm>
            <a:off x="4495800" y="3048000"/>
            <a:ext cx="3200400" cy="1752600"/>
          </a:xfrm>
          <a:prstGeom prst="roundRect">
            <a:avLst>
              <a:gd name="adj" fmla="val 4348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7F982E-296E-49AA-9502-8190CB568817}"/>
              </a:ext>
            </a:extLst>
          </p:cNvPr>
          <p:cNvSpPr>
            <a:spLocks noGrp="1"/>
          </p:cNvSpPr>
          <p:nvPr/>
        </p:nvSpPr>
        <p:spPr>
          <a:xfrm>
            <a:off x="4495800" y="3048000"/>
            <a:ext cx="76200" cy="17526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17A125-C88F-47D1-8303-B534757FA71C}"/>
              </a:ext>
            </a:extLst>
          </p:cNvPr>
          <p:cNvSpPr>
            <a:spLocks noGrp="1"/>
          </p:cNvSpPr>
          <p:nvPr/>
        </p:nvSpPr>
        <p:spPr>
          <a:xfrm>
            <a:off x="5181600" y="3429000"/>
            <a:ext cx="1790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5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5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OneLake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86C5AC-D505-4BBE-9595-BCBB83BC577B}"/>
              </a:ext>
            </a:extLst>
          </p:cNvPr>
          <p:cNvSpPr>
            <a:spLocks noGrp="1"/>
          </p:cNvSpPr>
          <p:nvPr/>
        </p:nvSpPr>
        <p:spPr>
          <a:xfrm>
            <a:off x="5029200" y="3924300"/>
            <a:ext cx="2095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Shared storage foundation</a:t>
            </a:r>
          </a:p>
          <a:p>
            <a:pPr algn="ctr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for Fabric items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E7AA812-9A47-4D01-BE05-3D16A1FC8319}"/>
              </a:ext>
            </a:extLst>
          </p:cNvPr>
          <p:cNvSpPr>
            <a:spLocks noGrp="1"/>
          </p:cNvSpPr>
          <p:nvPr/>
        </p:nvSpPr>
        <p:spPr>
          <a:xfrm>
            <a:off x="1066800" y="3028950"/>
            <a:ext cx="2571750" cy="1066800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C3AFE4-00F1-468F-9550-54A47F351D27}"/>
              </a:ext>
            </a:extLst>
          </p:cNvPr>
          <p:cNvSpPr>
            <a:spLocks noGrp="1"/>
          </p:cNvSpPr>
          <p:nvPr/>
        </p:nvSpPr>
        <p:spPr>
          <a:xfrm>
            <a:off x="1066800" y="3028950"/>
            <a:ext cx="76200" cy="10668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90C93D-23D4-4811-BD05-9DEA03384F68}"/>
              </a:ext>
            </a:extLst>
          </p:cNvPr>
          <p:cNvSpPr>
            <a:spLocks noGrp="1"/>
          </p:cNvSpPr>
          <p:nvPr/>
        </p:nvSpPr>
        <p:spPr>
          <a:xfrm>
            <a:off x="1238250" y="32194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Data Factory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6D074E-EBDC-4BF7-AC97-B8CBAD549DDF}"/>
              </a:ext>
            </a:extLst>
          </p:cNvPr>
          <p:cNvSpPr>
            <a:spLocks noGrp="1"/>
          </p:cNvSpPr>
          <p:nvPr/>
        </p:nvSpPr>
        <p:spPr>
          <a:xfrm>
            <a:off x="1238250" y="3581400"/>
            <a:ext cx="2228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Pipelines and movement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845F6E0-F158-4571-9C6C-F21046A0D824}"/>
              </a:ext>
            </a:extLst>
          </p:cNvPr>
          <p:cNvSpPr>
            <a:spLocks noGrp="1"/>
          </p:cNvSpPr>
          <p:nvPr/>
        </p:nvSpPr>
        <p:spPr>
          <a:xfrm>
            <a:off x="1066800" y="4362450"/>
            <a:ext cx="2571750" cy="1066800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E188C5-D0C0-47AC-9AA7-1A8C0F1B7B5D}"/>
              </a:ext>
            </a:extLst>
          </p:cNvPr>
          <p:cNvSpPr>
            <a:spLocks noGrp="1"/>
          </p:cNvSpPr>
          <p:nvPr/>
        </p:nvSpPr>
        <p:spPr>
          <a:xfrm>
            <a:off x="1066800" y="4362450"/>
            <a:ext cx="76200" cy="10668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1373AF-B59C-4DF4-8DAB-C4B8385BE3D6}"/>
              </a:ext>
            </a:extLst>
          </p:cNvPr>
          <p:cNvSpPr>
            <a:spLocks noGrp="1"/>
          </p:cNvSpPr>
          <p:nvPr/>
        </p:nvSpPr>
        <p:spPr>
          <a:xfrm>
            <a:off x="1238250" y="45529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Data Engineering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6BDE09-6691-4B64-A20E-E5CB5BD620F7}"/>
              </a:ext>
            </a:extLst>
          </p:cNvPr>
          <p:cNvSpPr>
            <a:spLocks noGrp="1"/>
          </p:cNvSpPr>
          <p:nvPr/>
        </p:nvSpPr>
        <p:spPr>
          <a:xfrm>
            <a:off x="1238250" y="4914900"/>
            <a:ext cx="2228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Lakehouse and Spark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8EB3365-C9DF-4681-89ED-DE651BB209AF}"/>
              </a:ext>
            </a:extLst>
          </p:cNvPr>
          <p:cNvSpPr>
            <a:spLocks noGrp="1"/>
          </p:cNvSpPr>
          <p:nvPr/>
        </p:nvSpPr>
        <p:spPr>
          <a:xfrm>
            <a:off x="8286750" y="3028950"/>
            <a:ext cx="2571750" cy="1066800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5BAAEE-FFAA-45EB-9C38-717BF9930652}"/>
              </a:ext>
            </a:extLst>
          </p:cNvPr>
          <p:cNvSpPr>
            <a:spLocks noGrp="1"/>
          </p:cNvSpPr>
          <p:nvPr/>
        </p:nvSpPr>
        <p:spPr>
          <a:xfrm>
            <a:off x="8286750" y="3028950"/>
            <a:ext cx="76200" cy="10668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BA0ED4-358B-4450-B02A-12AF44EA8A2D}"/>
              </a:ext>
            </a:extLst>
          </p:cNvPr>
          <p:cNvSpPr>
            <a:spLocks noGrp="1"/>
          </p:cNvSpPr>
          <p:nvPr/>
        </p:nvSpPr>
        <p:spPr>
          <a:xfrm>
            <a:off x="8458200" y="32194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Data Warehouse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557BD9-32D3-4E65-B5FF-29D287EC65F8}"/>
              </a:ext>
            </a:extLst>
          </p:cNvPr>
          <p:cNvSpPr>
            <a:spLocks noGrp="1"/>
          </p:cNvSpPr>
          <p:nvPr/>
        </p:nvSpPr>
        <p:spPr>
          <a:xfrm>
            <a:off x="8458200" y="3581400"/>
            <a:ext cx="2228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T-SQL analytics layer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91927C9-A168-42B5-866D-D4B191DBE285}"/>
              </a:ext>
            </a:extLst>
          </p:cNvPr>
          <p:cNvSpPr>
            <a:spLocks noGrp="1"/>
          </p:cNvSpPr>
          <p:nvPr/>
        </p:nvSpPr>
        <p:spPr>
          <a:xfrm>
            <a:off x="8286750" y="4362450"/>
            <a:ext cx="2571750" cy="1066800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D938FE-B9E0-4EC8-9363-CC3F86A6D094}"/>
              </a:ext>
            </a:extLst>
          </p:cNvPr>
          <p:cNvSpPr>
            <a:spLocks noGrp="1"/>
          </p:cNvSpPr>
          <p:nvPr/>
        </p:nvSpPr>
        <p:spPr>
          <a:xfrm>
            <a:off x="8286750" y="4362450"/>
            <a:ext cx="76200" cy="10668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642F173-FEC3-4172-BD57-437710D5096C}"/>
              </a:ext>
            </a:extLst>
          </p:cNvPr>
          <p:cNvSpPr>
            <a:spLocks noGrp="1"/>
          </p:cNvSpPr>
          <p:nvPr/>
        </p:nvSpPr>
        <p:spPr>
          <a:xfrm>
            <a:off x="8458200" y="4552950"/>
            <a:ext cx="2228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Power BI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210D5F-7107-47C2-BBEA-263DC8EA6607}"/>
              </a:ext>
            </a:extLst>
          </p:cNvPr>
          <p:cNvSpPr>
            <a:spLocks noGrp="1"/>
          </p:cNvSpPr>
          <p:nvPr/>
        </p:nvSpPr>
        <p:spPr>
          <a:xfrm>
            <a:off x="8458200" y="4914900"/>
            <a:ext cx="2228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Semantic and report layer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65EA23-3E5B-4F65-9D98-A10C431D3351}"/>
              </a:ext>
            </a:extLst>
          </p:cNvPr>
          <p:cNvSpPr>
            <a:spLocks noGrp="1"/>
          </p:cNvSpPr>
          <p:nvPr/>
        </p:nvSpPr>
        <p:spPr>
          <a:xfrm>
            <a:off x="3657600" y="3581400"/>
            <a:ext cx="83820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08823A-1659-4B5E-B2AB-FE0B9CDAA196}"/>
              </a:ext>
            </a:extLst>
          </p:cNvPr>
          <p:cNvSpPr>
            <a:spLocks noGrp="1"/>
          </p:cNvSpPr>
          <p:nvPr/>
        </p:nvSpPr>
        <p:spPr>
          <a:xfrm>
            <a:off x="3657600" y="4914900"/>
            <a:ext cx="83820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72DCBD-4D88-4D47-9E75-2740BDEB2F2F}"/>
              </a:ext>
            </a:extLst>
          </p:cNvPr>
          <p:cNvSpPr>
            <a:spLocks noGrp="1"/>
          </p:cNvSpPr>
          <p:nvPr/>
        </p:nvSpPr>
        <p:spPr>
          <a:xfrm>
            <a:off x="7696200" y="3581400"/>
            <a:ext cx="590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680B6C-17F7-4871-B539-29E1BEC65B38}"/>
              </a:ext>
            </a:extLst>
          </p:cNvPr>
          <p:cNvSpPr>
            <a:spLocks noGrp="1"/>
          </p:cNvSpPr>
          <p:nvPr/>
        </p:nvSpPr>
        <p:spPr>
          <a:xfrm>
            <a:off x="7696200" y="4914900"/>
            <a:ext cx="590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243176B-768D-4F7F-BFB5-9A3B27CEF7C5}"/>
              </a:ext>
            </a:extLst>
          </p:cNvPr>
          <p:cNvSpPr>
            <a:spLocks noGrp="1"/>
          </p:cNvSpPr>
          <p:nvPr/>
        </p:nvSpPr>
        <p:spPr>
          <a:xfrm>
            <a:off x="2628900" y="5600700"/>
            <a:ext cx="6896100" cy="304800"/>
          </a:xfrm>
          <a:prstGeom prst="roundRect">
            <a:avLst>
              <a:gd name="adj" fmla="val 25000"/>
            </a:avLst>
          </a:prstGeom>
          <a:solidFill>
            <a:srgbClr val="F2ECE3"/>
          </a:solidFill>
          <a:ln w="0">
            <a:solidFill>
              <a:srgbClr val="F2ECE3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DF6CBC-0C5B-4B29-BFF0-D4FF0CFDC3A3}"/>
              </a:ext>
            </a:extLst>
          </p:cNvPr>
          <p:cNvSpPr>
            <a:spLocks noGrp="1"/>
          </p:cNvSpPr>
          <p:nvPr/>
        </p:nvSpPr>
        <p:spPr>
          <a:xfrm>
            <a:off x="2762250" y="5667375"/>
            <a:ext cx="6629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rPr>
              <a:t>QA takeaway: the platform is unified, but your test evidence is distributed across items.</a:t>
            </a:r>
          </a:p>
        </p:txBody>
      </p:sp>
    </p:spTree>
    <p:extLst>
      <p:ext uri="{BB962C8B-B14F-4D97-AF65-F5344CB8AC3E}">
        <p14:creationId xmlns:p14="http://schemas.microsoft.com/office/powerpoint/2010/main" val="1847185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B4374376-543D-4C21-BBC0-21FB9F5135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322967-7E00-4761-A636-B16686BFCE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F41366-E713-460E-8BA9-B21CC8386F7E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ACF6715-101D-4C7C-9EE0-A72BBADFFC31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84D93ED-4B14-49C7-AB04-B488C7FC3F6D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AA1616-623A-4B84-B21C-97D9C62273F0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COMPONENTS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6EC0F2-9FD3-48BC-AF01-80F5BE34AC1F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FEE738-1951-45BE-AB7E-5505B695F7BA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The components QA will encounter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3FC42E-CF8A-4269-AA7E-FA59DD0E86D1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Each Fabric item raises a different QA question.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BE2E6F0-CD7C-4DBF-8B91-F28B5992F4F0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3333750" cy="1200150"/>
          </a:xfrm>
          <a:prstGeom prst="roundRect">
            <a:avLst>
              <a:gd name="adj" fmla="val 6349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C0D3D1-93B5-458C-8513-43237A28A67C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76200" cy="12001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C5A60E-6E2C-4452-AB59-BED4339A50BF}"/>
              </a:ext>
            </a:extLst>
          </p:cNvPr>
          <p:cNvSpPr>
            <a:spLocks noGrp="1"/>
          </p:cNvSpPr>
          <p:nvPr/>
        </p:nvSpPr>
        <p:spPr>
          <a:xfrm>
            <a:off x="800100" y="320040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OneLake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AD3990-3603-47B3-89F3-EF1960FF3B70}"/>
              </a:ext>
            </a:extLst>
          </p:cNvPr>
          <p:cNvSpPr>
            <a:spLocks noGrp="1"/>
          </p:cNvSpPr>
          <p:nvPr/>
        </p:nvSpPr>
        <p:spPr>
          <a:xfrm>
            <a:off x="800100" y="3562350"/>
            <a:ext cx="2933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Where is data stored and shared?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2676D20-88CC-4B83-95D9-E0F9BFD665C8}"/>
              </a:ext>
            </a:extLst>
          </p:cNvPr>
          <p:cNvSpPr>
            <a:spLocks noGrp="1"/>
          </p:cNvSpPr>
          <p:nvPr/>
        </p:nvSpPr>
        <p:spPr>
          <a:xfrm>
            <a:off x="4286250" y="3028950"/>
            <a:ext cx="3333750" cy="1200150"/>
          </a:xfrm>
          <a:prstGeom prst="roundRect">
            <a:avLst>
              <a:gd name="adj" fmla="val 6349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32474C-5E09-4257-8CCF-6419C1AEE16E}"/>
              </a:ext>
            </a:extLst>
          </p:cNvPr>
          <p:cNvSpPr>
            <a:spLocks noGrp="1"/>
          </p:cNvSpPr>
          <p:nvPr/>
        </p:nvSpPr>
        <p:spPr>
          <a:xfrm>
            <a:off x="4286250" y="3028950"/>
            <a:ext cx="76200" cy="12001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47662F-8010-4539-9EF1-F91EA3FBCB70}"/>
              </a:ext>
            </a:extLst>
          </p:cNvPr>
          <p:cNvSpPr>
            <a:spLocks noGrp="1"/>
          </p:cNvSpPr>
          <p:nvPr/>
        </p:nvSpPr>
        <p:spPr>
          <a:xfrm>
            <a:off x="4476750" y="320040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Lakehouse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D0E6A4-8B4B-4FA6-97C5-5590014FC79D}"/>
              </a:ext>
            </a:extLst>
          </p:cNvPr>
          <p:cNvSpPr>
            <a:spLocks noGrp="1"/>
          </p:cNvSpPr>
          <p:nvPr/>
        </p:nvSpPr>
        <p:spPr>
          <a:xfrm>
            <a:off x="4476750" y="3562350"/>
            <a:ext cx="2933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Are files and tables correct?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64CE681-38AF-465A-9727-75203E7D8EB1}"/>
              </a:ext>
            </a:extLst>
          </p:cNvPr>
          <p:cNvSpPr>
            <a:spLocks noGrp="1"/>
          </p:cNvSpPr>
          <p:nvPr/>
        </p:nvSpPr>
        <p:spPr>
          <a:xfrm>
            <a:off x="7962900" y="3028950"/>
            <a:ext cx="3333750" cy="1200150"/>
          </a:xfrm>
          <a:prstGeom prst="roundRect">
            <a:avLst>
              <a:gd name="adj" fmla="val 6349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CCA0DE-9F74-455D-B68C-8C27DB753F74}"/>
              </a:ext>
            </a:extLst>
          </p:cNvPr>
          <p:cNvSpPr>
            <a:spLocks noGrp="1"/>
          </p:cNvSpPr>
          <p:nvPr/>
        </p:nvSpPr>
        <p:spPr>
          <a:xfrm>
            <a:off x="7962900" y="3028950"/>
            <a:ext cx="76200" cy="12001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6D3E09-8E78-432B-BEF6-7ADFFB535936}"/>
              </a:ext>
            </a:extLst>
          </p:cNvPr>
          <p:cNvSpPr>
            <a:spLocks noGrp="1"/>
          </p:cNvSpPr>
          <p:nvPr/>
        </p:nvSpPr>
        <p:spPr>
          <a:xfrm>
            <a:off x="8153400" y="320040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Warehouse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7F8A00-06B6-452A-B1AF-3E7C80AD9672}"/>
              </a:ext>
            </a:extLst>
          </p:cNvPr>
          <p:cNvSpPr>
            <a:spLocks noGrp="1"/>
          </p:cNvSpPr>
          <p:nvPr/>
        </p:nvSpPr>
        <p:spPr>
          <a:xfrm>
            <a:off x="8153400" y="3562350"/>
            <a:ext cx="2933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SQL outputs match business expectations?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BF50A93-7A71-4284-B1C4-543F62D4946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3333750" cy="1200150"/>
          </a:xfrm>
          <a:prstGeom prst="roundRect">
            <a:avLst>
              <a:gd name="adj" fmla="val 6349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B58B3C-7DE0-4306-A208-5AD7BDAE63A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76200" cy="12001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E03907-2527-4EDB-9EAC-58282D42CEB1}"/>
              </a:ext>
            </a:extLst>
          </p:cNvPr>
          <p:cNvSpPr>
            <a:spLocks noGrp="1"/>
          </p:cNvSpPr>
          <p:nvPr/>
        </p:nvSpPr>
        <p:spPr>
          <a:xfrm>
            <a:off x="800100" y="466725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Pipelines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86034F-441E-45C6-A0E4-C0872BD37CCC}"/>
              </a:ext>
            </a:extLst>
          </p:cNvPr>
          <p:cNvSpPr>
            <a:spLocks noGrp="1"/>
          </p:cNvSpPr>
          <p:nvPr/>
        </p:nvSpPr>
        <p:spPr>
          <a:xfrm>
            <a:off x="800100" y="5029200"/>
            <a:ext cx="2933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Did the orchestration run correctly?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971D2C1-36DA-4A40-8595-881B2BE67041}"/>
              </a:ext>
            </a:extLst>
          </p:cNvPr>
          <p:cNvSpPr>
            <a:spLocks noGrp="1"/>
          </p:cNvSpPr>
          <p:nvPr/>
        </p:nvSpPr>
        <p:spPr>
          <a:xfrm>
            <a:off x="4286250" y="4495800"/>
            <a:ext cx="3333750" cy="1200150"/>
          </a:xfrm>
          <a:prstGeom prst="roundRect">
            <a:avLst>
              <a:gd name="adj" fmla="val 6349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1F86DA-A4B8-4EC6-8AEE-EEAE3949B3F4}"/>
              </a:ext>
            </a:extLst>
          </p:cNvPr>
          <p:cNvSpPr>
            <a:spLocks noGrp="1"/>
          </p:cNvSpPr>
          <p:nvPr/>
        </p:nvSpPr>
        <p:spPr>
          <a:xfrm>
            <a:off x="4286250" y="4495800"/>
            <a:ext cx="76200" cy="12001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625DFF-BAAE-4C4E-8E96-FB8F2C90AE7C}"/>
              </a:ext>
            </a:extLst>
          </p:cNvPr>
          <p:cNvSpPr>
            <a:spLocks noGrp="1"/>
          </p:cNvSpPr>
          <p:nvPr/>
        </p:nvSpPr>
        <p:spPr>
          <a:xfrm>
            <a:off x="4476750" y="466725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Semantic model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1342B7-93EA-4277-9ABE-A008FD0EF37B}"/>
              </a:ext>
            </a:extLst>
          </p:cNvPr>
          <p:cNvSpPr>
            <a:spLocks noGrp="1"/>
          </p:cNvSpPr>
          <p:nvPr/>
        </p:nvSpPr>
        <p:spPr>
          <a:xfrm>
            <a:off x="4476750" y="5029200"/>
            <a:ext cx="2933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Is business-facing data shaped correctly?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45FD8E1-4EDE-4BB6-88CA-F158826F6C44}"/>
              </a:ext>
            </a:extLst>
          </p:cNvPr>
          <p:cNvSpPr>
            <a:spLocks noGrp="1"/>
          </p:cNvSpPr>
          <p:nvPr/>
        </p:nvSpPr>
        <p:spPr>
          <a:xfrm>
            <a:off x="7962900" y="4495800"/>
            <a:ext cx="3333750" cy="1200150"/>
          </a:xfrm>
          <a:prstGeom prst="roundRect">
            <a:avLst>
              <a:gd name="adj" fmla="val 6349"/>
            </a:avLst>
          </a:prstGeom>
          <a:solidFill>
            <a:srgbClr val="F6E2DE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4E26C6-85B0-4C8C-96EA-59DD4153CB5B}"/>
              </a:ext>
            </a:extLst>
          </p:cNvPr>
          <p:cNvSpPr>
            <a:spLocks noGrp="1"/>
          </p:cNvSpPr>
          <p:nvPr/>
        </p:nvSpPr>
        <p:spPr>
          <a:xfrm>
            <a:off x="7962900" y="4495800"/>
            <a:ext cx="76200" cy="12001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71EF3C-DB3B-453B-9053-4F25CCE4AD90}"/>
              </a:ext>
            </a:extLst>
          </p:cNvPr>
          <p:cNvSpPr>
            <a:spLocks noGrp="1"/>
          </p:cNvSpPr>
          <p:nvPr/>
        </p:nvSpPr>
        <p:spPr>
          <a:xfrm>
            <a:off x="8153400" y="4667250"/>
            <a:ext cx="293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Permissions and logs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EBB5140-1F17-4CBF-B8D2-6591B7CEA0AC}"/>
              </a:ext>
            </a:extLst>
          </p:cNvPr>
          <p:cNvSpPr>
            <a:spLocks noGrp="1"/>
          </p:cNvSpPr>
          <p:nvPr/>
        </p:nvSpPr>
        <p:spPr>
          <a:xfrm>
            <a:off x="8153400" y="5029200"/>
            <a:ext cx="2933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Who can see what, and what evidence is recorded?</a:t>
            </a:r>
          </a:p>
        </p:txBody>
      </p:sp>
    </p:spTree>
    <p:extLst>
      <p:ext uri="{BB962C8B-B14F-4D97-AF65-F5344CB8AC3E}">
        <p14:creationId xmlns:p14="http://schemas.microsoft.com/office/powerpoint/2010/main" val="11215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0EFA53A-B8FC-4FC5-A0E9-F76C62EEA1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D53366-1D48-47D8-8E6F-FA48B06CD5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2629245-DE56-41C6-858F-5F3B5C5BC68A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1B9F3B-AC2A-42BC-BD0C-EB3782D45853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6A0F280-3EF2-4EF0-8804-60717BC5EBBE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539D0-2A82-4627-8AA2-DB576A81F536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ISOLATION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DBFADA-FB06-47F6-8E96-C2612CC6BF60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9E3DB2-7423-41A1-AE1E-F0E9324DDB4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How customer isolation works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C2FC1C-43BF-4F45-B5AD-4D24B62CEC4A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 common training assumption is one customer-aligned workspace containing the related Fabric items.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825CC32-CBFB-4502-95D0-17B742749DB9}"/>
              </a:ext>
            </a:extLst>
          </p:cNvPr>
          <p:cNvSpPr>
            <a:spLocks noGrp="1"/>
          </p:cNvSpPr>
          <p:nvPr/>
        </p:nvSpPr>
        <p:spPr>
          <a:xfrm>
            <a:off x="819150" y="2990850"/>
            <a:ext cx="6019800" cy="2628900"/>
          </a:xfrm>
          <a:prstGeom prst="roundRect">
            <a:avLst>
              <a:gd name="adj" fmla="val 2899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4EA760-EAD9-4A69-9419-10DD33C9E1B1}"/>
              </a:ext>
            </a:extLst>
          </p:cNvPr>
          <p:cNvSpPr>
            <a:spLocks noGrp="1"/>
          </p:cNvSpPr>
          <p:nvPr/>
        </p:nvSpPr>
        <p:spPr>
          <a:xfrm>
            <a:off x="819150" y="2990850"/>
            <a:ext cx="76200" cy="26289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B2D5041-7ECB-4E0B-9255-9BE4FD33ACC5}"/>
              </a:ext>
            </a:extLst>
          </p:cNvPr>
          <p:cNvSpPr>
            <a:spLocks noGrp="1"/>
          </p:cNvSpPr>
          <p:nvPr/>
        </p:nvSpPr>
        <p:spPr>
          <a:xfrm>
            <a:off x="1143000" y="3295650"/>
            <a:ext cx="5334000" cy="1981200"/>
          </a:xfrm>
          <a:prstGeom prst="roundRect">
            <a:avLst>
              <a:gd name="adj" fmla="val 3846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DFD8BBA-D3E7-4EEA-8C37-79FB9441A2FA}"/>
              </a:ext>
            </a:extLst>
          </p:cNvPr>
          <p:cNvSpPr>
            <a:spLocks noGrp="1"/>
          </p:cNvSpPr>
          <p:nvPr/>
        </p:nvSpPr>
        <p:spPr>
          <a:xfrm>
            <a:off x="1485900" y="3638550"/>
            <a:ext cx="4648200" cy="1295400"/>
          </a:xfrm>
          <a:prstGeom prst="roundRect">
            <a:avLst>
              <a:gd name="adj" fmla="val 5882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0DE6FD4-D25A-42AB-BE81-F7A901ADFF80}"/>
              </a:ext>
            </a:extLst>
          </p:cNvPr>
          <p:cNvSpPr>
            <a:spLocks noGrp="1"/>
          </p:cNvSpPr>
          <p:nvPr/>
        </p:nvSpPr>
        <p:spPr>
          <a:xfrm>
            <a:off x="1847850" y="3962400"/>
            <a:ext cx="390525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38B9B1-E193-45AB-8472-85C22FEDA40E}"/>
              </a:ext>
            </a:extLst>
          </p:cNvPr>
          <p:cNvSpPr>
            <a:spLocks noGrp="1"/>
          </p:cNvSpPr>
          <p:nvPr/>
        </p:nvSpPr>
        <p:spPr>
          <a:xfrm>
            <a:off x="1333500" y="33909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3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Tenant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28AC21-89C4-416A-B302-8B157434D4AC}"/>
              </a:ext>
            </a:extLst>
          </p:cNvPr>
          <p:cNvSpPr>
            <a:spLocks noGrp="1"/>
          </p:cNvSpPr>
          <p:nvPr/>
        </p:nvSpPr>
        <p:spPr>
          <a:xfrm>
            <a:off x="1676400" y="37338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3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Capacity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4279A3-4DA4-4891-B752-0D19931D7386}"/>
              </a:ext>
            </a:extLst>
          </p:cNvPr>
          <p:cNvSpPr>
            <a:spLocks noGrp="1"/>
          </p:cNvSpPr>
          <p:nvPr/>
        </p:nvSpPr>
        <p:spPr>
          <a:xfrm>
            <a:off x="2038350" y="41338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3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Customer workspace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BF3B73-91EB-4656-8673-21837BB320DF}"/>
              </a:ext>
            </a:extLst>
          </p:cNvPr>
          <p:cNvSpPr>
            <a:spLocks noGrp="1"/>
          </p:cNvSpPr>
          <p:nvPr/>
        </p:nvSpPr>
        <p:spPr>
          <a:xfrm>
            <a:off x="3848100" y="4152900"/>
            <a:ext cx="1771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Lakehouse  |  Warehouse  |  Pipeline  |  Semantic model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E87B9E9-9421-4E78-8EFE-DFE9D18A12F9}"/>
              </a:ext>
            </a:extLst>
          </p:cNvPr>
          <p:cNvSpPr>
            <a:spLocks noGrp="1"/>
          </p:cNvSpPr>
          <p:nvPr/>
        </p:nvSpPr>
        <p:spPr>
          <a:xfrm>
            <a:off x="7239000" y="2990850"/>
            <a:ext cx="4171950" cy="2628900"/>
          </a:xfrm>
          <a:prstGeom prst="roundRect">
            <a:avLst>
              <a:gd name="adj" fmla="val 2899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90FCCF-C79A-4ECB-B60E-C9BCB55BD2B9}"/>
              </a:ext>
            </a:extLst>
          </p:cNvPr>
          <p:cNvSpPr>
            <a:spLocks noGrp="1"/>
          </p:cNvSpPr>
          <p:nvPr/>
        </p:nvSpPr>
        <p:spPr>
          <a:xfrm>
            <a:off x="7239000" y="2990850"/>
            <a:ext cx="76200" cy="26289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E63942-EFA2-4F8F-AC05-0B6CAEB0CB35}"/>
              </a:ext>
            </a:extLst>
          </p:cNvPr>
          <p:cNvSpPr>
            <a:spLocks noGrp="1"/>
          </p:cNvSpPr>
          <p:nvPr/>
        </p:nvSpPr>
        <p:spPr>
          <a:xfrm>
            <a:off x="7467600" y="32194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What QA should verify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CF17CF-B0CC-494F-89E4-47F615E20B42}"/>
              </a:ext>
            </a:extLst>
          </p:cNvPr>
          <p:cNvSpPr>
            <a:spLocks noGrp="1"/>
          </p:cNvSpPr>
          <p:nvPr/>
        </p:nvSpPr>
        <p:spPr>
          <a:xfrm>
            <a:off x="7486650" y="3695700"/>
            <a:ext cx="34671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262"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Items are created in the correct customer workspace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Workspace roles align with expected access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One customer cannot reach another customer's assets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Access paths through SQL, Spark, and reports behave as intended</a:t>
            </a:r>
          </a:p>
        </p:txBody>
      </p:sp>
    </p:spTree>
    <p:extLst>
      <p:ext uri="{BB962C8B-B14F-4D97-AF65-F5344CB8AC3E}">
        <p14:creationId xmlns:p14="http://schemas.microsoft.com/office/powerpoint/2010/main" val="172902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0985B35-2DF6-4042-A323-E662A55C5E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C0E552-04B7-4BC0-AD50-2DE1D101B1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01CF0BF-4F9D-4ADA-BA6C-C3D0AD2A4835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6F962F-715F-4A48-AF44-AB52DCF300DA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80C0B68-1E22-4FCF-94BA-D2ABDEE47337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ED55B-2651-44D3-9D9E-FF41B41DF6FD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SECURITY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AFA48F-2DAC-465D-B854-B831C65D7858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83A7B0-F285-4E3F-8D18-92A590430A51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Access and evidence points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9F4F74-B1EE-49B7-8E02-2BBBC097C68F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Isolation is validated through roles, item permissions, compute paths, and observable behavior.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D4F8586-9955-4F87-9D71-F66FE0BC9EE1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692C1-4849-41BC-8DB8-25233AD2DBA5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10477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7AEF89-C276-4DA3-8A3F-B03BB42AA657}"/>
              </a:ext>
            </a:extLst>
          </p:cNvPr>
          <p:cNvSpPr>
            <a:spLocks noGrp="1"/>
          </p:cNvSpPr>
          <p:nvPr/>
        </p:nvSpPr>
        <p:spPr>
          <a:xfrm>
            <a:off x="1028700" y="3276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Workspace roles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184EAA-92DD-4AAB-B69C-6F26D617B766}"/>
              </a:ext>
            </a:extLst>
          </p:cNvPr>
          <p:cNvSpPr>
            <a:spLocks noGrp="1"/>
          </p:cNvSpPr>
          <p:nvPr/>
        </p:nvSpPr>
        <p:spPr>
          <a:xfrm>
            <a:off x="3143250" y="3276600"/>
            <a:ext cx="2647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Admin, Member, Contributor, and Viewer shape workspace-level access.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04493E8-07E0-4195-BD9E-AFB87AA159AF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A33468-8CC6-45D9-A38A-E30E36501737}"/>
              </a:ext>
            </a:extLst>
          </p:cNvPr>
          <p:cNvSpPr>
            <a:spLocks noGrp="1"/>
          </p:cNvSpPr>
          <p:nvPr/>
        </p:nvSpPr>
        <p:spPr>
          <a:xfrm>
            <a:off x="6153150" y="3105150"/>
            <a:ext cx="76200" cy="10477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D05FBF-D999-40AD-AC10-FBF5E183CDD9}"/>
              </a:ext>
            </a:extLst>
          </p:cNvPr>
          <p:cNvSpPr>
            <a:spLocks noGrp="1"/>
          </p:cNvSpPr>
          <p:nvPr/>
        </p:nvSpPr>
        <p:spPr>
          <a:xfrm>
            <a:off x="6362700" y="32766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Item permissions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BB8DB5-BC3E-461A-832B-6283E53107C5}"/>
              </a:ext>
            </a:extLst>
          </p:cNvPr>
          <p:cNvSpPr>
            <a:spLocks noGrp="1"/>
          </p:cNvSpPr>
          <p:nvPr/>
        </p:nvSpPr>
        <p:spPr>
          <a:xfrm>
            <a:off x="8477250" y="3276600"/>
            <a:ext cx="2647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Lakehouses, Warehouses, semantic models, and reports can expose different access surfaces.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365BE78-85F5-4C47-BC0B-99D6A1AEBEDB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B82027-87C3-4873-8C51-E3F8C04AF1CE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76200" cy="10477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1046A6-2613-4011-8085-92D76B186383}"/>
              </a:ext>
            </a:extLst>
          </p:cNvPr>
          <p:cNvSpPr>
            <a:spLocks noGrp="1"/>
          </p:cNvSpPr>
          <p:nvPr/>
        </p:nvSpPr>
        <p:spPr>
          <a:xfrm>
            <a:off x="1028700" y="45529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Compute paths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9E0C2B-0EAC-47D8-B148-8138B4293B35}"/>
              </a:ext>
            </a:extLst>
          </p:cNvPr>
          <p:cNvSpPr>
            <a:spLocks noGrp="1"/>
          </p:cNvSpPr>
          <p:nvPr/>
        </p:nvSpPr>
        <p:spPr>
          <a:xfrm>
            <a:off x="3143250" y="4552950"/>
            <a:ext cx="2647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Spark, SQL endpoint, and report access can reveal different issues.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75DC84C-5796-4F62-93FF-36BCE7F8F1E5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5219700" cy="1047750"/>
          </a:xfrm>
          <a:prstGeom prst="roundRect">
            <a:avLst>
              <a:gd name="adj" fmla="val 7273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76EA93-ABB4-4565-A768-C12EA9EBCEE7}"/>
              </a:ext>
            </a:extLst>
          </p:cNvPr>
          <p:cNvSpPr>
            <a:spLocks noGrp="1"/>
          </p:cNvSpPr>
          <p:nvPr/>
        </p:nvSpPr>
        <p:spPr>
          <a:xfrm>
            <a:off x="6153150" y="4381500"/>
            <a:ext cx="76200" cy="10477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C5AC9B-F143-47EC-A5C8-C432E6462FDA}"/>
              </a:ext>
            </a:extLst>
          </p:cNvPr>
          <p:cNvSpPr>
            <a:spLocks noGrp="1"/>
          </p:cNvSpPr>
          <p:nvPr/>
        </p:nvSpPr>
        <p:spPr>
          <a:xfrm>
            <a:off x="6362700" y="45529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Observable evidence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8F926E-2629-4642-8E89-873E2A93D4BF}"/>
              </a:ext>
            </a:extLst>
          </p:cNvPr>
          <p:cNvSpPr>
            <a:spLocks noGrp="1"/>
          </p:cNvSpPr>
          <p:nvPr/>
        </p:nvSpPr>
        <p:spPr>
          <a:xfrm>
            <a:off x="8477250" y="4552950"/>
            <a:ext cx="2647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Visible items, successful queries, denied access, and filtered data all count as QA evidence.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B6784CF-FC1C-4E5F-8CBB-44A7E8E47126}"/>
              </a:ext>
            </a:extLst>
          </p:cNvPr>
          <p:cNvSpPr>
            <a:spLocks noGrp="1"/>
          </p:cNvSpPr>
          <p:nvPr/>
        </p:nvSpPr>
        <p:spPr>
          <a:xfrm>
            <a:off x="2362200" y="5695950"/>
            <a:ext cx="741045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B887E8-2FF3-4B2D-B04A-DD9B58897699}"/>
              </a:ext>
            </a:extLst>
          </p:cNvPr>
          <p:cNvSpPr>
            <a:spLocks noGrp="1"/>
          </p:cNvSpPr>
          <p:nvPr/>
        </p:nvSpPr>
        <p:spPr>
          <a:xfrm>
            <a:off x="2495550" y="5762625"/>
            <a:ext cx="7143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QA question: if two users take different paths, do they still see only the data they should?</a:t>
            </a:r>
          </a:p>
        </p:txBody>
      </p:sp>
    </p:spTree>
    <p:extLst>
      <p:ext uri="{BB962C8B-B14F-4D97-AF65-F5344CB8AC3E}">
        <p14:creationId xmlns:p14="http://schemas.microsoft.com/office/powerpoint/2010/main" val="1233912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921F964E-25A4-4F35-AB9D-C0724C92F7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29C400-75B3-47FE-8A39-1651022116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F0883FA-EEF4-4B07-9645-59B1992FF40A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B2F3009-4ECE-46EC-9167-24C220A1AB78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EC190F-1ACF-4BD1-BF6E-BA10923387CE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D7BC62-1BFD-4F77-9272-66ADA4233847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NAVIGATION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DFC7E2-1495-4A03-AEAB-DE93AA482045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911DBC-8B8C-410C-B71E-9F9DA59E8CD4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Where QA should navigate first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F761B4-CDFC-4FD6-9733-9660CC8444F4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lang="en-US" sz="1275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Fi</a:t>
            </a:r>
            <a:r>
              <a:rPr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nding the right places to inspect before validating deeper behaviors.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4443D04-67D9-4AF3-B52C-D745A678DDED}"/>
              </a:ext>
            </a:extLst>
          </p:cNvPr>
          <p:cNvSpPr>
            <a:spLocks noGrp="1"/>
          </p:cNvSpPr>
          <p:nvPr/>
        </p:nvSpPr>
        <p:spPr>
          <a:xfrm>
            <a:off x="819150" y="2895600"/>
            <a:ext cx="10477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2E3219-E85F-4ACC-AEC4-D784D5B45491}"/>
              </a:ext>
            </a:extLst>
          </p:cNvPr>
          <p:cNvSpPr>
            <a:spLocks noGrp="1"/>
          </p:cNvSpPr>
          <p:nvPr/>
        </p:nvSpPr>
        <p:spPr>
          <a:xfrm>
            <a:off x="819150" y="2895600"/>
            <a:ext cx="76200" cy="5524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0E1CBF3-C027-4618-8B5A-079B73E3EFFC}"/>
              </a:ext>
            </a:extLst>
          </p:cNvPr>
          <p:cNvSpPr>
            <a:spLocks noGrp="1"/>
          </p:cNvSpPr>
          <p:nvPr/>
        </p:nvSpPr>
        <p:spPr>
          <a:xfrm>
            <a:off x="990600" y="30099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3A6225-E10D-4555-A32E-73831B349B99}"/>
              </a:ext>
            </a:extLst>
          </p:cNvPr>
          <p:cNvSpPr>
            <a:spLocks noGrp="1"/>
          </p:cNvSpPr>
          <p:nvPr/>
        </p:nvSpPr>
        <p:spPr>
          <a:xfrm>
            <a:off x="1123950" y="30765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081A8B-39DA-4F21-A3F0-45A9E5DBBE26}"/>
              </a:ext>
            </a:extLst>
          </p:cNvPr>
          <p:cNvSpPr>
            <a:spLocks noGrp="1"/>
          </p:cNvSpPr>
          <p:nvPr/>
        </p:nvSpPr>
        <p:spPr>
          <a:xfrm>
            <a:off x="1676400" y="3028950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Workspace home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0691F6-9FE8-4FA3-95B5-04CEF16CAC61}"/>
              </a:ext>
            </a:extLst>
          </p:cNvPr>
          <p:cNvSpPr>
            <a:spLocks noGrp="1"/>
          </p:cNvSpPr>
          <p:nvPr/>
        </p:nvSpPr>
        <p:spPr>
          <a:xfrm>
            <a:off x="4095750" y="3038475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Confirm the item list, naming pattern, and customer scope.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3C8787A-1792-4BF7-9875-76E05526776A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10477500" cy="552450"/>
          </a:xfrm>
          <a:prstGeom prst="roundRect">
            <a:avLst>
              <a:gd name="adj" fmla="val 13793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AAE947-5B55-4839-9FE2-E4ADF3423792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76200" cy="5524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D86B35C-4DE1-4E88-AB9D-CE81BB5CFE24}"/>
              </a:ext>
            </a:extLst>
          </p:cNvPr>
          <p:cNvSpPr>
            <a:spLocks noGrp="1"/>
          </p:cNvSpPr>
          <p:nvPr/>
        </p:nvSpPr>
        <p:spPr>
          <a:xfrm>
            <a:off x="990600" y="36957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7CDB7F-A118-4545-8845-0E0422188A0A}"/>
              </a:ext>
            </a:extLst>
          </p:cNvPr>
          <p:cNvSpPr>
            <a:spLocks noGrp="1"/>
          </p:cNvSpPr>
          <p:nvPr/>
        </p:nvSpPr>
        <p:spPr>
          <a:xfrm>
            <a:off x="1123950" y="37623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8A7EE6-2E2D-4AB5-9767-6BC7A6849FC5}"/>
              </a:ext>
            </a:extLst>
          </p:cNvPr>
          <p:cNvSpPr>
            <a:spLocks noGrp="1"/>
          </p:cNvSpPr>
          <p:nvPr/>
        </p:nvSpPr>
        <p:spPr>
          <a:xfrm>
            <a:off x="1676400" y="3714750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Lakehouse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D804B-AB3D-4061-BB55-8C1F005A0E87}"/>
              </a:ext>
            </a:extLst>
          </p:cNvPr>
          <p:cNvSpPr>
            <a:spLocks noGrp="1"/>
          </p:cNvSpPr>
          <p:nvPr/>
        </p:nvSpPr>
        <p:spPr>
          <a:xfrm>
            <a:off x="4095750" y="3724275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Inspect files, tables, and the available exploration paths.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4D78C7A-F3D7-4446-AD20-783FE755948A}"/>
              </a:ext>
            </a:extLst>
          </p:cNvPr>
          <p:cNvSpPr>
            <a:spLocks noGrp="1"/>
          </p:cNvSpPr>
          <p:nvPr/>
        </p:nvSpPr>
        <p:spPr>
          <a:xfrm>
            <a:off x="819150" y="4267200"/>
            <a:ext cx="10477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806685-924E-4467-857F-CFEA17FFBC1F}"/>
              </a:ext>
            </a:extLst>
          </p:cNvPr>
          <p:cNvSpPr>
            <a:spLocks noGrp="1"/>
          </p:cNvSpPr>
          <p:nvPr/>
        </p:nvSpPr>
        <p:spPr>
          <a:xfrm>
            <a:off x="819150" y="4267200"/>
            <a:ext cx="76200" cy="5524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1B816E4-E178-4404-91FE-CB8416C54A0C}"/>
              </a:ext>
            </a:extLst>
          </p:cNvPr>
          <p:cNvSpPr>
            <a:spLocks noGrp="1"/>
          </p:cNvSpPr>
          <p:nvPr/>
        </p:nvSpPr>
        <p:spPr>
          <a:xfrm>
            <a:off x="990600" y="43815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FBE624-B7CF-4106-B939-CFB022F1C251}"/>
              </a:ext>
            </a:extLst>
          </p:cNvPr>
          <p:cNvSpPr>
            <a:spLocks noGrp="1"/>
          </p:cNvSpPr>
          <p:nvPr/>
        </p:nvSpPr>
        <p:spPr>
          <a:xfrm>
            <a:off x="1123950" y="44481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12E81D-D1F2-4AFB-86B4-74FDEF5B1E8A}"/>
              </a:ext>
            </a:extLst>
          </p:cNvPr>
          <p:cNvSpPr>
            <a:spLocks noGrp="1"/>
          </p:cNvSpPr>
          <p:nvPr/>
        </p:nvSpPr>
        <p:spPr>
          <a:xfrm>
            <a:off x="1676400" y="4400550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Warehouse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5A6A41-7196-4F01-9533-0EC0A5B5EC3D}"/>
              </a:ext>
            </a:extLst>
          </p:cNvPr>
          <p:cNvSpPr>
            <a:spLocks noGrp="1"/>
          </p:cNvSpPr>
          <p:nvPr/>
        </p:nvSpPr>
        <p:spPr>
          <a:xfrm>
            <a:off x="4095750" y="4410075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Inspect schemas, tables, and SQL query entry points.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8C3ED16-35F2-47E4-A792-E3334CFB7DC7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10477500" cy="552450"/>
          </a:xfrm>
          <a:prstGeom prst="roundRect">
            <a:avLst>
              <a:gd name="adj" fmla="val 13793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A07A56-0DF9-41A3-9313-40A73E937D07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76200" cy="5524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BE913A2-F1E4-486F-9692-5A27BAA109DF}"/>
              </a:ext>
            </a:extLst>
          </p:cNvPr>
          <p:cNvSpPr>
            <a:spLocks noGrp="1"/>
          </p:cNvSpPr>
          <p:nvPr/>
        </p:nvSpPr>
        <p:spPr>
          <a:xfrm>
            <a:off x="990600" y="50673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315ACA-1D6E-4167-B1C3-89DB1A051DCD}"/>
              </a:ext>
            </a:extLst>
          </p:cNvPr>
          <p:cNvSpPr>
            <a:spLocks noGrp="1"/>
          </p:cNvSpPr>
          <p:nvPr/>
        </p:nvSpPr>
        <p:spPr>
          <a:xfrm>
            <a:off x="1123950" y="51339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2CC335-B691-4C57-9D8E-603F2DAED56A}"/>
              </a:ext>
            </a:extLst>
          </p:cNvPr>
          <p:cNvSpPr>
            <a:spLocks noGrp="1"/>
          </p:cNvSpPr>
          <p:nvPr/>
        </p:nvSpPr>
        <p:spPr>
          <a:xfrm>
            <a:off x="1676400" y="5086350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Pipeline runs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C5D339-1FC3-4756-B011-BC1DD7A4E48D}"/>
              </a:ext>
            </a:extLst>
          </p:cNvPr>
          <p:cNvSpPr>
            <a:spLocks noGrp="1"/>
          </p:cNvSpPr>
          <p:nvPr/>
        </p:nvSpPr>
        <p:spPr>
          <a:xfrm>
            <a:off x="4095750" y="5095875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Review whether orchestration evidence is visible and traceable.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74CC7C8-9FE7-4A26-9EA6-007CA1CDE870}"/>
              </a:ext>
            </a:extLst>
          </p:cNvPr>
          <p:cNvSpPr>
            <a:spLocks noGrp="1"/>
          </p:cNvSpPr>
          <p:nvPr/>
        </p:nvSpPr>
        <p:spPr>
          <a:xfrm>
            <a:off x="819150" y="5638800"/>
            <a:ext cx="104775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099FAF8-51E5-48F6-975E-67BE06A5AA10}"/>
              </a:ext>
            </a:extLst>
          </p:cNvPr>
          <p:cNvSpPr>
            <a:spLocks noGrp="1"/>
          </p:cNvSpPr>
          <p:nvPr/>
        </p:nvSpPr>
        <p:spPr>
          <a:xfrm>
            <a:off x="819150" y="5638800"/>
            <a:ext cx="76200" cy="5524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A9AE814-2F7D-450A-A4D9-5610122B91DE}"/>
              </a:ext>
            </a:extLst>
          </p:cNvPr>
          <p:cNvSpPr>
            <a:spLocks noGrp="1"/>
          </p:cNvSpPr>
          <p:nvPr/>
        </p:nvSpPr>
        <p:spPr>
          <a:xfrm>
            <a:off x="990600" y="57531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6AAFC32-9818-487F-A703-710F53FB0B4A}"/>
              </a:ext>
            </a:extLst>
          </p:cNvPr>
          <p:cNvSpPr>
            <a:spLocks noGrp="1"/>
          </p:cNvSpPr>
          <p:nvPr/>
        </p:nvSpPr>
        <p:spPr>
          <a:xfrm>
            <a:off x="1123950" y="5819775"/>
            <a:ext cx="152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88E9310-E620-4B90-9F40-82BE03BDF2BC}"/>
              </a:ext>
            </a:extLst>
          </p:cNvPr>
          <p:cNvSpPr>
            <a:spLocks noGrp="1"/>
          </p:cNvSpPr>
          <p:nvPr/>
        </p:nvSpPr>
        <p:spPr>
          <a:xfrm>
            <a:off x="1676400" y="5772150"/>
            <a:ext cx="224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Semantic and report layer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7B323DC-5EC6-4F52-BD3A-1668C2535D58}"/>
              </a:ext>
            </a:extLst>
          </p:cNvPr>
          <p:cNvSpPr>
            <a:spLocks noGrp="1"/>
          </p:cNvSpPr>
          <p:nvPr/>
        </p:nvSpPr>
        <p:spPr>
          <a:xfrm>
            <a:off x="4095750" y="5781675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Check the consumption surface that business users actually see.</a:t>
            </a:r>
          </a:p>
        </p:txBody>
      </p:sp>
    </p:spTree>
    <p:extLst>
      <p:ext uri="{BB962C8B-B14F-4D97-AF65-F5344CB8AC3E}">
        <p14:creationId xmlns:p14="http://schemas.microsoft.com/office/powerpoint/2010/main" val="1833509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D1D8AD5-2ACD-4B8B-A4E9-248152CF98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8C7C47-4F22-43A7-81B0-3B1BA69161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253AE93-760A-404F-B541-C6305DECDD51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774A618-3F13-4BFF-A721-6C857C3F498E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6F69603-772A-4BA0-9092-D182A4ADB2DE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21171B-23AA-4ED7-8B19-8E603DFA2AB7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LAKEHOUSE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56EABC-1FC7-4A10-8184-11B380705309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DEB71B-2B02-431C-8A2F-77E004D38DF1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Lakehouse essentials for QA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3AE5E5-07D3-49CA-9A6F-F6BEC8C825C2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 Lakehouse blends file-oriented storage with table-oriented analytics.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96D2B2A-0415-44F2-9449-CFBED8405A4E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3714750" cy="2857500"/>
          </a:xfrm>
          <a:prstGeom prst="roundRect">
            <a:avLst>
              <a:gd name="adj" fmla="val 2667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E00372-990D-4D87-BBA2-48ED79F19943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76200" cy="28575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970C4C-5295-4DC4-A47E-A4ED495658A7}"/>
              </a:ext>
            </a:extLst>
          </p:cNvPr>
          <p:cNvSpPr>
            <a:spLocks noGrp="1"/>
          </p:cNvSpPr>
          <p:nvPr/>
        </p:nvSpPr>
        <p:spPr>
          <a:xfrm>
            <a:off x="1028700" y="32766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What it 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AC227-4054-4D4D-B7FB-2FD8A5D0623A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29718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1503" lnSpcReduction="10000"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Backed by OneLake storage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Can expose files and managed tables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Often used for raw and curated data stages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Supports notebooks, Spark, and SQL endpoint access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BEF4914-E2C5-41CD-9D55-A8F2A3AD0690}"/>
              </a:ext>
            </a:extLst>
          </p:cNvPr>
          <p:cNvSpPr>
            <a:spLocks noGrp="1"/>
          </p:cNvSpPr>
          <p:nvPr/>
        </p:nvSpPr>
        <p:spPr>
          <a:xfrm>
            <a:off x="4895850" y="3048000"/>
            <a:ext cx="64008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4A23F8-2FC2-4535-A8A5-55F266DC8F95}"/>
              </a:ext>
            </a:extLst>
          </p:cNvPr>
          <p:cNvSpPr>
            <a:spLocks noGrp="1"/>
          </p:cNvSpPr>
          <p:nvPr/>
        </p:nvSpPr>
        <p:spPr>
          <a:xfrm>
            <a:off x="4895850" y="3048000"/>
            <a:ext cx="76200" cy="28575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2DBD4-F95A-4238-8209-42F1C209CC6F}"/>
              </a:ext>
            </a:extLst>
          </p:cNvPr>
          <p:cNvSpPr>
            <a:spLocks noGrp="1"/>
          </p:cNvSpPr>
          <p:nvPr/>
        </p:nvSpPr>
        <p:spPr>
          <a:xfrm>
            <a:off x="5143500" y="32766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What QA inspects first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17011E-93DD-4A25-B76E-B8DB0CF9BB3C}"/>
              </a:ext>
            </a:extLst>
          </p:cNvPr>
          <p:cNvSpPr>
            <a:spLocks noGrp="1"/>
          </p:cNvSpPr>
          <p:nvPr/>
        </p:nvSpPr>
        <p:spPr>
          <a:xfrm>
            <a:off x="5162550" y="371475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Files and tables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1D783F-197B-4C1B-A83E-427477195D3B}"/>
              </a:ext>
            </a:extLst>
          </p:cNvPr>
          <p:cNvSpPr>
            <a:spLocks noGrp="1"/>
          </p:cNvSpPr>
          <p:nvPr/>
        </p:nvSpPr>
        <p:spPr>
          <a:xfrm>
            <a:off x="6991350" y="3714750"/>
            <a:ext cx="3790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Are the expected assets present?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8C21F3-1478-4DD4-9AA6-A47669C82721}"/>
              </a:ext>
            </a:extLst>
          </p:cNvPr>
          <p:cNvSpPr>
            <a:spLocks noGrp="1"/>
          </p:cNvSpPr>
          <p:nvPr/>
        </p:nvSpPr>
        <p:spPr>
          <a:xfrm>
            <a:off x="5162550" y="421005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Table structure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931D3D-7C57-4B8F-8DF3-A99701886C16}"/>
              </a:ext>
            </a:extLst>
          </p:cNvPr>
          <p:cNvSpPr>
            <a:spLocks noGrp="1"/>
          </p:cNvSpPr>
          <p:nvPr/>
        </p:nvSpPr>
        <p:spPr>
          <a:xfrm>
            <a:off x="6991350" y="4210050"/>
            <a:ext cx="3790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names, schema, and locations make sense?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F699B1-CD6A-4178-AB19-55F7EFD1A222}"/>
              </a:ext>
            </a:extLst>
          </p:cNvPr>
          <p:cNvSpPr>
            <a:spLocks noGrp="1"/>
          </p:cNvSpPr>
          <p:nvPr/>
        </p:nvSpPr>
        <p:spPr>
          <a:xfrm>
            <a:off x="5162550" y="470535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Access paths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2407CD-3FA9-4205-ADD3-9A2BB18A6C5D}"/>
              </a:ext>
            </a:extLst>
          </p:cNvPr>
          <p:cNvSpPr>
            <a:spLocks noGrp="1"/>
          </p:cNvSpPr>
          <p:nvPr/>
        </p:nvSpPr>
        <p:spPr>
          <a:xfrm>
            <a:off x="6991350" y="4705350"/>
            <a:ext cx="3790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403" lnSpcReduction="20000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Can the team inspect data through SQL, notebooks, or table views?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C054DA-07D9-4294-ADD2-8CE78327770B}"/>
              </a:ext>
            </a:extLst>
          </p:cNvPr>
          <p:cNvSpPr>
            <a:spLocks noGrp="1"/>
          </p:cNvSpPr>
          <p:nvPr/>
        </p:nvSpPr>
        <p:spPr>
          <a:xfrm>
            <a:off x="5162550" y="520065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Environment cues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87B8ED-A988-4C93-A42F-4B4AB1D0D329}"/>
              </a:ext>
            </a:extLst>
          </p:cNvPr>
          <p:cNvSpPr>
            <a:spLocks noGrp="1"/>
          </p:cNvSpPr>
          <p:nvPr/>
        </p:nvSpPr>
        <p:spPr>
          <a:xfrm>
            <a:off x="6991350" y="5200650"/>
            <a:ext cx="3790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209" lnSpcReduction="20000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Does the workspace layout support the expected customer scope?</a:t>
            </a:r>
          </a:p>
        </p:txBody>
      </p:sp>
    </p:spTree>
    <p:extLst>
      <p:ext uri="{BB962C8B-B14F-4D97-AF65-F5344CB8AC3E}">
        <p14:creationId xmlns:p14="http://schemas.microsoft.com/office/powerpoint/2010/main" val="788302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B06C505-5FE2-4C97-BEEE-4B907BC1BA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DDC177-5A36-46FE-BF68-D07DD7A8D4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C8FA1B-67E8-4A68-9DA3-FDCF88044B51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DDD85F9-1CF3-46FB-A850-344B2AB42B2E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D26AC60-1749-4F05-BE6A-D9BF1303A976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D4A24B-C8C5-4CD0-80A5-13A44556A9C2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WAREHOUSE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64A553-7953-4EC5-A1CF-E53A5E905E80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AAA473-158F-45B5-9BE1-60F6D84BFDAA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Warehouse essentials for QA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776EAD-1A68-44BB-9ED4-534A30D54177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The Warehouse is the relational analytics surface where SQL validation becomes central.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48C7A5-DF63-48EC-B158-AE457BDE1953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3714750" cy="2857500"/>
          </a:xfrm>
          <a:prstGeom prst="roundRect">
            <a:avLst>
              <a:gd name="adj" fmla="val 2667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4A9C92-998F-471C-9998-9635A3F3738C}"/>
              </a:ext>
            </a:extLst>
          </p:cNvPr>
          <p:cNvSpPr>
            <a:spLocks noGrp="1"/>
          </p:cNvSpPr>
          <p:nvPr/>
        </p:nvSpPr>
        <p:spPr>
          <a:xfrm>
            <a:off x="819150" y="3048000"/>
            <a:ext cx="76200" cy="28575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57A610-069B-415E-B3EF-63114D895C94}"/>
              </a:ext>
            </a:extLst>
          </p:cNvPr>
          <p:cNvSpPr>
            <a:spLocks noGrp="1"/>
          </p:cNvSpPr>
          <p:nvPr/>
        </p:nvSpPr>
        <p:spPr>
          <a:xfrm>
            <a:off x="1028700" y="32766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What it 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0DC7FB-38CE-4300-9BBF-C943062158E6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29718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8315"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Relational analytics experience in Fabric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Built for T-SQL based querying and modeling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Useful for business-ready tables and transformations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Often paired with a default semantic model for reporting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B58E1B0-BF20-4601-872E-5E0376542F40}"/>
              </a:ext>
            </a:extLst>
          </p:cNvPr>
          <p:cNvSpPr>
            <a:spLocks noGrp="1"/>
          </p:cNvSpPr>
          <p:nvPr/>
        </p:nvSpPr>
        <p:spPr>
          <a:xfrm>
            <a:off x="4895850" y="3048000"/>
            <a:ext cx="64008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85DE81-CC32-45F5-8712-B0E36C199E68}"/>
              </a:ext>
            </a:extLst>
          </p:cNvPr>
          <p:cNvSpPr>
            <a:spLocks noGrp="1"/>
          </p:cNvSpPr>
          <p:nvPr/>
        </p:nvSpPr>
        <p:spPr>
          <a:xfrm>
            <a:off x="4895850" y="3048000"/>
            <a:ext cx="76200" cy="28575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B97558-67E3-490C-9DCC-FDE3F90C734F}"/>
              </a:ext>
            </a:extLst>
          </p:cNvPr>
          <p:cNvSpPr>
            <a:spLocks noGrp="1"/>
          </p:cNvSpPr>
          <p:nvPr/>
        </p:nvSpPr>
        <p:spPr>
          <a:xfrm>
            <a:off x="5143500" y="32766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What QA inspects first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8CCEAC-A534-4EED-953F-8759A9DD7DFD}"/>
              </a:ext>
            </a:extLst>
          </p:cNvPr>
          <p:cNvSpPr>
            <a:spLocks noGrp="1"/>
          </p:cNvSpPr>
          <p:nvPr/>
        </p:nvSpPr>
        <p:spPr>
          <a:xfrm>
            <a:off x="5162550" y="371475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Schemas and tables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963D1E-C0EE-45B0-9F27-DB88E855C3CA}"/>
              </a:ext>
            </a:extLst>
          </p:cNvPr>
          <p:cNvSpPr>
            <a:spLocks noGrp="1"/>
          </p:cNvSpPr>
          <p:nvPr/>
        </p:nvSpPr>
        <p:spPr>
          <a:xfrm>
            <a:off x="6991350" y="3714750"/>
            <a:ext cx="3790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303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Are the expected structures present and named clearly?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E839AD-E866-49DA-B13E-F3594C866D96}"/>
              </a:ext>
            </a:extLst>
          </p:cNvPr>
          <p:cNvSpPr>
            <a:spLocks noGrp="1"/>
          </p:cNvSpPr>
          <p:nvPr/>
        </p:nvSpPr>
        <p:spPr>
          <a:xfrm>
            <a:off x="5162550" y="421005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SQL query editor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8C5212-4B8B-45AC-8288-BF068BBD48D2}"/>
              </a:ext>
            </a:extLst>
          </p:cNvPr>
          <p:cNvSpPr>
            <a:spLocks noGrp="1"/>
          </p:cNvSpPr>
          <p:nvPr/>
        </p:nvSpPr>
        <p:spPr>
          <a:xfrm>
            <a:off x="6991350" y="4210050"/>
            <a:ext cx="3790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1034" lnSpcReduction="10000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Can the team inspect data and write simple validation queries?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D5718D-C2BC-4277-AEA3-FE5E4120E7B8}"/>
              </a:ext>
            </a:extLst>
          </p:cNvPr>
          <p:cNvSpPr>
            <a:spLocks noGrp="1"/>
          </p:cNvSpPr>
          <p:nvPr/>
        </p:nvSpPr>
        <p:spPr>
          <a:xfrm>
            <a:off x="5162550" y="470535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Business-ready outputs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6642F4-C1FF-4B1E-B5C0-BCD678FB5BE1}"/>
              </a:ext>
            </a:extLst>
          </p:cNvPr>
          <p:cNvSpPr>
            <a:spLocks noGrp="1"/>
          </p:cNvSpPr>
          <p:nvPr/>
        </p:nvSpPr>
        <p:spPr>
          <a:xfrm>
            <a:off x="6991350" y="4705350"/>
            <a:ext cx="3790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0641" lnSpcReduction="10000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Do the tables look aligned to downstream reporting use cases?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EC6555-9931-4FBD-B8DD-AAF384368B58}"/>
              </a:ext>
            </a:extLst>
          </p:cNvPr>
          <p:cNvSpPr>
            <a:spLocks noGrp="1"/>
          </p:cNvSpPr>
          <p:nvPr/>
        </p:nvSpPr>
        <p:spPr>
          <a:xfrm>
            <a:off x="5162550" y="520065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Semantic implications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EF4F08-AF57-4825-96DF-39F69CA0B95F}"/>
              </a:ext>
            </a:extLst>
          </p:cNvPr>
          <p:cNvSpPr>
            <a:spLocks noGrp="1"/>
          </p:cNvSpPr>
          <p:nvPr/>
        </p:nvSpPr>
        <p:spPr>
          <a:xfrm>
            <a:off x="6991350" y="5200650"/>
            <a:ext cx="3790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0084" lnSpcReduction="10000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Is there a default semantic model or consumption path to note?</a:t>
            </a:r>
          </a:p>
        </p:txBody>
      </p:sp>
    </p:spTree>
    <p:extLst>
      <p:ext uri="{BB962C8B-B14F-4D97-AF65-F5344CB8AC3E}">
        <p14:creationId xmlns:p14="http://schemas.microsoft.com/office/powerpoint/2010/main" val="820218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AB80DF3-9F39-43C5-9299-839FA7D651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2568683-0336-49AF-B7C3-9A641BE4EF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CE59F97-79FD-4037-B2EF-07D87B6C7C1B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2EEAB1E-AFC5-48A9-9E8F-E34469EEFAF7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9845A0A-718E-4F2A-BA37-5843FAE9CA42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C868EC-3DE3-41AD-813C-5547EE847492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COMPARISON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242FCF-4F17-427B-A4D3-07FEC7A1C0D8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E3BBA0-AB58-46EC-BF24-77815BFF95E7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Lakehouse vs. Warehouse from a QA perspective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917DFB-16E5-49ED-B30B-E81033CDA84D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The same customer solution can use both, but the validation method changes.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C8E8071-0E46-45A8-8184-C97B0AB055E0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1752600" cy="3028950"/>
          </a:xfrm>
          <a:prstGeom prst="roundRect">
            <a:avLst>
              <a:gd name="adj" fmla="val 4348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05A9B09-C7B1-4B25-B89B-0609F4B6F618}"/>
              </a:ext>
            </a:extLst>
          </p:cNvPr>
          <p:cNvSpPr>
            <a:spLocks noGrp="1"/>
          </p:cNvSpPr>
          <p:nvPr/>
        </p:nvSpPr>
        <p:spPr>
          <a:xfrm>
            <a:off x="2609850" y="3048000"/>
            <a:ext cx="4095750" cy="3028950"/>
          </a:xfrm>
          <a:prstGeom prst="roundRect">
            <a:avLst>
              <a:gd name="adj" fmla="val 2516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8F87C9E-609F-4DB2-9E63-29FFFA37EE73}"/>
              </a:ext>
            </a:extLst>
          </p:cNvPr>
          <p:cNvSpPr>
            <a:spLocks noGrp="1"/>
          </p:cNvSpPr>
          <p:nvPr/>
        </p:nvSpPr>
        <p:spPr>
          <a:xfrm>
            <a:off x="6096000" y="3048000"/>
            <a:ext cx="5486400" cy="3028950"/>
          </a:xfrm>
          <a:prstGeom prst="roundRect">
            <a:avLst>
              <a:gd name="adj" fmla="val 2516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85EB74-AE2A-40FE-B896-37752B39FBF0}"/>
              </a:ext>
            </a:extLst>
          </p:cNvPr>
          <p:cNvSpPr>
            <a:spLocks noGrp="1"/>
          </p:cNvSpPr>
          <p:nvPr/>
        </p:nvSpPr>
        <p:spPr>
          <a:xfrm>
            <a:off x="838200" y="32004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Topic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1F8925-7650-42CB-B61D-923782A83C4F}"/>
              </a:ext>
            </a:extLst>
          </p:cNvPr>
          <p:cNvSpPr>
            <a:spLocks noGrp="1"/>
          </p:cNvSpPr>
          <p:nvPr/>
        </p:nvSpPr>
        <p:spPr>
          <a:xfrm>
            <a:off x="2781300" y="32004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Lakehouse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2ADA07-A6BA-43FC-A989-5FF2EF075DCA}"/>
              </a:ext>
            </a:extLst>
          </p:cNvPr>
          <p:cNvSpPr>
            <a:spLocks noGrp="1"/>
          </p:cNvSpPr>
          <p:nvPr/>
        </p:nvSpPr>
        <p:spPr>
          <a:xfrm>
            <a:off x="6096000" y="3200400"/>
            <a:ext cx="1410789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lang="en-US" sz="165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  </a:t>
            </a:r>
            <a:r>
              <a:rPr sz="165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Warehouse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EF6818-633C-4400-A259-7A3B01DFA669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1097280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7B1D8F-6B54-4412-BE69-5BDC8C0DCD23}"/>
              </a:ext>
            </a:extLst>
          </p:cNvPr>
          <p:cNvSpPr>
            <a:spLocks noGrp="1"/>
          </p:cNvSpPr>
          <p:nvPr/>
        </p:nvSpPr>
        <p:spPr>
          <a:xfrm>
            <a:off x="838200" y="3676650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Primary pattern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A13F10-EA4B-4B67-9214-43D34425DFE6}"/>
              </a:ext>
            </a:extLst>
          </p:cNvPr>
          <p:cNvSpPr>
            <a:spLocks noGrp="1"/>
          </p:cNvSpPr>
          <p:nvPr/>
        </p:nvSpPr>
        <p:spPr>
          <a:xfrm>
            <a:off x="2781300" y="3657600"/>
            <a:ext cx="3676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Files plus tables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30B46C-2585-4AB4-8807-CDBAAEDEECF9}"/>
              </a:ext>
            </a:extLst>
          </p:cNvPr>
          <p:cNvSpPr>
            <a:spLocks noGrp="1"/>
          </p:cNvSpPr>
          <p:nvPr/>
        </p:nvSpPr>
        <p:spPr>
          <a:xfrm>
            <a:off x="6178514" y="3657600"/>
            <a:ext cx="4984786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Relational SQL analytics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B21155-CBDC-468F-BB1C-C269A91CE637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1097280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4B5981-CF0C-4C1D-AF59-038FCA743CD9}"/>
              </a:ext>
            </a:extLst>
          </p:cNvPr>
          <p:cNvSpPr>
            <a:spLocks noGrp="1"/>
          </p:cNvSpPr>
          <p:nvPr/>
        </p:nvSpPr>
        <p:spPr>
          <a:xfrm>
            <a:off x="838200" y="4210050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Best first inspection path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77B1C2-C959-4F06-BFD5-D8187A493E72}"/>
              </a:ext>
            </a:extLst>
          </p:cNvPr>
          <p:cNvSpPr>
            <a:spLocks noGrp="1"/>
          </p:cNvSpPr>
          <p:nvPr/>
        </p:nvSpPr>
        <p:spPr>
          <a:xfrm>
            <a:off x="2781300" y="4191000"/>
            <a:ext cx="3676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Tables, files, SQL endpoint, or notebooks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889D48-8892-4C2D-A99A-D59F75CE9501}"/>
              </a:ext>
            </a:extLst>
          </p:cNvPr>
          <p:cNvSpPr>
            <a:spLocks noGrp="1"/>
          </p:cNvSpPr>
          <p:nvPr/>
        </p:nvSpPr>
        <p:spPr>
          <a:xfrm>
            <a:off x="6178514" y="4191000"/>
            <a:ext cx="4984786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Schemas, tables, SQL editor, and semantic context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4A25CF-07B7-4F3B-94B8-C73B6AE87FC8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1097280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9E7248-25CA-43D5-8CA1-4059BB9CCFF5}"/>
              </a:ext>
            </a:extLst>
          </p:cNvPr>
          <p:cNvSpPr>
            <a:spLocks noGrp="1"/>
          </p:cNvSpPr>
          <p:nvPr/>
        </p:nvSpPr>
        <p:spPr>
          <a:xfrm>
            <a:off x="838200" y="4743450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Typical QA evidence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7F5854-015D-409C-8218-61BD87561E1E}"/>
              </a:ext>
            </a:extLst>
          </p:cNvPr>
          <p:cNvSpPr>
            <a:spLocks noGrp="1"/>
          </p:cNvSpPr>
          <p:nvPr/>
        </p:nvSpPr>
        <p:spPr>
          <a:xfrm>
            <a:off x="2781300" y="4724400"/>
            <a:ext cx="3676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Table presence, structure, access path, raw to curated progression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E3AE0A-FC26-4CF4-B743-5C1A4D60B18C}"/>
              </a:ext>
            </a:extLst>
          </p:cNvPr>
          <p:cNvSpPr>
            <a:spLocks noGrp="1"/>
          </p:cNvSpPr>
          <p:nvPr/>
        </p:nvSpPr>
        <p:spPr>
          <a:xfrm>
            <a:off x="6178514" y="4724400"/>
            <a:ext cx="4984786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Query results, relational structure, downstream business readiness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8B8951-52A1-4E0C-B9F7-BAF032A9992C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1097280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9F2084-5D01-4936-A9BF-71971B0731AD}"/>
              </a:ext>
            </a:extLst>
          </p:cNvPr>
          <p:cNvSpPr>
            <a:spLocks noGrp="1"/>
          </p:cNvSpPr>
          <p:nvPr/>
        </p:nvSpPr>
        <p:spPr>
          <a:xfrm>
            <a:off x="838200" y="5276850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Common Day 1 mistake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754B4D-09C8-41DA-8FC9-6F79C4D98716}"/>
              </a:ext>
            </a:extLst>
          </p:cNvPr>
          <p:cNvSpPr>
            <a:spLocks noGrp="1"/>
          </p:cNvSpPr>
          <p:nvPr/>
        </p:nvSpPr>
        <p:spPr>
          <a:xfrm>
            <a:off x="2781300" y="5257800"/>
            <a:ext cx="3676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Assuming it behaves exactly like a relational database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5A0964-16FF-446B-88D0-FBA46385A966}"/>
              </a:ext>
            </a:extLst>
          </p:cNvPr>
          <p:cNvSpPr>
            <a:spLocks noGrp="1"/>
          </p:cNvSpPr>
          <p:nvPr/>
        </p:nvSpPr>
        <p:spPr>
          <a:xfrm>
            <a:off x="6178514" y="5257800"/>
            <a:ext cx="4984786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Ignoring item permissions and semantic exposure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0DB153-A6E6-4170-9AAC-D238EAE63362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9525"/>
          </a:xfrm>
          <a:prstGeom prst="rect">
            <a:avLst/>
          </a:prstGeom>
          <a:solidFill>
            <a:srgbClr val="DDE7EC"/>
          </a:solidFill>
          <a:ln w="0">
            <a:solidFill>
              <a:srgbClr val="DDE7EC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9B4F2B-6FEB-4D86-9C25-156C552FC21A}"/>
              </a:ext>
            </a:extLst>
          </p:cNvPr>
          <p:cNvSpPr>
            <a:spLocks noGrp="1"/>
          </p:cNvSpPr>
          <p:nvPr/>
        </p:nvSpPr>
        <p:spPr>
          <a:xfrm>
            <a:off x="838200" y="5810250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122033"/>
                </a:solidFill>
                <a:latin typeface="Lato"/>
                <a:ea typeface="Lato"/>
                <a:cs typeface="Lato"/>
              </a:rPr>
              <a:t>When to go deeper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078BA66-72A9-4F77-A09C-B86E5B4829C9}"/>
              </a:ext>
            </a:extLst>
          </p:cNvPr>
          <p:cNvSpPr>
            <a:spLocks noGrp="1"/>
          </p:cNvSpPr>
          <p:nvPr/>
        </p:nvSpPr>
        <p:spPr>
          <a:xfrm>
            <a:off x="2781300" y="5791200"/>
            <a:ext cx="3676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Module 3 when testing Delta details and consistency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1C2EB1-F7BB-4131-9E2F-C3860A33C1C8}"/>
              </a:ext>
            </a:extLst>
          </p:cNvPr>
          <p:cNvSpPr>
            <a:spLocks noGrp="1"/>
          </p:cNvSpPr>
          <p:nvPr/>
        </p:nvSpPr>
        <p:spPr>
          <a:xfrm>
            <a:off x="6178514" y="5791200"/>
            <a:ext cx="4984786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Module 3 and Module 4 when testing SQL logic and security</a:t>
            </a:r>
          </a:p>
        </p:txBody>
      </p:sp>
    </p:spTree>
    <p:extLst>
      <p:ext uri="{BB962C8B-B14F-4D97-AF65-F5344CB8AC3E}">
        <p14:creationId xmlns:p14="http://schemas.microsoft.com/office/powerpoint/2010/main" val="917191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B90B3D0-2CD7-4725-A6E4-470896D78F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E80FF3-812F-40D8-8393-42B900D143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92CD3B4-8F1A-4E53-9C00-6C6DD0A2B5D3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B56D254-0DD3-42B3-8E33-1F55A553F956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BBCC639-F5FA-4071-8C6B-1CCE4335961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3CC85B-47D5-4F8D-967A-8BB1A7B9B499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EVIDENCE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1352AA-65FD-40F7-BDCC-806D2E75E83F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D7AA1A-C31A-4142-B0B9-B52DE2356D47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Where QA evidence lives across Fabric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CF2BA5-C82F-4B61-92C2-AA64FCDE49B1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lang="en-US"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Look </a:t>
            </a:r>
            <a:r>
              <a:rPr sz="1275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for proof, not just diagrams.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BF5C81-2615-4CA3-A5DF-8B4A46F714D5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213C91-8105-4109-8043-324A8D0F3EE2}"/>
              </a:ext>
            </a:extLst>
          </p:cNvPr>
          <p:cNvSpPr>
            <a:spLocks noGrp="1"/>
          </p:cNvSpPr>
          <p:nvPr/>
        </p:nvSpPr>
        <p:spPr>
          <a:xfrm>
            <a:off x="609600" y="3124200"/>
            <a:ext cx="76200" cy="11239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3B973-A5DE-4D72-883F-4AE161DAEC11}"/>
              </a:ext>
            </a:extLst>
          </p:cNvPr>
          <p:cNvSpPr>
            <a:spLocks noGrp="1"/>
          </p:cNvSpPr>
          <p:nvPr/>
        </p:nvSpPr>
        <p:spPr>
          <a:xfrm>
            <a:off x="800100" y="32956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Data correctness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40D506-8AAE-457C-A73F-6A30E5BD74D2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Lakehouse tables, Warehouse queries, sample outputs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F26F4D5-809F-4ABA-812B-897CD69B211C}"/>
              </a:ext>
            </a:extLst>
          </p:cNvPr>
          <p:cNvSpPr>
            <a:spLocks noGrp="1"/>
          </p:cNvSpPr>
          <p:nvPr/>
        </p:nvSpPr>
        <p:spPr>
          <a:xfrm>
            <a:off x="4286250" y="312420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10D515-FC46-44C1-A1D8-F908C7914543}"/>
              </a:ext>
            </a:extLst>
          </p:cNvPr>
          <p:cNvSpPr>
            <a:spLocks noGrp="1"/>
          </p:cNvSpPr>
          <p:nvPr/>
        </p:nvSpPr>
        <p:spPr>
          <a:xfrm>
            <a:off x="4286250" y="3124200"/>
            <a:ext cx="76200" cy="112395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71704E-876A-4EF3-B30F-8E667E2D106E}"/>
              </a:ext>
            </a:extLst>
          </p:cNvPr>
          <p:cNvSpPr>
            <a:spLocks noGrp="1"/>
          </p:cNvSpPr>
          <p:nvPr/>
        </p:nvSpPr>
        <p:spPr>
          <a:xfrm>
            <a:off x="4476750" y="32956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Orchestration 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FBA6F3-92C7-4E83-930A-F9DAC1EC285A}"/>
              </a:ext>
            </a:extLst>
          </p:cNvPr>
          <p:cNvSpPr>
            <a:spLocks noGrp="1"/>
          </p:cNvSpPr>
          <p:nvPr/>
        </p:nvSpPr>
        <p:spPr>
          <a:xfrm>
            <a:off x="4476750" y="361950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Pipeline run status, dependencies, retry history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C560325-03E2-46E0-A01B-0CF3F1FDD549}"/>
              </a:ext>
            </a:extLst>
          </p:cNvPr>
          <p:cNvSpPr>
            <a:spLocks noGrp="1"/>
          </p:cNvSpPr>
          <p:nvPr/>
        </p:nvSpPr>
        <p:spPr>
          <a:xfrm>
            <a:off x="7962900" y="312420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DF4376-1130-4CA0-BD0E-62FB083B56F2}"/>
              </a:ext>
            </a:extLst>
          </p:cNvPr>
          <p:cNvSpPr>
            <a:spLocks noGrp="1"/>
          </p:cNvSpPr>
          <p:nvPr/>
        </p:nvSpPr>
        <p:spPr>
          <a:xfrm>
            <a:off x="7962900" y="3124200"/>
            <a:ext cx="76200" cy="112395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006CE4-1AF3-4C85-BA7D-6E39EEE2ED16}"/>
              </a:ext>
            </a:extLst>
          </p:cNvPr>
          <p:cNvSpPr>
            <a:spLocks noGrp="1"/>
          </p:cNvSpPr>
          <p:nvPr/>
        </p:nvSpPr>
        <p:spPr>
          <a:xfrm>
            <a:off x="8153400" y="32956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Access behavior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1DE0487-EFA3-4FF2-8FE2-76AE48DF245D}"/>
              </a:ext>
            </a:extLst>
          </p:cNvPr>
          <p:cNvSpPr>
            <a:spLocks noGrp="1"/>
          </p:cNvSpPr>
          <p:nvPr/>
        </p:nvSpPr>
        <p:spPr>
          <a:xfrm>
            <a:off x="8153400" y="361950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Workspace roles, item permissions, query visibility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89FD71A-67EC-4C5D-B5E3-E7F6734A1A9E}"/>
              </a:ext>
            </a:extLst>
          </p:cNvPr>
          <p:cNvSpPr>
            <a:spLocks noGrp="1"/>
          </p:cNvSpPr>
          <p:nvPr/>
        </p:nvSpPr>
        <p:spPr>
          <a:xfrm>
            <a:off x="2447925" y="476250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5EB6DF-28DB-4E1B-8345-2C533CF031FF}"/>
              </a:ext>
            </a:extLst>
          </p:cNvPr>
          <p:cNvSpPr>
            <a:spLocks noGrp="1"/>
          </p:cNvSpPr>
          <p:nvPr/>
        </p:nvSpPr>
        <p:spPr>
          <a:xfrm>
            <a:off x="2447925" y="4762500"/>
            <a:ext cx="76200" cy="112395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425EFB-72E7-4B5B-9B5B-159388E0181E}"/>
              </a:ext>
            </a:extLst>
          </p:cNvPr>
          <p:cNvSpPr>
            <a:spLocks noGrp="1"/>
          </p:cNvSpPr>
          <p:nvPr/>
        </p:nvSpPr>
        <p:spPr>
          <a:xfrm>
            <a:off x="2638425" y="49339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Consumption behavior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EE71E5-AB10-4AFF-986E-7A7A740D89CA}"/>
              </a:ext>
            </a:extLst>
          </p:cNvPr>
          <p:cNvSpPr>
            <a:spLocks noGrp="1"/>
          </p:cNvSpPr>
          <p:nvPr/>
        </p:nvSpPr>
        <p:spPr>
          <a:xfrm>
            <a:off x="2638425" y="525780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Semantic model structure, report access, refresh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EF57528-3422-4D88-9FF5-68664B8EECF6}"/>
              </a:ext>
            </a:extLst>
          </p:cNvPr>
          <p:cNvSpPr>
            <a:spLocks noGrp="1"/>
          </p:cNvSpPr>
          <p:nvPr/>
        </p:nvSpPr>
        <p:spPr>
          <a:xfrm>
            <a:off x="6124575" y="4762500"/>
            <a:ext cx="3333750" cy="1123950"/>
          </a:xfrm>
          <a:prstGeom prst="roundRect">
            <a:avLst>
              <a:gd name="adj" fmla="val 6780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AB3D24-4C43-44F3-AE92-054636A71465}"/>
              </a:ext>
            </a:extLst>
          </p:cNvPr>
          <p:cNvSpPr>
            <a:spLocks noGrp="1"/>
          </p:cNvSpPr>
          <p:nvPr/>
        </p:nvSpPr>
        <p:spPr>
          <a:xfrm>
            <a:off x="6124575" y="4762500"/>
            <a:ext cx="76200" cy="112395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42E02F-7688-4C65-85DA-45D9AE978BDD}"/>
              </a:ext>
            </a:extLst>
          </p:cNvPr>
          <p:cNvSpPr>
            <a:spLocks noGrp="1"/>
          </p:cNvSpPr>
          <p:nvPr/>
        </p:nvSpPr>
        <p:spPr>
          <a:xfrm>
            <a:off x="6315075" y="49339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575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Operational clues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705DDA-BE96-4CE5-8EA4-E0A39EF9DEED}"/>
              </a:ext>
            </a:extLst>
          </p:cNvPr>
          <p:cNvSpPr>
            <a:spLocks noGrp="1"/>
          </p:cNvSpPr>
          <p:nvPr/>
        </p:nvSpPr>
        <p:spPr>
          <a:xfrm>
            <a:off x="6315075" y="525780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Run history, monitoring signals, visible failure patterns</a:t>
            </a:r>
          </a:p>
        </p:txBody>
      </p:sp>
    </p:spTree>
    <p:extLst>
      <p:ext uri="{BB962C8B-B14F-4D97-AF65-F5344CB8AC3E}">
        <p14:creationId xmlns:p14="http://schemas.microsoft.com/office/powerpoint/2010/main" val="1440022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76D08BD-D51E-4DC0-A201-AC1C7E6D77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1C9B79-B5E3-4647-A1DA-FCA1C20ACA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88D2CAD-6C4B-49DE-AEAF-0CB274DEFF22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AC60E9-9CAB-4C9F-A1CA-F0B9B52F7B8A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BF365E6-BF55-4961-BAB1-1BB101C8EE90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93842F-FDF3-4D58-853E-E903398ACD26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5F2EC0-F8B8-4AB1-909F-8B91223A5C28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87C059-9ABF-43CF-B61B-4F7CBE985A7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Day 1 lab outcome and setup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374CC93-6223-46F6-A028-3E7EDE262EAD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4000500" cy="2667000"/>
          </a:xfrm>
          <a:prstGeom prst="roundRect">
            <a:avLst>
              <a:gd name="adj" fmla="val 2857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29F9FF-A975-46F0-B418-A0BE19AF0DD8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6670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FC9853-DF63-42DC-8888-9804D0244F32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Lab objective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AC05B4-DAE0-4304-93EF-6891FBFF86C4}"/>
              </a:ext>
            </a:extLst>
          </p:cNvPr>
          <p:cNvSpPr>
            <a:spLocks noGrp="1"/>
          </p:cNvSpPr>
          <p:nvPr/>
        </p:nvSpPr>
        <p:spPr>
          <a:xfrm>
            <a:off x="1066800" y="3771900"/>
            <a:ext cx="32766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091" lnSpcReduction="10000"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- Locate the major Fabric items in a sample workspace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- Recognize the difference between Lakehouse and Warehouse surfaces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- Identify where QA evidence can be collected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- Describe how customer isolation is expected to work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F2091C4-FEAF-4DEB-B2F1-1206BBEE56CE}"/>
              </a:ext>
            </a:extLst>
          </p:cNvPr>
          <p:cNvSpPr>
            <a:spLocks noGrp="1"/>
          </p:cNvSpPr>
          <p:nvPr/>
        </p:nvSpPr>
        <p:spPr>
          <a:xfrm>
            <a:off x="5143500" y="3105150"/>
            <a:ext cx="6172200" cy="26670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83EC4D-18CA-4149-BBC7-7E8648777291}"/>
              </a:ext>
            </a:extLst>
          </p:cNvPr>
          <p:cNvSpPr>
            <a:spLocks noGrp="1"/>
          </p:cNvSpPr>
          <p:nvPr/>
        </p:nvSpPr>
        <p:spPr>
          <a:xfrm>
            <a:off x="5143500" y="3105150"/>
            <a:ext cx="76200" cy="26670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980FF0-6AD3-496A-9E3D-2394CBFC4211}"/>
              </a:ext>
            </a:extLst>
          </p:cNvPr>
          <p:cNvSpPr>
            <a:spLocks noGrp="1"/>
          </p:cNvSpPr>
          <p:nvPr/>
        </p:nvSpPr>
        <p:spPr>
          <a:xfrm>
            <a:off x="5372100" y="3324958"/>
            <a:ext cx="3783622" cy="27549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Learner success looks like this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C0F2F7-5942-4D07-AF09-13609D4F5E74}"/>
              </a:ext>
            </a:extLst>
          </p:cNvPr>
          <p:cNvSpPr>
            <a:spLocks noGrp="1"/>
          </p:cNvSpPr>
          <p:nvPr/>
        </p:nvSpPr>
        <p:spPr>
          <a:xfrm>
            <a:off x="5372100" y="3771900"/>
            <a:ext cx="52959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clear list of the items found in the workspace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- One sentence describing </a:t>
            </a:r>
            <a:r>
              <a:rPr sz="1275" b="0" dirty="0" err="1">
                <a:solidFill>
                  <a:srgbClr val="122033"/>
                </a:solidFill>
                <a:latin typeface="Lato"/>
                <a:ea typeface="Lato"/>
                <a:cs typeface="Lato"/>
              </a:rPr>
              <a:t>OneLake</a:t>
            </a:r>
            <a:r>
              <a:rPr sz="1275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, Lakehouse, and Warehouse in QA terms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short set of evidence points that the learner knows how to inspect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first draft of customer isolation checks for the environment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D0A9647-ACB4-4BDF-8787-8E5CF0741728}"/>
              </a:ext>
            </a:extLst>
          </p:cNvPr>
          <p:cNvSpPr>
            <a:spLocks noGrp="1"/>
          </p:cNvSpPr>
          <p:nvPr/>
        </p:nvSpPr>
        <p:spPr>
          <a:xfrm>
            <a:off x="4210050" y="5962650"/>
            <a:ext cx="3733800" cy="304800"/>
          </a:xfrm>
          <a:prstGeom prst="roundRect">
            <a:avLst>
              <a:gd name="adj" fmla="val 25000"/>
            </a:avLst>
          </a:prstGeom>
          <a:solidFill>
            <a:srgbClr val="F2ECE3"/>
          </a:solidFill>
          <a:ln w="0">
            <a:solidFill>
              <a:srgbClr val="F2ECE3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7BA8BA-03E0-4C18-888F-9D76EC643CB4}"/>
              </a:ext>
            </a:extLst>
          </p:cNvPr>
          <p:cNvSpPr>
            <a:spLocks noGrp="1"/>
          </p:cNvSpPr>
          <p:nvPr/>
        </p:nvSpPr>
        <p:spPr>
          <a:xfrm>
            <a:off x="4343400" y="6029325"/>
            <a:ext cx="3467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22033"/>
                </a:solidFill>
                <a:latin typeface="Aptos Mono"/>
                <a:ea typeface="Aptos Mono"/>
                <a:cs typeface="Aptos Mono"/>
              </a:rPr>
              <a:t>Recommended duration: 45 to 60 minutes</a:t>
            </a:r>
          </a:p>
        </p:txBody>
      </p:sp>
    </p:spTree>
    <p:extLst>
      <p:ext uri="{BB962C8B-B14F-4D97-AF65-F5344CB8AC3E}">
        <p14:creationId xmlns:p14="http://schemas.microsoft.com/office/powerpoint/2010/main" val="267532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BB59E6B-B651-4B8B-AD7D-F28A39B351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37402F-295A-472B-8A48-8FD8AE3757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9EDF4F1-3EFA-4967-AA1F-0BE0E3A14B7D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B8C50B-7B91-40FA-B036-21D71E8B5105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7D2B0FF-69F3-4E45-BF13-2AD0B7530B3D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705B74-DC2E-48F5-A81D-844DABDC53A0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LAB STEP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875B71-D840-45AE-9A43-E30FB65D1694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6174CA-D935-4FAC-B5B8-9FE369657646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Lab step 1: Explore the workspace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4FE26CD-9610-47D9-A84E-5116C4B9F2FF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352800" cy="2781300"/>
          </a:xfrm>
          <a:prstGeom prst="roundRect">
            <a:avLst>
              <a:gd name="adj" fmla="val 2740"/>
            </a:avLst>
          </a:prstGeom>
          <a:solidFill>
            <a:srgbClr val="D7EFF0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071F16-5CEC-41FF-8730-48246D3A0DEE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B38C5A-94B1-4D24-87DB-3213858FDD48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Tasks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A6B0B1-FF08-47B6-93F3-817B23456010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26289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484"/>
          </a:bodyPr>
          <a:lstStyle/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Open the assigned Fabric workspace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List the items that are visible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Categorize each item by type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Decide which items look most relevant to QA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02C7CDE-A90B-44D0-B320-B78E0CB30073}"/>
              </a:ext>
            </a:extLst>
          </p:cNvPr>
          <p:cNvSpPr>
            <a:spLocks noGrp="1"/>
          </p:cNvSpPr>
          <p:nvPr/>
        </p:nvSpPr>
        <p:spPr>
          <a:xfrm>
            <a:off x="4419600" y="3105150"/>
            <a:ext cx="327660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85C365-1524-48D9-A2B7-D4AFCD0F28E0}"/>
              </a:ext>
            </a:extLst>
          </p:cNvPr>
          <p:cNvSpPr>
            <a:spLocks noGrp="1"/>
          </p:cNvSpPr>
          <p:nvPr/>
        </p:nvSpPr>
        <p:spPr>
          <a:xfrm>
            <a:off x="4419600" y="3105150"/>
            <a:ext cx="76200" cy="27813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941943-80BA-464A-9421-9A4AD59E8323}"/>
              </a:ext>
            </a:extLst>
          </p:cNvPr>
          <p:cNvSpPr>
            <a:spLocks noGrp="1"/>
          </p:cNvSpPr>
          <p:nvPr/>
        </p:nvSpPr>
        <p:spPr>
          <a:xfrm>
            <a:off x="4648200" y="33337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Expected observations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249DDD-08CD-4665-94D4-001BCB2D89BE}"/>
              </a:ext>
            </a:extLst>
          </p:cNvPr>
          <p:cNvSpPr>
            <a:spLocks noGrp="1"/>
          </p:cNvSpPr>
          <p:nvPr/>
        </p:nvSpPr>
        <p:spPr>
          <a:xfrm>
            <a:off x="4667250" y="3733800"/>
            <a:ext cx="25527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2917" lnSpcReduction="10000"/>
          </a:bodyPr>
          <a:lstStyle/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Workspaces are the container learners navigate first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Item naming and grouping provide strong QA clues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Different item types map to different validation surfaces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1090658-8709-4471-8105-14806F801212}"/>
              </a:ext>
            </a:extLst>
          </p:cNvPr>
          <p:cNvSpPr>
            <a:spLocks noGrp="1"/>
          </p:cNvSpPr>
          <p:nvPr/>
        </p:nvSpPr>
        <p:spPr>
          <a:xfrm>
            <a:off x="7943850" y="3105150"/>
            <a:ext cx="3371850" cy="2781300"/>
          </a:xfrm>
          <a:prstGeom prst="roundRect">
            <a:avLst>
              <a:gd name="adj" fmla="val 2740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538BCA-254D-4B38-9CB6-D0FD8FF72EB5}"/>
              </a:ext>
            </a:extLst>
          </p:cNvPr>
          <p:cNvSpPr>
            <a:spLocks noGrp="1"/>
          </p:cNvSpPr>
          <p:nvPr/>
        </p:nvSpPr>
        <p:spPr>
          <a:xfrm>
            <a:off x="7943850" y="3105150"/>
            <a:ext cx="76200" cy="27813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AF0D65-52EB-4386-AE3E-140AEB1E93E8}"/>
              </a:ext>
            </a:extLst>
          </p:cNvPr>
          <p:cNvSpPr>
            <a:spLocks noGrp="1"/>
          </p:cNvSpPr>
          <p:nvPr/>
        </p:nvSpPr>
        <p:spPr>
          <a:xfrm>
            <a:off x="817245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Learner output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BCF3CC-DD89-4767-98F8-F5277A60C34F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2647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2253"/>
          </a:bodyPr>
          <a:lstStyle/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list of items found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first pass at what each item is used for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note on how customer scope appears to be represented</a:t>
            </a:r>
          </a:p>
        </p:txBody>
      </p:sp>
    </p:spTree>
    <p:extLst>
      <p:ext uri="{BB962C8B-B14F-4D97-AF65-F5344CB8AC3E}">
        <p14:creationId xmlns:p14="http://schemas.microsoft.com/office/powerpoint/2010/main" val="1948306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3A6C3B6-3A0D-46DA-BAF2-1101335964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31C0F2-98FC-4543-8A21-FF0EE5F5FA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C3C168-0156-48E6-AB9D-CA2059FA6031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79DD01F-90FD-48C0-A349-895567FFE05D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87F35D1-3F90-4DA0-AE34-02B999BCC3E1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1E31D4-7B8E-4932-ADC0-9BE0542015B6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LAB STEP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B347B7-0FB5-4530-BAE8-F9CB60D2B98A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550F65-C4E7-497D-9A5C-26CDE32816CB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Lab step 2: Inspect the Lakehouse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1D1842-35D6-47E9-9E3E-0FE7FCD74FCD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Keep the task practical and observation-driven.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6B80591-9231-44E4-80F0-FDD288ABE528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352800" cy="2781300"/>
          </a:xfrm>
          <a:prstGeom prst="roundRect">
            <a:avLst>
              <a:gd name="adj" fmla="val 2740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5B873D-5FE0-43B6-8C6E-E635BE71C65A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AF8AFF-91E2-4A25-970D-649FA06657D5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Tasks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05726D-9B49-4821-ACA7-6F466FC80152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26289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72" lnSpcReduction="10000"/>
          </a:bodyPr>
          <a:lstStyle/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Open the Lakehouse item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Review visible files and tables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Check which access paths are available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Identify one likely raw or staging table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8E6135-2912-4CE1-8228-03633BDD9264}"/>
              </a:ext>
            </a:extLst>
          </p:cNvPr>
          <p:cNvSpPr>
            <a:spLocks noGrp="1"/>
          </p:cNvSpPr>
          <p:nvPr/>
        </p:nvSpPr>
        <p:spPr>
          <a:xfrm>
            <a:off x="4419600" y="3105150"/>
            <a:ext cx="327660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0C6113-77B9-43A6-AE11-060304E99FD4}"/>
              </a:ext>
            </a:extLst>
          </p:cNvPr>
          <p:cNvSpPr>
            <a:spLocks noGrp="1"/>
          </p:cNvSpPr>
          <p:nvPr/>
        </p:nvSpPr>
        <p:spPr>
          <a:xfrm>
            <a:off x="4419600" y="3105150"/>
            <a:ext cx="76200" cy="27813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519FBA-60B5-4EB9-A7DE-645D154508F2}"/>
              </a:ext>
            </a:extLst>
          </p:cNvPr>
          <p:cNvSpPr>
            <a:spLocks noGrp="1"/>
          </p:cNvSpPr>
          <p:nvPr/>
        </p:nvSpPr>
        <p:spPr>
          <a:xfrm>
            <a:off x="4648200" y="33337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Expected observations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F5E0CE-A7AC-469E-AB0A-B3B8117815EA}"/>
              </a:ext>
            </a:extLst>
          </p:cNvPr>
          <p:cNvSpPr>
            <a:spLocks noGrp="1"/>
          </p:cNvSpPr>
          <p:nvPr/>
        </p:nvSpPr>
        <p:spPr>
          <a:xfrm>
            <a:off x="4667250" y="3733800"/>
            <a:ext cx="25527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0000" lnSpcReduction="10000"/>
          </a:bodyPr>
          <a:lstStyle/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Lakehouse combines file and table views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Data may be inspectable through SQL endpoint, notebooks, or table views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The structure often hints at Bronze, Silver, or Gold style progression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59B2B34-F44D-4296-A756-23689613D45D}"/>
              </a:ext>
            </a:extLst>
          </p:cNvPr>
          <p:cNvSpPr>
            <a:spLocks noGrp="1"/>
          </p:cNvSpPr>
          <p:nvPr/>
        </p:nvSpPr>
        <p:spPr>
          <a:xfrm>
            <a:off x="7943850" y="3105150"/>
            <a:ext cx="3371850" cy="2781300"/>
          </a:xfrm>
          <a:prstGeom prst="roundRect">
            <a:avLst>
              <a:gd name="adj" fmla="val 2740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7A448A-F0D0-4BB4-ABA3-805BEE6EE73C}"/>
              </a:ext>
            </a:extLst>
          </p:cNvPr>
          <p:cNvSpPr>
            <a:spLocks noGrp="1"/>
          </p:cNvSpPr>
          <p:nvPr/>
        </p:nvSpPr>
        <p:spPr>
          <a:xfrm>
            <a:off x="7943850" y="3105150"/>
            <a:ext cx="76200" cy="27813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424B53-3062-4AA1-B38C-FCF23035658D}"/>
              </a:ext>
            </a:extLst>
          </p:cNvPr>
          <p:cNvSpPr>
            <a:spLocks noGrp="1"/>
          </p:cNvSpPr>
          <p:nvPr/>
        </p:nvSpPr>
        <p:spPr>
          <a:xfrm>
            <a:off x="817245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Learner output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3B0B71-CC12-4926-9A32-9F44718A37B4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2647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6578" lnSpcReduction="20000"/>
          </a:bodyPr>
          <a:lstStyle/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One short description of the Lakehouse in QA terms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One example of a table or asset worth validating later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note on how the Lakehouse can be inspected</a:t>
            </a:r>
          </a:p>
        </p:txBody>
      </p:sp>
    </p:spTree>
    <p:extLst>
      <p:ext uri="{BB962C8B-B14F-4D97-AF65-F5344CB8AC3E}">
        <p14:creationId xmlns:p14="http://schemas.microsoft.com/office/powerpoint/2010/main" val="2008780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F269093-5D24-46FC-AE1D-8FFE8D9277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10158D-A84C-4EB3-B0B5-C2D760542D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B88531C-89C6-4566-A140-265312AEDE1C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286D81-5681-45AB-8BBD-405CA648BB22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81E482-3A4A-4B86-9A8B-7DC010A5914D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A18A7B-332F-4499-98E7-098A0D10E571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LAB STEP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796A9A-B800-4B4D-90B8-7B9905C3D220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6797B2-C818-4EB2-BECB-E986D758CFAB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Lab step 3: Inspect the Warehouse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52E6A5-F305-4481-B937-F48BBA0D686E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Keep the task practical and observation-driven.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40FC91A-7FB1-45F1-9B9D-812034868023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352800" cy="2781300"/>
          </a:xfrm>
          <a:prstGeom prst="roundRect">
            <a:avLst>
              <a:gd name="adj" fmla="val 2740"/>
            </a:avLst>
          </a:prstGeom>
          <a:solidFill>
            <a:srgbClr val="F5E7C5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CB216E-1C92-4254-93EB-5B8D752A8BF6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0D1DA3-9253-409D-AE96-27C2250FE85D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Tasks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B95581-8667-4D5B-B524-B2E1BED04902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26289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7622" lnSpcReduction="10000"/>
          </a:bodyPr>
          <a:lstStyle/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Open the Warehouse item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Review schemas and tables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Open the SQL query editor if available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Note whether a default semantic model exists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B10811-8AED-463D-A21F-8F687D52B048}"/>
              </a:ext>
            </a:extLst>
          </p:cNvPr>
          <p:cNvSpPr>
            <a:spLocks noGrp="1"/>
          </p:cNvSpPr>
          <p:nvPr/>
        </p:nvSpPr>
        <p:spPr>
          <a:xfrm>
            <a:off x="4419600" y="3105150"/>
            <a:ext cx="327660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C48F24-56FF-45E0-A0AF-05056D3A9BEB}"/>
              </a:ext>
            </a:extLst>
          </p:cNvPr>
          <p:cNvSpPr>
            <a:spLocks noGrp="1"/>
          </p:cNvSpPr>
          <p:nvPr/>
        </p:nvSpPr>
        <p:spPr>
          <a:xfrm>
            <a:off x="4419600" y="3105150"/>
            <a:ext cx="76200" cy="27813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F91F3D-92D5-42F4-9502-4724995ECEF9}"/>
              </a:ext>
            </a:extLst>
          </p:cNvPr>
          <p:cNvSpPr>
            <a:spLocks noGrp="1"/>
          </p:cNvSpPr>
          <p:nvPr/>
        </p:nvSpPr>
        <p:spPr>
          <a:xfrm>
            <a:off x="4648200" y="333375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Expected observations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CF63A1-B3F2-402B-8409-DC74E4E001E5}"/>
              </a:ext>
            </a:extLst>
          </p:cNvPr>
          <p:cNvSpPr>
            <a:spLocks noGrp="1"/>
          </p:cNvSpPr>
          <p:nvPr/>
        </p:nvSpPr>
        <p:spPr>
          <a:xfrm>
            <a:off x="4667250" y="3733800"/>
            <a:ext cx="25527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116" lnSpcReduction="10000"/>
          </a:bodyPr>
          <a:lstStyle/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Warehouse is the SQL-centric validation surface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Schemas and tables are usually closer to business-ready analytics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The query editor is a natural place for later validation work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037E13-F083-44F5-917B-D28BB966F794}"/>
              </a:ext>
            </a:extLst>
          </p:cNvPr>
          <p:cNvSpPr>
            <a:spLocks noGrp="1"/>
          </p:cNvSpPr>
          <p:nvPr/>
        </p:nvSpPr>
        <p:spPr>
          <a:xfrm>
            <a:off x="7943850" y="3105150"/>
            <a:ext cx="3371850" cy="2781300"/>
          </a:xfrm>
          <a:prstGeom prst="roundRect">
            <a:avLst>
              <a:gd name="adj" fmla="val 2740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5356D7-EF44-456B-92FC-325AF7398A7D}"/>
              </a:ext>
            </a:extLst>
          </p:cNvPr>
          <p:cNvSpPr>
            <a:spLocks noGrp="1"/>
          </p:cNvSpPr>
          <p:nvPr/>
        </p:nvSpPr>
        <p:spPr>
          <a:xfrm>
            <a:off x="7943850" y="3105150"/>
            <a:ext cx="76200" cy="27813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340482-CF76-4C9D-80B0-1F0A7F6EA964}"/>
              </a:ext>
            </a:extLst>
          </p:cNvPr>
          <p:cNvSpPr>
            <a:spLocks noGrp="1"/>
          </p:cNvSpPr>
          <p:nvPr/>
        </p:nvSpPr>
        <p:spPr>
          <a:xfrm>
            <a:off x="817245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Learner output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D24D9A-6AD8-4C2E-ACC9-5BFF45DAF7AB}"/>
              </a:ext>
            </a:extLst>
          </p:cNvPr>
          <p:cNvSpPr>
            <a:spLocks noGrp="1"/>
          </p:cNvSpPr>
          <p:nvPr/>
        </p:nvSpPr>
        <p:spPr>
          <a:xfrm>
            <a:off x="8191500" y="3733800"/>
            <a:ext cx="2647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2917" lnSpcReduction="10000"/>
          </a:bodyPr>
          <a:lstStyle/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One short description of the Warehouse in QA terms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One example of a query or output worth validating later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 note on the semantic or reporting path attached to the Warehouse</a:t>
            </a:r>
          </a:p>
        </p:txBody>
      </p:sp>
    </p:spTree>
    <p:extLst>
      <p:ext uri="{BB962C8B-B14F-4D97-AF65-F5344CB8AC3E}">
        <p14:creationId xmlns:p14="http://schemas.microsoft.com/office/powerpoint/2010/main" val="900336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C79FFE3-189F-4721-AA8F-C6B5E092DA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5B2C9B-62F2-4830-B8AB-5A7EDCF919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7DEB4CA-99CC-441C-89DD-4300B3B2DAC2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EFFCC5D-3A41-4A37-84CE-B4BF416CE540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338A985-A821-4FB8-B371-CE9FB92F41A5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B35034-67EB-490D-AEE0-0406C99EC6FB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LAB STEP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58F62C-A45F-45D1-AF87-D51E717E0609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011FE1-AC08-4BA1-AD71-3DD70FE70C2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Lab step 4: Validate isolation assumptions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66729F-EF0F-4FD3-9EA9-1A7C0A30FF8E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Move from architecture assumptions to testable checks.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18BE907-E506-418C-A740-E451CDFC74CB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3429000" cy="2781300"/>
          </a:xfrm>
          <a:prstGeom prst="roundRect">
            <a:avLst>
              <a:gd name="adj" fmla="val 2740"/>
            </a:avLst>
          </a:prstGeom>
          <a:solidFill>
            <a:srgbClr val="F7DED8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0402D1-1203-47E9-844D-5D5DD0A565BF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FBC30B-5FF0-4CE3-B372-84DC5ADBA07B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Positive checks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55619B-8AF6-4DE0-A8A7-F7D5E8648E96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27051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2917" lnSpcReduction="10000"/>
          </a:bodyPr>
          <a:lstStyle/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Expected users can see the right workspace and items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The customer workspace contains the intended Fabric assets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Normal access paths work without unexpected denial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31247EE-8E29-4641-A0C0-0A99305C7CF5}"/>
              </a:ext>
            </a:extLst>
          </p:cNvPr>
          <p:cNvSpPr>
            <a:spLocks noGrp="1"/>
          </p:cNvSpPr>
          <p:nvPr/>
        </p:nvSpPr>
        <p:spPr>
          <a:xfrm>
            <a:off x="4495800" y="3105150"/>
            <a:ext cx="3429000" cy="2781300"/>
          </a:xfrm>
          <a:prstGeom prst="roundRect">
            <a:avLst>
              <a:gd name="adj" fmla="val 2740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159605-363F-402A-9D8A-BA3AC19DEC61}"/>
              </a:ext>
            </a:extLst>
          </p:cNvPr>
          <p:cNvSpPr>
            <a:spLocks noGrp="1"/>
          </p:cNvSpPr>
          <p:nvPr/>
        </p:nvSpPr>
        <p:spPr>
          <a:xfrm>
            <a:off x="4495800" y="3105150"/>
            <a:ext cx="76200" cy="27813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8097BF-241A-494F-A666-474CF72B9569}"/>
              </a:ext>
            </a:extLst>
          </p:cNvPr>
          <p:cNvSpPr>
            <a:spLocks noGrp="1"/>
          </p:cNvSpPr>
          <p:nvPr/>
        </p:nvSpPr>
        <p:spPr>
          <a:xfrm>
            <a:off x="472440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Negative checks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8D5381-E9B2-403E-A519-957F55064F09}"/>
              </a:ext>
            </a:extLst>
          </p:cNvPr>
          <p:cNvSpPr>
            <a:spLocks noGrp="1"/>
          </p:cNvSpPr>
          <p:nvPr/>
        </p:nvSpPr>
        <p:spPr>
          <a:xfrm>
            <a:off x="4743450" y="3733800"/>
            <a:ext cx="27051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72917" lnSpcReduction="10000"/>
          </a:bodyPr>
          <a:lstStyle/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Users cannot see another customer's workspace or items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Unauthorized paths do not expose data through SQL or reports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Permissions do not accidentally widen through shared item settings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42F676D-4E95-4C65-9091-95FE7BD390EB}"/>
              </a:ext>
            </a:extLst>
          </p:cNvPr>
          <p:cNvSpPr>
            <a:spLocks noGrp="1"/>
          </p:cNvSpPr>
          <p:nvPr/>
        </p:nvSpPr>
        <p:spPr>
          <a:xfrm>
            <a:off x="8172450" y="3105150"/>
            <a:ext cx="314325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03A094-8EB7-4333-AFEE-8BDAD47B6284}"/>
              </a:ext>
            </a:extLst>
          </p:cNvPr>
          <p:cNvSpPr>
            <a:spLocks noGrp="1"/>
          </p:cNvSpPr>
          <p:nvPr/>
        </p:nvSpPr>
        <p:spPr>
          <a:xfrm>
            <a:off x="81724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999B3E-C824-4E32-BF30-D8AD86BD0711}"/>
              </a:ext>
            </a:extLst>
          </p:cNvPr>
          <p:cNvSpPr>
            <a:spLocks noGrp="1"/>
          </p:cNvSpPr>
          <p:nvPr/>
        </p:nvSpPr>
        <p:spPr>
          <a:xfrm>
            <a:off x="840105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Record evidence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8F3F18-8441-42EF-A9E2-2AC0855D520B}"/>
              </a:ext>
            </a:extLst>
          </p:cNvPr>
          <p:cNvSpPr>
            <a:spLocks noGrp="1"/>
          </p:cNvSpPr>
          <p:nvPr/>
        </p:nvSpPr>
        <p:spPr>
          <a:xfrm>
            <a:off x="8420100" y="3733800"/>
            <a:ext cx="24193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278" lnSpcReduction="10000"/>
          </a:bodyPr>
          <a:lstStyle/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Visible items by user or role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Successful and denied access attempts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Any mismatch between expected and observed behavior</a:t>
            </a:r>
          </a:p>
          <a:p>
            <a:pPr algn="l">
              <a:defRPr sz="1200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Questions to revisit in the security module</a:t>
            </a:r>
          </a:p>
        </p:txBody>
      </p:sp>
    </p:spTree>
    <p:extLst>
      <p:ext uri="{BB962C8B-B14F-4D97-AF65-F5344CB8AC3E}">
        <p14:creationId xmlns:p14="http://schemas.microsoft.com/office/powerpoint/2010/main" val="153946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8909DCA-2C97-436D-B7B1-7DD722047F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2AC4FE-170D-470A-ABD0-1DE78C030C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0E24521-812C-4600-9FBD-5D5DFBE00514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35CD53E-E31E-4276-81AE-9B20D27F2985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8C6DBA-A0C6-476A-849D-A2D0E07502D7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ECF172-32D4-4970-8BA7-9611BA4B87C2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PITFALLS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062B63-54A7-4F4E-9C18-D988680CA7CB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06E86D-BA6A-4B82-8FA6-7ED101AF0958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Common Day 1 mistakes and quick wins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39A8FE-EA5F-40CE-9A75-AA042FA74734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A little context prevents a lot of bad testing assumptions later.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C8B1054-5686-414D-9717-FDF1C3E66A0E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5029200" cy="2781300"/>
          </a:xfrm>
          <a:prstGeom prst="roundRect">
            <a:avLst>
              <a:gd name="adj" fmla="val 2740"/>
            </a:avLst>
          </a:prstGeom>
          <a:solidFill>
            <a:srgbClr val="F6E2DE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A2708-A4AC-4CBB-85E6-D28FF31076DA}"/>
              </a:ext>
            </a:extLst>
          </p:cNvPr>
          <p:cNvSpPr>
            <a:spLocks noGrp="1"/>
          </p:cNvSpPr>
          <p:nvPr/>
        </p:nvSpPr>
        <p:spPr>
          <a:xfrm>
            <a:off x="819150" y="3105150"/>
            <a:ext cx="76200" cy="2781300"/>
          </a:xfrm>
          <a:prstGeom prst="rect">
            <a:avLst/>
          </a:prstGeom>
          <a:solidFill>
            <a:srgbClr val="DF6B57"/>
          </a:solidFill>
          <a:ln w="0">
            <a:solidFill>
              <a:srgbClr val="DF6B5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32381-C52B-469F-8EA6-E568BC414A47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Common mistakes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1F6EE4-19C7-46E2-B8A6-D1F8770F870D}"/>
              </a:ext>
            </a:extLst>
          </p:cNvPr>
          <p:cNvSpPr>
            <a:spLocks noGrp="1"/>
          </p:cNvSpPr>
          <p:nvPr/>
        </p:nvSpPr>
        <p:spPr>
          <a:xfrm>
            <a:off x="1066800" y="3733800"/>
            <a:ext cx="42100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1503" lnSpcReduction="10000"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Treating all Fabric data surfaces like a classic SQL database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Assuming workspace access automatically proves correct data access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Looking only at the final report instead of upstream items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Jumping into test cases before understanding where evidence lives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F5B7072-E9FE-4632-996E-9CBD26DA5755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5124450" cy="2781300"/>
          </a:xfrm>
          <a:prstGeom prst="roundRect">
            <a:avLst>
              <a:gd name="adj" fmla="val 2740"/>
            </a:avLst>
          </a:prstGeom>
          <a:solidFill>
            <a:srgbClr val="E1F1EA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0B818-2125-47FE-BCA7-8C912CCA2643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76200" cy="27813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7973BA-7F55-41D9-93C9-1C5DB2F70839}"/>
              </a:ext>
            </a:extLst>
          </p:cNvPr>
          <p:cNvSpPr>
            <a:spLocks noGrp="1"/>
          </p:cNvSpPr>
          <p:nvPr/>
        </p:nvSpPr>
        <p:spPr>
          <a:xfrm>
            <a:off x="6419850" y="33337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Quick wins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594A5B-F8E5-46CE-BC96-2E4A1D27E58B}"/>
              </a:ext>
            </a:extLst>
          </p:cNvPr>
          <p:cNvSpPr>
            <a:spLocks noGrp="1"/>
          </p:cNvSpPr>
          <p:nvPr/>
        </p:nvSpPr>
        <p:spPr>
          <a:xfrm>
            <a:off x="6438900" y="3733800"/>
            <a:ext cx="43053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Follow one dataset across the workspace before testing everything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Document how each item type is inspected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Record both successful and denied access behavior</a:t>
            </a:r>
          </a:p>
          <a:p>
            <a:pPr algn="l">
              <a:defRPr sz="1275" b="0">
                <a:solidFill>
                  <a:srgbClr val="12203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22033"/>
                </a:solidFill>
                <a:latin typeface="Lato"/>
                <a:ea typeface="Lato"/>
                <a:cs typeface="Lato"/>
              </a:rPr>
              <a:t>- Use Day 1 findings to shape later validation checklists</a:t>
            </a:r>
          </a:p>
        </p:txBody>
      </p:sp>
    </p:spTree>
    <p:extLst>
      <p:ext uri="{BB962C8B-B14F-4D97-AF65-F5344CB8AC3E}">
        <p14:creationId xmlns:p14="http://schemas.microsoft.com/office/powerpoint/2010/main" val="881202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0364484-377F-468B-9273-0A83EE9C6A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 w="0">
            <a:solidFill>
              <a:srgbClr val="F7F3EC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A8E875-F745-40CB-94D5-9534819E77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DCE827E-6B41-4FFE-AE4F-1B0611207100}"/>
              </a:ext>
            </a:extLst>
          </p:cNvPr>
          <p:cNvSpPr>
            <a:spLocks noGrp="1"/>
          </p:cNvSpPr>
          <p:nvPr/>
        </p:nvSpPr>
        <p:spPr>
          <a:xfrm>
            <a:off x="10287000" y="-666750"/>
            <a:ext cx="2381250" cy="2381250"/>
          </a:xfrm>
          <a:prstGeom prst="ellipse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125B2F5-6E07-4621-9363-9C8B81189BD0}"/>
              </a:ext>
            </a:extLst>
          </p:cNvPr>
          <p:cNvSpPr>
            <a:spLocks noGrp="1"/>
          </p:cNvSpPr>
          <p:nvPr/>
        </p:nvSpPr>
        <p:spPr>
          <a:xfrm>
            <a:off x="11144250" y="228600"/>
            <a:ext cx="914400" cy="914400"/>
          </a:xfrm>
          <a:prstGeom prst="ellipse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9D1B568-4A03-4FE4-99E2-2ED0E4F26A95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752600" cy="304800"/>
          </a:xfrm>
          <a:prstGeom prst="roundRect">
            <a:avLst>
              <a:gd name="adj" fmla="val 25000"/>
            </a:avLst>
          </a:prstGeom>
          <a:solidFill>
            <a:srgbClr val="D7EFF0"/>
          </a:solidFill>
          <a:ln w="0">
            <a:solidFill>
              <a:srgbClr val="D7EFF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CC7DF4-F69B-40C0-91AC-7F5477A7F4D8}"/>
              </a:ext>
            </a:extLst>
          </p:cNvPr>
          <p:cNvSpPr>
            <a:spLocks noGrp="1"/>
          </p:cNvSpPr>
          <p:nvPr/>
        </p:nvSpPr>
        <p:spPr>
          <a:xfrm>
            <a:off x="742950" y="1133475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E7C86"/>
                </a:solidFill>
                <a:latin typeface="Aptos Mono"/>
                <a:ea typeface="Aptos Mono"/>
                <a:cs typeface="Aptos Mono"/>
              </a:rPr>
              <a:t>RECAP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F9AE7D-675A-4B67-91CF-5115A56DF57A}"/>
              </a:ext>
            </a:extLst>
          </p:cNvPr>
          <p:cNvSpPr>
            <a:spLocks noGrp="1"/>
          </p:cNvSpPr>
          <p:nvPr/>
        </p:nvSpPr>
        <p:spPr>
          <a:xfrm>
            <a:off x="10820400" y="304800"/>
            <a:ext cx="647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AAB0AA-8375-4ED4-AFF1-049579085D6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001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Recap and transition to Module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1D3475-F337-40BA-AF84-5A6B03327A0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8763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5606D"/>
                </a:solidFill>
                <a:latin typeface="Lato"/>
                <a:ea typeface="Lato"/>
                <a:cs typeface="Lato"/>
              </a:rPr>
              <a:t>Day 1 gives learners a map; Module 2 turns that map into data quality testing.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19A7204-E9FF-43D8-87BE-D8EC78C12E38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C4C676-1FA4-4C1B-9ACF-772DFEDF5AD9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76200" cy="10668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9DCE9B-5AE9-47D1-A7D5-C55D87B8DA8D}"/>
              </a:ext>
            </a:extLst>
          </p:cNvPr>
          <p:cNvSpPr>
            <a:spLocks noGrp="1"/>
          </p:cNvSpPr>
          <p:nvPr/>
        </p:nvSpPr>
        <p:spPr>
          <a:xfrm>
            <a:off x="1028700" y="3314700"/>
            <a:ext cx="3810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Fabric is a connected platform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4C8CAF-5D36-4793-8BEA-E2261F445C04}"/>
              </a:ext>
            </a:extLst>
          </p:cNvPr>
          <p:cNvSpPr>
            <a:spLocks noGrp="1"/>
          </p:cNvSpPr>
          <p:nvPr/>
        </p:nvSpPr>
        <p:spPr>
          <a:xfrm>
            <a:off x="1028700" y="3746988"/>
            <a:ext cx="436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QA follows evidence across multiple items, not one database.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F81772F-9C05-4644-877B-02CCA51E45B0}"/>
              </a:ext>
            </a:extLst>
          </p:cNvPr>
          <p:cNvSpPr>
            <a:spLocks noGrp="1"/>
          </p:cNvSpPr>
          <p:nvPr/>
        </p:nvSpPr>
        <p:spPr>
          <a:xfrm>
            <a:off x="6038850" y="314325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99E48E-017F-4204-9FB0-6F5EDAE28230}"/>
              </a:ext>
            </a:extLst>
          </p:cNvPr>
          <p:cNvSpPr>
            <a:spLocks noGrp="1"/>
          </p:cNvSpPr>
          <p:nvPr/>
        </p:nvSpPr>
        <p:spPr>
          <a:xfrm>
            <a:off x="6038850" y="3143250"/>
            <a:ext cx="76200" cy="10668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895B28-749E-4786-9E3D-6CEC141A7724}"/>
              </a:ext>
            </a:extLst>
          </p:cNvPr>
          <p:cNvSpPr>
            <a:spLocks noGrp="1"/>
          </p:cNvSpPr>
          <p:nvPr/>
        </p:nvSpPr>
        <p:spPr>
          <a:xfrm>
            <a:off x="6248400" y="331470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Workspaces matter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948AE1A-2C7C-4C75-8B33-5904AB62E81A}"/>
              </a:ext>
            </a:extLst>
          </p:cNvPr>
          <p:cNvSpPr>
            <a:spLocks noGrp="1"/>
          </p:cNvSpPr>
          <p:nvPr/>
        </p:nvSpPr>
        <p:spPr>
          <a:xfrm>
            <a:off x="6248400" y="3743325"/>
            <a:ext cx="436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441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 dirty="0">
                <a:solidFill>
                  <a:srgbClr val="55606D"/>
                </a:solidFill>
                <a:latin typeface="Lato"/>
                <a:ea typeface="Lato"/>
                <a:cs typeface="Lato"/>
              </a:rPr>
              <a:t>Customer isolation starts with clear workspace and item boundaries.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6566C87-923E-49AD-9350-F3A13FA53D61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FFDFC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4147E0-4925-47AD-B5C9-9E12986311F6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76200" cy="10668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6C6EED-B097-49D1-AC8A-B7280A97C8C2}"/>
              </a:ext>
            </a:extLst>
          </p:cNvPr>
          <p:cNvSpPr>
            <a:spLocks noGrp="1"/>
          </p:cNvSpPr>
          <p:nvPr/>
        </p:nvSpPr>
        <p:spPr>
          <a:xfrm>
            <a:off x="1028700" y="4591050"/>
            <a:ext cx="3733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 dirty="0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Lakehouse and Warehouse differ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1150BA-4DF8-4683-BA7E-7479EB151054}"/>
              </a:ext>
            </a:extLst>
          </p:cNvPr>
          <p:cNvSpPr>
            <a:spLocks noGrp="1"/>
          </p:cNvSpPr>
          <p:nvPr/>
        </p:nvSpPr>
        <p:spPr>
          <a:xfrm>
            <a:off x="1028700" y="4914900"/>
            <a:ext cx="436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9566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The validation path depends on the storage and compute surface.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61496C1-B3F0-424F-A4BB-51B9E136DCAB}"/>
              </a:ext>
            </a:extLst>
          </p:cNvPr>
          <p:cNvSpPr>
            <a:spLocks noGrp="1"/>
          </p:cNvSpPr>
          <p:nvPr/>
        </p:nvSpPr>
        <p:spPr>
          <a:xfrm>
            <a:off x="6038850" y="4419600"/>
            <a:ext cx="4953000" cy="1066800"/>
          </a:xfrm>
          <a:prstGeom prst="roundRect">
            <a:avLst>
              <a:gd name="adj" fmla="val 7143"/>
            </a:avLst>
          </a:prstGeom>
          <a:solidFill>
            <a:srgbClr val="F2ECE3"/>
          </a:solidFill>
          <a:ln w="9525">
            <a:solidFill>
              <a:srgbClr val="DDE7E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83130A-A24B-4FD6-98BD-3C7BBF13B946}"/>
              </a:ext>
            </a:extLst>
          </p:cNvPr>
          <p:cNvSpPr>
            <a:spLocks noGrp="1"/>
          </p:cNvSpPr>
          <p:nvPr/>
        </p:nvSpPr>
        <p:spPr>
          <a:xfrm>
            <a:off x="6038850" y="4419600"/>
            <a:ext cx="76200" cy="1066800"/>
          </a:xfrm>
          <a:prstGeom prst="rect">
            <a:avLst/>
          </a:prstGeom>
          <a:solidFill>
            <a:srgbClr val="D59A2C"/>
          </a:solidFill>
          <a:ln w="0">
            <a:solidFill>
              <a:srgbClr val="D59A2C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60280F-0D30-4A44-A3A7-FC60BD152BC1}"/>
              </a:ext>
            </a:extLst>
          </p:cNvPr>
          <p:cNvSpPr>
            <a:spLocks noGrp="1"/>
          </p:cNvSpPr>
          <p:nvPr/>
        </p:nvSpPr>
        <p:spPr>
          <a:xfrm>
            <a:off x="6248400" y="45910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22033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22033"/>
                </a:solidFill>
                <a:latin typeface="Caladea"/>
                <a:ea typeface="Caladea"/>
                <a:cs typeface="Caladea"/>
              </a:rPr>
              <a:t>Navigation comes first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0AB843-4024-4C37-B2FF-BD8E2FB59BE6}"/>
              </a:ext>
            </a:extLst>
          </p:cNvPr>
          <p:cNvSpPr>
            <a:spLocks noGrp="1"/>
          </p:cNvSpPr>
          <p:nvPr/>
        </p:nvSpPr>
        <p:spPr>
          <a:xfrm>
            <a:off x="6248400" y="4914900"/>
            <a:ext cx="4362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666"/>
          </a:bodyPr>
          <a:lstStyle/>
          <a:p>
            <a:pPr algn="l">
              <a:defRPr sz="1200" b="0">
                <a:solidFill>
                  <a:srgbClr val="55606D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5606D"/>
                </a:solidFill>
                <a:latin typeface="Lato"/>
                <a:ea typeface="Lato"/>
                <a:cs typeface="Lato"/>
              </a:rPr>
              <a:t>Confident exploration makes later hands-on work faster and cleaner.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7B7C8CE-2AB2-4272-8E5D-A675F7A72628}"/>
              </a:ext>
            </a:extLst>
          </p:cNvPr>
          <p:cNvSpPr>
            <a:spLocks noGrp="1"/>
          </p:cNvSpPr>
          <p:nvPr/>
        </p:nvSpPr>
        <p:spPr>
          <a:xfrm>
            <a:off x="819150" y="5810250"/>
            <a:ext cx="10496550" cy="552450"/>
          </a:xfrm>
          <a:prstGeom prst="roundRect">
            <a:avLst>
              <a:gd name="adj" fmla="val 13793"/>
            </a:avLst>
          </a:prstGeom>
          <a:solidFill>
            <a:srgbClr val="0F1B2D"/>
          </a:solidFill>
          <a:ln w="0">
            <a:solidFill>
              <a:srgbClr val="0F1B2D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7A6022-343A-45EB-9151-D2E60AAC4C5B}"/>
              </a:ext>
            </a:extLst>
          </p:cNvPr>
          <p:cNvSpPr>
            <a:spLocks noGrp="1"/>
          </p:cNvSpPr>
          <p:nvPr/>
        </p:nvSpPr>
        <p:spPr>
          <a:xfrm>
            <a:off x="1104900" y="5962650"/>
            <a:ext cx="990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Next up: Module 2 focuses on data validation, quality checks, medallion layers, and turning observations into test cases.</a:t>
            </a:r>
          </a:p>
        </p:txBody>
      </p:sp>
    </p:spTree>
    <p:extLst>
      <p:ext uri="{BB962C8B-B14F-4D97-AF65-F5344CB8AC3E}">
        <p14:creationId xmlns:p14="http://schemas.microsoft.com/office/powerpoint/2010/main" val="2072623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7671</Words>
  <Application>Microsoft Macintosh PowerPoint</Application>
  <DocSecurity>0</DocSecurity>
  <PresentationFormat>Widescreen</PresentationFormat>
  <Paragraphs>1355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 Mono</vt:lpstr>
      <vt:lpstr>Caladea</vt:lpstr>
      <vt:lpstr>Calibri</vt:lpstr>
      <vt:lpstr>Lato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Kishore Chowdary</cp:lastModifiedBy>
  <cp:revision>2</cp:revision>
  <dcterms:created xsi:type="dcterms:W3CDTF">2026-04-28T07:53:25Z</dcterms:created>
  <dcterms:modified xsi:type="dcterms:W3CDTF">2026-04-30T07:40:20Z</dcterms:modified>
</cp:coreProperties>
</file>