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76316"/>
  </p:normalViewPr>
  <p:slideViewPr>
    <p:cSldViewPr snapToGrid="0">
      <p:cViewPr varScale="1">
        <p:scale>
          <a:sx n="107" d="100"/>
          <a:sy n="107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-30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4: Pipeline, Semantic Model &amp; Security Testing"</a:t>
            </a:r>
          </a:p>
          <a:p>
            <a:r>
              <a:rPr lang="en-IN" dirty="0"/>
              <a:t>This slide is answering the Day 4 kickoff question:</a:t>
            </a:r>
          </a:p>
          <a:p>
            <a:r>
              <a:rPr lang="en-IN" dirty="0"/>
              <a:t>❓ "What does QA need to prove after storage and data-quality validation are already in place?"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Day 4 is the bridge between engineering validation and user-facing trust.</a:t>
            </a:r>
          </a:p>
          <a:p>
            <a:r>
              <a:rPr lang="en-IN" dirty="0"/>
              <a:t>The module is about proving that:</a:t>
            </a:r>
          </a:p>
          <a:p>
            <a:r>
              <a:rPr lang="en-IN" dirty="0"/>
              <a:t>The pipeline ran correctly</a:t>
            </a:r>
          </a:p>
          <a:p>
            <a:r>
              <a:rPr lang="en-IN" dirty="0"/>
              <a:t>The report is right</a:t>
            </a:r>
          </a:p>
          <a:p>
            <a:r>
              <a:rPr lang="en-IN" dirty="0"/>
              <a:t>Restricted users stay in their lane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1. The Focus Shifts to Business-Facing Surfaces</a:t>
            </a:r>
          </a:p>
          <a:p>
            <a:r>
              <a:rPr lang="en-IN" dirty="0"/>
              <a:t>Today QA starts validating:</a:t>
            </a:r>
          </a:p>
          <a:p>
            <a:r>
              <a:rPr lang="en-IN" dirty="0"/>
              <a:t>Run-history evidence</a:t>
            </a:r>
          </a:p>
          <a:p>
            <a:r>
              <a:rPr lang="en-IN" dirty="0"/>
              <a:t>Semantic-model behavior</a:t>
            </a:r>
          </a:p>
          <a:p>
            <a:r>
              <a:rPr lang="en-IN" dirty="0"/>
              <a:t>Report correctness</a:t>
            </a:r>
          </a:p>
          <a:p>
            <a:r>
              <a:rPr lang="en-IN" dirty="0"/>
              <a:t>Row-level security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means QA is no longer checking only backend data. QA is testing what the business and support teams actually experience.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2. The Outcomes Define the Work</a:t>
            </a:r>
          </a:p>
          <a:p>
            <a:r>
              <a:rPr lang="en-IN" dirty="0"/>
              <a:t>By the end of the module, learners should be able to:</a:t>
            </a:r>
          </a:p>
          <a:p>
            <a:r>
              <a:rPr lang="en-IN" dirty="0"/>
              <a:t>Validate pipeline success, failure, and rerun behavior</a:t>
            </a:r>
          </a:p>
          <a:p>
            <a:r>
              <a:rPr lang="en-IN" dirty="0"/>
              <a:t>Check relationships, measures, and report totals</a:t>
            </a:r>
          </a:p>
          <a:p>
            <a:r>
              <a:rPr lang="en-IN" dirty="0"/>
              <a:t>Inspect refresh behavior from a QA perspective</a:t>
            </a:r>
          </a:p>
          <a:p>
            <a:r>
              <a:rPr lang="en-IN" dirty="0"/>
              <a:t>Prove row-level isolation with role-based testing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Fabric solution is not fully tested until orchestration, reporting, and security all behave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"What we will cover in 30 minutes"</a:t>
            </a:r>
          </a:p>
          <a:p>
            <a:r>
              <a:rPr lang="en-IN" dirty="0"/>
              <a:t>This slide is answering one pacing question:</a:t>
            </a:r>
          </a:p>
          <a:p>
            <a:r>
              <a:rPr lang="en-IN" dirty="0"/>
              <a:t>❓ "How does this session move from orchestration evidence into report correctness and access control?"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module is practical by design.</a:t>
            </a:r>
          </a:p>
          <a:p>
            <a:r>
              <a:rPr lang="en-IN" dirty="0"/>
              <a:t>It focuses on the surfaces that business users and support teams actually experience.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1. Pipeline Testing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validate activity order, partial failures, and successful reruns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not stop at pass or fail.</a:t>
            </a:r>
          </a:p>
          <a:p>
            <a:r>
              <a:rPr lang="en-IN" dirty="0"/>
              <a:t>QA should ask what ran, what failed, and what evidence remains after partial success.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2. Semantic Model Logic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relationships and measures shape business-facing correctness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Even if the tables are right, the business answer can still be wrong if the model logic is 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3. Report Validation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test KPI values, region totals, and refresh outcomes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4. Security Testing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prove that RLS allows the right rows and blocks the wrong ones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session moves from "did the system run" into "did the user see the right answer and only the right answer."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"Why Day 4 matters for QA"</a:t>
            </a:r>
          </a:p>
          <a:p>
            <a:r>
              <a:rPr lang="en-IN" dirty="0"/>
              <a:t>This slide is answering one important QA question:</a:t>
            </a:r>
          </a:p>
          <a:p>
            <a:r>
              <a:rPr lang="en-IN" dirty="0"/>
              <a:t>❓ "Why is healthy storage not enough to call a Fabric solution correct?"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subtitle gives the whole message:</a:t>
            </a:r>
          </a:p>
          <a:p>
            <a:r>
              <a:rPr lang="en-IN" dirty="0"/>
              <a:t>A storage layer can be healthy while orchestration, reporting, or security still fails.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1. Pipelines Can Fail Halfway</a:t>
            </a:r>
          </a:p>
          <a:p>
            <a:r>
              <a:rPr lang="en-IN" dirty="0"/>
              <a:t>The slide reminds learners:</a:t>
            </a:r>
          </a:p>
          <a:p>
            <a:r>
              <a:rPr lang="en-IN" dirty="0"/>
              <a:t>Some activities may complete successfully before a later checkpoint fails.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Which activities completed?</a:t>
            </a:r>
          </a:p>
          <a:p>
            <a:r>
              <a:rPr lang="en-IN" dirty="0"/>
              <a:t>Which failed?</a:t>
            </a:r>
          </a:p>
          <a:p>
            <a:r>
              <a:rPr lang="en-IN" dirty="0"/>
              <a:t>What outputs were produced before the failure?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2. Models Can Distort Meaning</a:t>
            </a:r>
          </a:p>
          <a:p>
            <a:r>
              <a:rPr lang="en-IN" dirty="0"/>
              <a:t>A wrong relationship or measure can produce believable but incorrect report numbers.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The fact table can be correct, but a bad relationship can duplicate or suppress totals in the report.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3. Security Is User-Visible</a:t>
            </a:r>
          </a:p>
          <a:p>
            <a:r>
              <a:rPr lang="en-IN" dirty="0"/>
              <a:t>If a restricted role sees another region's data, the platform may work technically but still fail the customer.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4 is where QA starts validating the user experience of the data platform, not just the underlying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4 learning objectives"</a:t>
            </a:r>
          </a:p>
          <a:p>
            <a:r>
              <a:rPr lang="en-IN" dirty="0"/>
              <a:t>This slide is answering one expectation-setting question:</a:t>
            </a:r>
          </a:p>
          <a:p>
            <a:r>
              <a:rPr lang="en-IN" dirty="0"/>
              <a:t>❓ "What practical skills should learners leave with after this session?"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contract slide for Day 4.</a:t>
            </a:r>
          </a:p>
          <a:p>
            <a:r>
              <a:rPr lang="en-IN" dirty="0"/>
              <a:t>Everything in the rest of the module should feel action-oriented and testable.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1. Inspect Pipeline Runs</a:t>
            </a:r>
          </a:p>
          <a:p>
            <a:r>
              <a:rPr lang="en-IN" dirty="0"/>
              <a:t>Learners should confirm:</a:t>
            </a:r>
          </a:p>
          <a:p>
            <a:r>
              <a:rPr lang="en-IN" dirty="0"/>
              <a:t>Activity order</a:t>
            </a:r>
          </a:p>
          <a:p>
            <a:r>
              <a:rPr lang="en-IN" dirty="0"/>
              <a:t>Statuses</a:t>
            </a:r>
          </a:p>
          <a:p>
            <a:r>
              <a:rPr lang="en-IN" dirty="0"/>
              <a:t>Failure evidence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2. Retest After Repair</a:t>
            </a:r>
          </a:p>
          <a:p>
            <a:r>
              <a:rPr lang="en-IN" dirty="0"/>
              <a:t>Learners should know how to rerun a repaired pipeline and confirm final success.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3. Validate Model Logic</a:t>
            </a:r>
          </a:p>
          <a:p>
            <a:r>
              <a:rPr lang="en-IN" dirty="0"/>
              <a:t>Learners should check:</a:t>
            </a:r>
          </a:p>
          <a:p>
            <a:r>
              <a:rPr lang="en-IN" dirty="0"/>
              <a:t>Relationships</a:t>
            </a:r>
          </a:p>
          <a:p>
            <a:r>
              <a:rPr lang="en-IN" dirty="0"/>
              <a:t>Cardinality</a:t>
            </a:r>
          </a:p>
          <a:p>
            <a:r>
              <a:rPr lang="en-IN" dirty="0"/>
              <a:t>Filter direction</a:t>
            </a:r>
          </a:p>
          <a:p>
            <a:r>
              <a:rPr lang="en-IN" dirty="0"/>
              <a:t>Measures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4. Validate Reports</a:t>
            </a:r>
          </a:p>
          <a:p>
            <a:r>
              <a:rPr lang="en-IN" dirty="0"/>
              <a:t>Learners should test:</a:t>
            </a:r>
          </a:p>
          <a:p>
            <a:r>
              <a:rPr lang="en-IN" dirty="0"/>
              <a:t>KPI cards</a:t>
            </a:r>
          </a:p>
          <a:p>
            <a:r>
              <a:rPr lang="en-IN" dirty="0"/>
              <a:t>Matrix totals</a:t>
            </a:r>
          </a:p>
          <a:p>
            <a:r>
              <a:rPr lang="en-IN" dirty="0"/>
              <a:t>Refresh behavior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5. Prove Isolation</a:t>
            </a:r>
          </a:p>
          <a:p>
            <a:r>
              <a:rPr lang="en-IN" dirty="0"/>
              <a:t>Learners should use RLS roles to validate:</a:t>
            </a:r>
          </a:p>
          <a:p>
            <a:r>
              <a:rPr lang="en-IN" dirty="0"/>
              <a:t>Positive access outcomes</a:t>
            </a:r>
          </a:p>
          <a:p>
            <a:r>
              <a:rPr lang="en-IN" dirty="0"/>
              <a:t>Negative access outcomes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By the end of Day 4, learners should know how to inspect orchestration, semantic behavior, report correctness, and security boundaries as QA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"The Day 4 QA surface area"</a:t>
            </a:r>
          </a:p>
          <a:p>
            <a:r>
              <a:rPr lang="en-IN" dirty="0"/>
              <a:t>This slide is answering one orientation question:</a:t>
            </a:r>
          </a:p>
          <a:p>
            <a:r>
              <a:rPr lang="en-IN" dirty="0"/>
              <a:t>❓ "What are the four connected validation surfaces QA needs to cover in this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QA map for the rest of the module.</a:t>
            </a:r>
          </a:p>
          <a:p>
            <a:r>
              <a:rPr lang="en-IN" dirty="0"/>
              <a:t>Everything later in the deck is basically a zoom-in on one of these four surfaces.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1. Pipeline</a:t>
            </a:r>
          </a:p>
          <a:p>
            <a:r>
              <a:rPr lang="en-IN" dirty="0"/>
              <a:t>QA checks:</a:t>
            </a:r>
          </a:p>
          <a:p>
            <a:r>
              <a:rPr lang="en-IN" dirty="0"/>
              <a:t>Run order</a:t>
            </a:r>
          </a:p>
          <a:p>
            <a:r>
              <a:rPr lang="en-IN" dirty="0"/>
              <a:t>Statuses</a:t>
            </a:r>
          </a:p>
          <a:p>
            <a:r>
              <a:rPr lang="en-IN" dirty="0"/>
              <a:t>Error details</a:t>
            </a:r>
          </a:p>
          <a:p>
            <a:r>
              <a:rPr lang="en-IN" dirty="0"/>
              <a:t>Reruns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2. Semantic Model</a:t>
            </a:r>
          </a:p>
          <a:p>
            <a:r>
              <a:rPr lang="en-IN" dirty="0"/>
              <a:t>QA checks:</a:t>
            </a:r>
          </a:p>
          <a:p>
            <a:r>
              <a:rPr lang="en-IN" dirty="0"/>
              <a:t>Relationships</a:t>
            </a:r>
          </a:p>
          <a:p>
            <a:r>
              <a:rPr lang="en-IN" dirty="0"/>
              <a:t>Measures</a:t>
            </a:r>
          </a:p>
          <a:p>
            <a:r>
              <a:rPr lang="en-IN" dirty="0"/>
              <a:t>Filter behavior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3. Report</a:t>
            </a:r>
          </a:p>
          <a:p>
            <a:r>
              <a:rPr lang="en-IN" dirty="0"/>
              <a:t>QA checks:</a:t>
            </a:r>
          </a:p>
          <a:p>
            <a:r>
              <a:rPr lang="en-IN" dirty="0"/>
              <a:t>KPI cards</a:t>
            </a:r>
          </a:p>
          <a:p>
            <a:r>
              <a:rPr lang="en-IN" dirty="0"/>
              <a:t>Matrix values</a:t>
            </a:r>
          </a:p>
          <a:p>
            <a:r>
              <a:rPr lang="en-IN" dirty="0"/>
              <a:t>Refresh evidence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4. Security</a:t>
            </a:r>
          </a:p>
          <a:p>
            <a:r>
              <a:rPr lang="en-IN" dirty="0"/>
              <a:t>QA checks:</a:t>
            </a:r>
          </a:p>
          <a:p>
            <a:r>
              <a:rPr lang="en-IN" dirty="0"/>
              <a:t>RLS role views</a:t>
            </a:r>
          </a:p>
          <a:p>
            <a:r>
              <a:rPr lang="en-IN" dirty="0"/>
              <a:t>Blocked access</a:t>
            </a:r>
          </a:p>
          <a:p>
            <a:r>
              <a:rPr lang="en-IN" dirty="0"/>
              <a:t>Customer isolation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surfaces are connected.</a:t>
            </a:r>
          </a:p>
          <a:p>
            <a:r>
              <a:rPr lang="en-IN" dirty="0"/>
              <a:t>A defect in one can become visible in another.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working Fabric solution has four Day 4 validation surfaces, and QA needs evidence from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"Pipeline testing questions"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"What should QA ask about a pipeline run besides pass or fail?"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Day 4 should be anchored around evidence collection.</a:t>
            </a:r>
          </a:p>
          <a:p>
            <a:r>
              <a:rPr lang="en-IN" dirty="0"/>
              <a:t>Run history is not just a UI convenience. It is part of the QA evidence package.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❓ 1. Questions QA Should Ask</a:t>
            </a:r>
          </a:p>
          <a:p>
            <a:r>
              <a:rPr lang="en-IN" dirty="0"/>
              <a:t>The slide lists important questions such as:</a:t>
            </a:r>
          </a:p>
          <a:p>
            <a:r>
              <a:rPr lang="en-IN" dirty="0"/>
              <a:t>Did activities run in the expected sequence?</a:t>
            </a:r>
          </a:p>
          <a:p>
            <a:r>
              <a:rPr lang="en-IN" dirty="0"/>
              <a:t>What exactly succeeded before the failure occurred?</a:t>
            </a:r>
          </a:p>
          <a:p>
            <a:r>
              <a:rPr lang="en-IN" dirty="0"/>
              <a:t>Can the rerun be traced clearly in history?</a:t>
            </a:r>
          </a:p>
          <a:p>
            <a:r>
              <a:rPr lang="en-IN" dirty="0"/>
              <a:t>Are produced outputs complete and current?</a:t>
            </a:r>
          </a:p>
          <a:p>
            <a:r>
              <a:rPr lang="en-IN" dirty="0"/>
              <a:t>Does the failure message help the team act quickly?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2. Practical Evidence to Collect</a:t>
            </a:r>
          </a:p>
          <a:p>
            <a:r>
              <a:rPr lang="en-IN" dirty="0"/>
              <a:t>QA should capture:</a:t>
            </a:r>
          </a:p>
          <a:p>
            <a:r>
              <a:rPr lang="en-IN" dirty="0"/>
              <a:t>Pipeline run ID and status</a:t>
            </a:r>
          </a:p>
          <a:p>
            <a:r>
              <a:rPr lang="en-IN" dirty="0"/>
              <a:t>Activity-level start and end status</a:t>
            </a:r>
          </a:p>
          <a:p>
            <a:r>
              <a:rPr lang="en-IN" dirty="0"/>
              <a:t>Error text from the failed checkpoint</a:t>
            </a:r>
          </a:p>
          <a:p>
            <a:r>
              <a:rPr lang="en-IN" dirty="0"/>
              <a:t>Proof that curated tables existed after activity one</a:t>
            </a:r>
          </a:p>
          <a:p>
            <a:r>
              <a:rPr lang="en-IN" dirty="0"/>
              <a:t>Proof that the rerun completed cleanly after the fix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A failed pipeline is not always a total failure.</a:t>
            </a:r>
          </a:p>
          <a:p>
            <a:r>
              <a:rPr lang="en-IN" dirty="0"/>
              <a:t>Useful outputs may still exist and should be validated deliberately.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Good pipeline QA is about tracing execution evidence, not just recording a red or green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"Partial failures, reruns, and run-history evidence"</a:t>
            </a:r>
          </a:p>
          <a:p>
            <a:r>
              <a:rPr lang="en-IN" dirty="0"/>
              <a:t>This slide is answering one scenario-based QA question:</a:t>
            </a:r>
          </a:p>
          <a:p>
            <a:r>
              <a:rPr lang="en-IN" dirty="0"/>
              <a:t>❓ "How should QA test a pipeline that partially succeeds, then gets fixed and rerun?"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walks through the exact lab story.</a:t>
            </a:r>
          </a:p>
          <a:p>
            <a:r>
              <a:rPr lang="en-IN" dirty="0"/>
              <a:t>It gives learners a memorable pattern for testing partial success and retesting after a fix.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▶️ 1. Run 1</a:t>
            </a:r>
          </a:p>
          <a:p>
            <a:r>
              <a:rPr lang="en-IN" dirty="0"/>
              <a:t>The curated-table notebook succeeds and creates the expected outputs.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means the run produced useful evidence before the later failure happened.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⛔ 2. Checkpoint Fails</a:t>
            </a:r>
          </a:p>
          <a:p>
            <a:r>
              <a:rPr lang="en-IN" dirty="0"/>
              <a:t>The second notebook raises an intentional exception for QA review.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Failure message</a:t>
            </a:r>
          </a:p>
          <a:p>
            <a:r>
              <a:rPr lang="en-IN" dirty="0"/>
              <a:t>Failed activity</a:t>
            </a:r>
          </a:p>
          <a:p>
            <a:r>
              <a:rPr lang="en-IN" dirty="0"/>
              <a:t>Timestamp</a:t>
            </a:r>
          </a:p>
          <a:p>
            <a:r>
              <a:rPr lang="en-IN" dirty="0"/>
              <a:t>Outputs from the earlier successful step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3. Run 2</a:t>
            </a:r>
          </a:p>
          <a:p>
            <a:r>
              <a:rPr lang="en-IN" dirty="0"/>
              <a:t>The checkpoint is repaired and the rerun completes successfully.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prove:</a:t>
            </a:r>
          </a:p>
          <a:p>
            <a:r>
              <a:rPr lang="en-IN" dirty="0"/>
              <a:t>The rerun is visible in history</a:t>
            </a:r>
          </a:p>
          <a:p>
            <a:r>
              <a:rPr lang="en-IN" dirty="0"/>
              <a:t>The final run completed cleanly</a:t>
            </a:r>
          </a:p>
          <a:p>
            <a:r>
              <a:rPr lang="en-IN" dirty="0"/>
              <a:t>The resulting outputs are now complete and current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Day 4 lab uses a clear QA story: partial success → fix → retest.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"What to capture from pipeline monitoring"</a:t>
            </a:r>
          </a:p>
          <a:p>
            <a:r>
              <a:rPr lang="en-IN" dirty="0"/>
              <a:t>This slide is answering one evidence question:</a:t>
            </a:r>
          </a:p>
          <a:p>
            <a:r>
              <a:rPr lang="en-IN" dirty="0"/>
              <a:t>❓ "What monitoring information should QA preserve to support debugging and retesting?"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keeps monitoring grounded.</a:t>
            </a:r>
          </a:p>
          <a:p>
            <a:r>
              <a:rPr lang="en-IN" dirty="0"/>
              <a:t>Monitoring matters because it supports troubleshooting and because it helps QA tell a clean before-and-after retest story.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📍 1. Activity Statuses</a:t>
            </a:r>
          </a:p>
          <a:p>
            <a:r>
              <a:rPr lang="en-IN" dirty="0"/>
              <a:t>Capture which steps:</a:t>
            </a:r>
          </a:p>
          <a:p>
            <a:r>
              <a:rPr lang="en-IN" dirty="0"/>
              <a:t>Succeeded</a:t>
            </a:r>
          </a:p>
          <a:p>
            <a:r>
              <a:rPr lang="en-IN" dirty="0"/>
              <a:t>Failed</a:t>
            </a:r>
          </a:p>
          <a:p>
            <a:r>
              <a:rPr lang="en-IN" dirty="0"/>
              <a:t>Were skipped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❗ 2. Failure Details</a:t>
            </a:r>
          </a:p>
          <a:p>
            <a:r>
              <a:rPr lang="en-IN" dirty="0"/>
              <a:t>Capture:</a:t>
            </a:r>
          </a:p>
          <a:p>
            <a:r>
              <a:rPr lang="en-IN" dirty="0"/>
              <a:t>Exact error text</a:t>
            </a:r>
          </a:p>
          <a:p>
            <a:r>
              <a:rPr lang="en-IN" dirty="0"/>
              <a:t>Checkpoint name</a:t>
            </a:r>
          </a:p>
          <a:p>
            <a:r>
              <a:rPr lang="en-IN" dirty="0"/>
              <a:t>Timestamp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3. Output Evidence</a:t>
            </a:r>
          </a:p>
          <a:p>
            <a:r>
              <a:rPr lang="en-IN" dirty="0"/>
              <a:t>Capture proof that the first activity created curated tables.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important because it proves the run was not completely empty even though it failed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4. Rerun Evidence</a:t>
            </a:r>
          </a:p>
          <a:p>
            <a:r>
              <a:rPr lang="en-IN" dirty="0"/>
              <a:t>Capture the later successful run and compare it with the failed one.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Monitoring data should make debugging, retesting, and audit evidence easier, not harder.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strong Day 4 QA record includes both failure evidence and proof of the clean rerun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"Semantic model testing checklist"</a:t>
            </a:r>
          </a:p>
          <a:p>
            <a:r>
              <a:rPr lang="en-IN" dirty="0"/>
              <a:t>This slide is answering one business-facing QA question:</a:t>
            </a:r>
          </a:p>
          <a:p>
            <a:r>
              <a:rPr lang="en-IN" dirty="0"/>
              <a:t>❓ "What should QA inspect once the data reaches the semantic model?"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Use the phrase business-facing contract here.</a:t>
            </a:r>
          </a:p>
          <a:p>
            <a:r>
              <a:rPr lang="en-IN" dirty="0"/>
              <a:t>That is what the semantic model really is.</a:t>
            </a:r>
          </a:p>
          <a:p>
            <a:r>
              <a:rPr lang="en-IN" dirty="0"/>
              <a:t>It controls how business users experience the data.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📋 1. Tables and Fields</a:t>
            </a:r>
          </a:p>
          <a:p>
            <a:r>
              <a:rPr lang="en-IN" dirty="0"/>
              <a:t>QA should confirm:</a:t>
            </a:r>
          </a:p>
          <a:p>
            <a:r>
              <a:rPr lang="en-IN" dirty="0"/>
              <a:t>Expected fact and dimension tables are visible</a:t>
            </a:r>
          </a:p>
          <a:p>
            <a:r>
              <a:rPr lang="en-IN" dirty="0"/>
              <a:t>Names are clear and usable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2. Relationships</a:t>
            </a:r>
          </a:p>
          <a:p>
            <a:r>
              <a:rPr lang="en-IN" dirty="0"/>
              <a:t>QA should confirm:</a:t>
            </a:r>
          </a:p>
          <a:p>
            <a:r>
              <a:rPr lang="en-IN" dirty="0"/>
              <a:t>Keys</a:t>
            </a:r>
          </a:p>
          <a:p>
            <a:r>
              <a:rPr lang="en-IN" dirty="0"/>
              <a:t>Cardinality</a:t>
            </a:r>
          </a:p>
          <a:p>
            <a:r>
              <a:rPr lang="en-IN" dirty="0"/>
              <a:t>Filter direction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🧮 3. Measures</a:t>
            </a:r>
          </a:p>
          <a:p>
            <a:r>
              <a:rPr lang="en-IN" dirty="0"/>
              <a:t>QA should confirm:</a:t>
            </a:r>
          </a:p>
          <a:p>
            <a:r>
              <a:rPr lang="en-IN" dirty="0"/>
              <a:t>DAX formulas return the same values as SQL validation queries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4. Usability</a:t>
            </a:r>
          </a:p>
          <a:p>
            <a:r>
              <a:rPr lang="en-IN" dirty="0"/>
              <a:t>QA should confirm:</a:t>
            </a:r>
          </a:p>
          <a:p>
            <a:r>
              <a:rPr lang="en-IN" dirty="0"/>
              <a:t>The model actually supports the report layout the business expects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important because a technically valid model can still be awkward or misleading for report consumers.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Once data enters the semantic model, QA should treat the model as a contract that shapes the business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"Relationships, cardinality, and filter direction"</a:t>
            </a:r>
          </a:p>
          <a:p>
            <a:r>
              <a:rPr lang="en-IN" dirty="0"/>
              <a:t>This slide is answering one crucial QA question:</a:t>
            </a:r>
          </a:p>
          <a:p>
            <a:r>
              <a:rPr lang="en-IN" dirty="0"/>
              <a:t>❓ "How do relationship settings turn into visible report defects?"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modeling concepts become QA consequences.</a:t>
            </a:r>
          </a:p>
          <a:p>
            <a:r>
              <a:rPr lang="en-IN" dirty="0"/>
              <a:t>The audience should understand how a wrong relationship becomes a visible business problem.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👤 1. Customer Relationship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FactSales many-to-one DimCustomer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Risk if wrong:</a:t>
            </a:r>
          </a:p>
          <a:p>
            <a:r>
              <a:rPr lang="en-IN" dirty="0"/>
              <a:t>Region-based totals can duplicate or disappear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2. Product Relationship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FactSales many-to-one DimProduct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Risk if wrong:</a:t>
            </a:r>
          </a:p>
          <a:p>
            <a:r>
              <a:rPr lang="en-IN" dirty="0"/>
              <a:t>Category logic can filter incorrectly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🔀 3. Filter Direction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Single direction from dimensions to fact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Risk if wrong:</a:t>
            </a:r>
          </a:p>
          <a:p>
            <a:r>
              <a:rPr lang="en-IN" dirty="0"/>
              <a:t>Unexpected context flow can distort results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4. Role Filters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Applied on DimCustomer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Risk if wrong:</a:t>
            </a:r>
          </a:p>
          <a:p>
            <a:r>
              <a:rPr lang="en-IN" dirty="0"/>
              <a:t>RLS can behave unpredictably if placed on the wrong table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The fact table can be correct and the report can still be wrong if the model links are 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report can fail even when the raw data is right if relationships, cardinality, or filter direction are set incorrectly.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"Measures and aggregation validation"</a:t>
            </a:r>
          </a:p>
          <a:p>
            <a:r>
              <a:rPr lang="en-IN" dirty="0"/>
              <a:t>This slide is answering one measure-validation question:</a:t>
            </a:r>
          </a:p>
          <a:p>
            <a:r>
              <a:rPr lang="en-IN" dirty="0"/>
              <a:t>❓ "How should QA test DAX measures with the same seriousness as any transformation logic?"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DAX is not magic.</a:t>
            </a:r>
          </a:p>
          <a:p>
            <a:r>
              <a:rPr lang="en-IN" dirty="0"/>
              <a:t>Measures should be validated like any other business calculation.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💰 1. Total Sales</a:t>
            </a:r>
          </a:p>
          <a:p>
            <a:r>
              <a:rPr lang="en-IN" dirty="0"/>
              <a:t>Expected result:</a:t>
            </a:r>
          </a:p>
          <a:p>
            <a:r>
              <a:rPr lang="en-IN" dirty="0"/>
              <a:t>4680.00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action:</a:t>
            </a:r>
          </a:p>
          <a:p>
            <a:r>
              <a:rPr lang="en-IN" dirty="0"/>
              <a:t>Validate the measure against the Warehouse SQL total.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🔢 2. Order Count</a:t>
            </a:r>
          </a:p>
          <a:p>
            <a:r>
              <a:rPr lang="en-IN" dirty="0"/>
              <a:t>Expected result:</a:t>
            </a:r>
          </a:p>
          <a:p>
            <a:r>
              <a:rPr lang="en-IN" dirty="0"/>
              <a:t>8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action:</a:t>
            </a:r>
          </a:p>
          <a:p>
            <a:r>
              <a:rPr lang="en-IN" dirty="0"/>
              <a:t>Validate COUNTROWS output against the SQL count.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📏 3. Average Order Value</a:t>
            </a:r>
          </a:p>
          <a:p>
            <a:r>
              <a:rPr lang="en-IN" dirty="0"/>
              <a:t>Expected result:</a:t>
            </a:r>
          </a:p>
          <a:p>
            <a:r>
              <a:rPr lang="en-IN" dirty="0"/>
              <a:t>585.00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action:</a:t>
            </a:r>
          </a:p>
          <a:p>
            <a:r>
              <a:rPr lang="en-IN" dirty="0"/>
              <a:t>Validate the DAX result against the SQL average.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4. QA Rule</a:t>
            </a:r>
          </a:p>
          <a:p>
            <a:r>
              <a:rPr lang="en-IN" dirty="0"/>
              <a:t>If a DAX measure and the SQL validation query disagree, treat the semantic model as the investigation surface first.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A correct dataset can still produce wrong report numbers if measure logic is incorrect.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Measures are testable business logic and should be validated with explicit expected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"Report and refresh validation"</a:t>
            </a:r>
          </a:p>
          <a:p>
            <a:r>
              <a:rPr lang="en-IN" dirty="0"/>
              <a:t>This slide is answering one user-facing QA question:</a:t>
            </a:r>
          </a:p>
          <a:p>
            <a:r>
              <a:rPr lang="en-IN" dirty="0"/>
              <a:t>❓ "How does QA prove that the report shows the correct business answer and stays correct after refresh?"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should tie directly to the expected-results file in the lab.</a:t>
            </a:r>
          </a:p>
          <a:p>
            <a:r>
              <a:rPr lang="en-IN" dirty="0"/>
              <a:t>Report validation is concrete, not subjective.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1. Checks to Perform</a:t>
            </a:r>
          </a:p>
          <a:p>
            <a:r>
              <a:rPr lang="en-IN" dirty="0"/>
              <a:t>The slide tells learners to:</a:t>
            </a:r>
          </a:p>
          <a:p>
            <a:r>
              <a:rPr lang="en-IN" dirty="0"/>
              <a:t>Validate KPI cards against expected values</a:t>
            </a:r>
          </a:p>
          <a:p>
            <a:r>
              <a:rPr lang="en-IN" dirty="0"/>
              <a:t>Validate matrix totals by region</a:t>
            </a:r>
          </a:p>
          <a:p>
            <a:r>
              <a:rPr lang="en-IN" dirty="0"/>
              <a:t>Confirm unrestricted and restricted views differ correctly</a:t>
            </a:r>
          </a:p>
          <a:p>
            <a:r>
              <a:rPr lang="en-IN" dirty="0"/>
              <a:t>Refresh the report and confirm values remain stable</a:t>
            </a:r>
          </a:p>
          <a:p>
            <a:r>
              <a:rPr lang="en-IN" dirty="0"/>
              <a:t>Capture any mismatch as a business-visible defect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2. Expected Report Truth Set</a:t>
            </a:r>
          </a:p>
          <a:p>
            <a:r>
              <a:rPr lang="en-IN" dirty="0"/>
              <a:t>Cards:</a:t>
            </a:r>
          </a:p>
          <a:p>
            <a:r>
              <a:rPr lang="en-IN" dirty="0"/>
              <a:t>Total Sales = 4680.00</a:t>
            </a:r>
          </a:p>
          <a:p>
            <a:r>
              <a:rPr lang="en-IN" dirty="0"/>
              <a:t>Order Count = 8</a:t>
            </a:r>
          </a:p>
          <a:p>
            <a:r>
              <a:rPr lang="en-IN" dirty="0"/>
              <a:t>Average Order Value = 585.00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Matrix rows:</a:t>
            </a:r>
          </a:p>
          <a:p>
            <a:r>
              <a:rPr lang="en-IN" dirty="0"/>
              <a:t>East 1500</a:t>
            </a:r>
          </a:p>
          <a:p>
            <a:r>
              <a:rPr lang="en-IN" dirty="0"/>
              <a:t>North 1530</a:t>
            </a:r>
          </a:p>
          <a:p>
            <a:r>
              <a:rPr lang="en-IN" dirty="0"/>
              <a:t>South 90</a:t>
            </a:r>
          </a:p>
          <a:p>
            <a:r>
              <a:rPr lang="en-IN" dirty="0"/>
              <a:t>West 1560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The report is where model logic becomes visible to users.</a:t>
            </a:r>
          </a:p>
          <a:p>
            <a:r>
              <a:rPr lang="en-IN" dirty="0"/>
              <a:t>If the numbers are wrong here, the customer experiences the defect directly.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Report validation means comparing visible KPIs and matrix totals against a trusted truth set and confirming refresh does not break that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"Fabric security layers"</a:t>
            </a:r>
          </a:p>
          <a:p>
            <a:r>
              <a:rPr lang="en-IN" dirty="0"/>
              <a:t>This slide is answering one access-control question:</a:t>
            </a:r>
          </a:p>
          <a:p>
            <a:r>
              <a:rPr lang="en-IN" dirty="0"/>
              <a:t>❓ "How should QA separate workspace access from actual data visibility?"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prevents a common confusion:</a:t>
            </a:r>
          </a:p>
          <a:p>
            <a:r>
              <a:rPr lang="en-IN" dirty="0"/>
              <a:t>broad workspace access does not automatically mean unrestricted row visibility in the report.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🏢 1. Workspace Roles</a:t>
            </a:r>
          </a:p>
          <a:p>
            <a:r>
              <a:rPr lang="en-IN" dirty="0"/>
              <a:t>These decide:</a:t>
            </a:r>
          </a:p>
          <a:p>
            <a:r>
              <a:rPr lang="en-IN" dirty="0"/>
              <a:t>Who can open or manage the workspace and its items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2. Item Permissions</a:t>
            </a:r>
          </a:p>
          <a:p>
            <a:r>
              <a:rPr lang="en-IN" dirty="0"/>
              <a:t>These decide:</a:t>
            </a:r>
          </a:p>
          <a:p>
            <a:r>
              <a:rPr lang="en-IN" dirty="0"/>
              <a:t>Who can access a Warehouse, semantic model, report, or Lakehouse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3. Data Permissions</a:t>
            </a:r>
          </a:p>
          <a:p>
            <a:r>
              <a:rPr lang="en-IN" dirty="0"/>
              <a:t>These decide:</a:t>
            </a:r>
          </a:p>
          <a:p>
            <a:r>
              <a:rPr lang="en-IN" dirty="0"/>
              <a:t>Who can read tables or files through SQL, Spark, or the report layer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4. RLS Behavior</a:t>
            </a:r>
          </a:p>
          <a:p>
            <a:r>
              <a:rPr lang="en-IN" dirty="0"/>
              <a:t>This decides:</a:t>
            </a:r>
          </a:p>
          <a:p>
            <a:r>
              <a:rPr lang="en-IN" dirty="0"/>
              <a:t>Which rows remain visible once a user reaches the report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understand:</a:t>
            </a:r>
          </a:p>
          <a:p>
            <a:r>
              <a:rPr lang="en-IN" dirty="0"/>
              <a:t>Security testing works best when these layers are tested separately.</a:t>
            </a:r>
          </a:p>
          <a:p>
            <a:r>
              <a:rPr lang="en-IN" dirty="0"/>
              <a:t>Otherwise QA can confuse broad access with correct row-level isolation.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Fabric security has multiple layers, and QA should test each layer explicitly instead of assuming one proves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"RLS and cross-customer isolation"</a:t>
            </a:r>
          </a:p>
          <a:p>
            <a:r>
              <a:rPr lang="en-IN" dirty="0"/>
              <a:t>This slide is answering one critical QA question:</a:t>
            </a:r>
          </a:p>
          <a:p>
            <a:r>
              <a:rPr lang="en-IN" dirty="0"/>
              <a:t>❓ "How do we prove that a role sees only its own rows and never another role's rows?"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Say this clearly:</a:t>
            </a:r>
          </a:p>
          <a:p>
            <a:r>
              <a:rPr lang="en-IN" dirty="0"/>
              <a:t>RLS testing is not complete until the negative checks are done.</a:t>
            </a:r>
          </a:p>
          <a:p>
            <a:r>
              <a:rPr lang="en-IN" dirty="0"/>
              <a:t>This module is about proving isolation, not just demonstrating filtered views.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1. Positive Checks</a:t>
            </a:r>
          </a:p>
          <a:p>
            <a:r>
              <a:rPr lang="en-IN" dirty="0"/>
              <a:t>The slide expects:</a:t>
            </a:r>
          </a:p>
          <a:p>
            <a:r>
              <a:rPr lang="en-IN" dirty="0"/>
              <a:t>NorthRole should show only North rows</a:t>
            </a:r>
          </a:p>
          <a:p>
            <a:r>
              <a:rPr lang="en-IN" dirty="0"/>
              <a:t>WestRole should show only West rows</a:t>
            </a:r>
          </a:p>
          <a:p>
            <a:r>
              <a:rPr lang="en-IN" dirty="0"/>
              <a:t>Cards and matrix should change to restricted totals</a:t>
            </a:r>
          </a:p>
          <a:p>
            <a:r>
              <a:rPr lang="en-IN" dirty="0"/>
              <a:t>View as should make the role effect visible immediately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2. Negative Checks</a:t>
            </a:r>
          </a:p>
          <a:p>
            <a:r>
              <a:rPr lang="en-IN" dirty="0"/>
              <a:t>The slide also expects:</a:t>
            </a:r>
          </a:p>
          <a:p>
            <a:r>
              <a:rPr lang="en-IN" dirty="0"/>
              <a:t>NorthRole must not show East, South, or West rows</a:t>
            </a:r>
          </a:p>
          <a:p>
            <a:r>
              <a:rPr lang="en-IN" dirty="0"/>
              <a:t>WestRole must not show East, North, or South rows</a:t>
            </a:r>
          </a:p>
          <a:p>
            <a:r>
              <a:rPr lang="en-IN" dirty="0"/>
              <a:t>Clearing View as should restore unrestricted totals</a:t>
            </a:r>
          </a:p>
          <a:p>
            <a:r>
              <a:rPr lang="en-IN" dirty="0"/>
              <a:t>Any leaked row is a customer-isolation defect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Positive access proves the role works.</a:t>
            </a:r>
          </a:p>
          <a:p>
            <a:r>
              <a:rPr lang="en-IN" dirty="0"/>
              <a:t>Negative access proves isolation actually holds.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Good RLS testing proves both the rows a role can see and the rows it must never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"Sample Day 4 scenario"</a:t>
            </a:r>
          </a:p>
          <a:p>
            <a:r>
              <a:rPr lang="en-IN" dirty="0"/>
              <a:t>This slide is answering one practical learner question:</a:t>
            </a:r>
          </a:p>
          <a:p>
            <a:r>
              <a:rPr lang="en-IN" dirty="0"/>
              <a:t>❓ "What business story ties the pipeline, report, and security checks together in the lab?"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previews the lab without burying the learner in too much detail.</a:t>
            </a:r>
          </a:p>
          <a:p>
            <a:r>
              <a:rPr lang="en-IN" dirty="0"/>
              <a:t>It should feel like one coherent QA story.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📥 1. Raw Files</a:t>
            </a:r>
          </a:p>
          <a:p>
            <a:r>
              <a:rPr lang="en-IN" dirty="0"/>
              <a:t>The lab starts with:</a:t>
            </a:r>
          </a:p>
          <a:p>
            <a:r>
              <a:rPr lang="en-IN" dirty="0"/>
              <a:t>6 customers</a:t>
            </a:r>
          </a:p>
          <a:p>
            <a:r>
              <a:rPr lang="en-IN" dirty="0"/>
              <a:t>5 products</a:t>
            </a:r>
          </a:p>
          <a:p>
            <a:r>
              <a:rPr lang="en-IN" dirty="0"/>
              <a:t>8 orders</a:t>
            </a:r>
          </a:p>
          <a:p>
            <a:r>
              <a:rPr lang="en-IN" dirty="0"/>
              <a:t>uploaded to the Lakehouse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2. Pipeline Story</a:t>
            </a:r>
          </a:p>
          <a:p>
            <a:r>
              <a:rPr lang="en-IN" dirty="0"/>
              <a:t>Run one fails at the checkpoint.</a:t>
            </a:r>
          </a:p>
          <a:p>
            <a:r>
              <a:rPr lang="en-IN" dirty="0"/>
              <a:t>Run two succeeds after the notebook is switched.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3. Reporting Truth Set</a:t>
            </a:r>
          </a:p>
          <a:p>
            <a:r>
              <a:rPr lang="en-IN" dirty="0"/>
              <a:t>Warehouse SQL defines the validation baseline for:</a:t>
            </a:r>
          </a:p>
          <a:p>
            <a:r>
              <a:rPr lang="en-IN" dirty="0"/>
              <a:t>KPIs</a:t>
            </a:r>
          </a:p>
          <a:p>
            <a:r>
              <a:rPr lang="en-IN" dirty="0"/>
              <a:t>Region totals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4. Security Story</a:t>
            </a:r>
          </a:p>
          <a:p>
            <a:r>
              <a:rPr lang="en-IN" dirty="0"/>
              <a:t>NorthRole and WestRole prove role-based isolation with:</a:t>
            </a:r>
          </a:p>
          <a:p>
            <a:r>
              <a:rPr lang="en-IN" dirty="0"/>
              <a:t>Visible allowed rows</a:t>
            </a:r>
          </a:p>
          <a:p>
            <a:r>
              <a:rPr lang="en-IN" dirty="0"/>
              <a:t>Blocked cross-region rows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Day 4 scenario is small on purpose so learners can prove every orchestration, reporting, and security behavior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4 lab flow"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❓ "What order should learners follow so the Day 4 exercise stays manageable?"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is useful for pacing the live session.</a:t>
            </a:r>
          </a:p>
          <a:p>
            <a:r>
              <a:rPr lang="en-IN" dirty="0"/>
              <a:t>You can point to where the pipeline part ends and where the semantic-model and security parts begin.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Upload files</a:t>
            </a:r>
          </a:p>
          <a:p>
            <a:r>
              <a:rPr lang="en-IN" dirty="0"/>
              <a:t>Create the workspace, Lakehouse, and notebooks.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Run pipeline</a:t>
            </a:r>
          </a:p>
          <a:p>
            <a:r>
              <a:rPr lang="en-IN" dirty="0"/>
              <a:t>Observe one intentional checkpoint failure.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Rerun successfully</a:t>
            </a:r>
          </a:p>
          <a:p>
            <a:r>
              <a:rPr lang="en-IN" dirty="0"/>
              <a:t>Switch the notebook and confirm final success.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Validate model</a:t>
            </a:r>
          </a:p>
          <a:p>
            <a:r>
              <a:rPr lang="en-IN" dirty="0"/>
              <a:t>Load the Warehouse and shape the semantic model.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Test report and RLS</a:t>
            </a:r>
          </a:p>
          <a:p>
            <a:r>
              <a:rPr lang="en-IN" dirty="0"/>
              <a:t>Validate KPIs, matrix totals, and restricted views.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remember:</a:t>
            </a:r>
          </a:p>
          <a:p>
            <a:r>
              <a:rPr lang="en-IN" dirty="0"/>
              <a:t>The lab is designed to move from orchestration into reporting and then into security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sequence is deliberate so learners can focus on proof and troubleshooting instead of guessing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"Expected outputs and security results"</a:t>
            </a:r>
          </a:p>
          <a:p>
            <a:r>
              <a:rPr lang="en-IN" dirty="0"/>
              <a:t>This slide is answering one proof question:</a:t>
            </a:r>
          </a:p>
          <a:p>
            <a:r>
              <a:rPr lang="en-IN" dirty="0"/>
              <a:t>❓ "What exact results should learners use as the Day 4 truth set?"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anchors both report validation and RLS validation.</a:t>
            </a:r>
          </a:p>
          <a:p>
            <a:r>
              <a:rPr lang="en-IN" dirty="0"/>
              <a:t>The numbers are intentionally simple so learners can spot mismatches quickly.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1. Core KPIs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Total Sales: 4680.00</a:t>
            </a:r>
          </a:p>
          <a:p>
            <a:r>
              <a:rPr lang="en-IN" dirty="0"/>
              <a:t>Order Count: 8</a:t>
            </a:r>
          </a:p>
          <a:p>
            <a:r>
              <a:rPr lang="en-IN" dirty="0"/>
              <a:t>Average Order Value: 585.00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🌍 2. Region Totals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East: 1500.00</a:t>
            </a:r>
          </a:p>
          <a:p>
            <a:r>
              <a:rPr lang="en-IN" dirty="0"/>
              <a:t>North: 1530.00</a:t>
            </a:r>
          </a:p>
          <a:p>
            <a:r>
              <a:rPr lang="en-IN" dirty="0"/>
              <a:t>South: 90.00</a:t>
            </a:r>
          </a:p>
          <a:p>
            <a:r>
              <a:rPr lang="en-IN" dirty="0"/>
              <a:t>West: 1560.00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3. Role Views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NorthRole: 1530.00</a:t>
            </a:r>
          </a:p>
          <a:p>
            <a:r>
              <a:rPr lang="en-IN" dirty="0"/>
              <a:t>WestRole: 1560.00</a:t>
            </a:r>
          </a:p>
          <a:p>
            <a:r>
              <a:rPr lang="en-IN" dirty="0"/>
              <a:t>No cross-region leakage allowed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If the unrestricted totals are right but the restricted role totals are wrong, the investigation shifts toward the semantic model or RLS configuration.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4 has a small truth set so both report mismatches and isolation failures are easy to spot and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"Common Day 4 pitfalls"</a:t>
            </a:r>
          </a:p>
          <a:p>
            <a:r>
              <a:rPr lang="en-IN" dirty="0"/>
              <a:t>This slide is answering one coaching question:</a:t>
            </a:r>
          </a:p>
          <a:p>
            <a:r>
              <a:rPr lang="en-IN" dirty="0"/>
              <a:t>❓ "What mistakes are most likely to create misleading test results on Day 4?"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helps learners anticipate where confusion happens.</a:t>
            </a:r>
          </a:p>
          <a:p>
            <a:r>
              <a:rPr lang="en-IN" dirty="0"/>
              <a:t>It is also a good checkpoint before the final summary.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1. Common Pitfalls</a:t>
            </a:r>
          </a:p>
          <a:p>
            <a:r>
              <a:rPr lang="en-IN" dirty="0"/>
              <a:t>The slide warns against:</a:t>
            </a:r>
          </a:p>
          <a:p>
            <a:r>
              <a:rPr lang="en-IN" dirty="0"/>
              <a:t>Treating a failed pipeline as a full failure when useful outputs were already produced</a:t>
            </a:r>
          </a:p>
          <a:p>
            <a:r>
              <a:rPr lang="en-IN" dirty="0"/>
              <a:t>Comparing report totals without validating semantic-model relationships first</a:t>
            </a:r>
          </a:p>
          <a:p>
            <a:r>
              <a:rPr lang="en-IN" dirty="0"/>
              <a:t>Testing only positive RLS outcomes and skipping negative isolation checks</a:t>
            </a:r>
          </a:p>
          <a:p>
            <a:r>
              <a:rPr lang="en-IN" dirty="0"/>
              <a:t>Forgetting to clear View as before validating unrestricted totals again</a:t>
            </a:r>
          </a:p>
          <a:p>
            <a:r>
              <a:rPr lang="en-IN" dirty="0"/>
              <a:t>Mixing SQL truth-set values with outdated report values after a refresh</a:t>
            </a:r>
          </a:p>
          <a:p>
            <a:r>
              <a:rPr lang="en-IN" dirty="0"/>
              <a:t>Assuming workspace access means unrestricted report visibility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Lesson:</a:t>
            </a:r>
          </a:p>
          <a:p>
            <a:r>
              <a:rPr lang="en-IN" dirty="0"/>
              <a:t>Most Day 4 mistakes happen when QA skips context, skips retesting discipline, or assumes one surface proves another.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Good Day 4 testing depends on keeping pipeline evidence, report truth sets, and security context clearly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4 validation checklist"</a:t>
            </a:r>
          </a:p>
          <a:p>
            <a:r>
              <a:rPr lang="en-IN" dirty="0"/>
              <a:t>This slide is answering one practical takeaway question:</a:t>
            </a:r>
          </a:p>
          <a:p>
            <a:r>
              <a:rPr lang="en-IN" dirty="0"/>
              <a:t>❓ "What reusable checklist should learners carry into their own Fabric projects after this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practical takeaway slide for Day 4.</a:t>
            </a:r>
          </a:p>
          <a:p>
            <a:r>
              <a:rPr lang="en-IN" dirty="0"/>
              <a:t>It should feel like a reusable checklist, not just a recap of features.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1. Confirm the pipeline activity order and expected statuses</a:t>
            </a:r>
          </a:p>
          <a:p>
            <a:r>
              <a:rPr lang="en-IN" dirty="0"/>
              <a:t>✅ 2. Capture the failure details and the later successful rerun</a:t>
            </a:r>
          </a:p>
          <a:p>
            <a:r>
              <a:rPr lang="en-IN" dirty="0"/>
              <a:t>✅ 3. Confirm curated Lakehouse outputs exist after the first activity</a:t>
            </a:r>
          </a:p>
          <a:p>
            <a:r>
              <a:rPr lang="en-IN" dirty="0"/>
              <a:t>✅ 4. Validate semantic-model relationships and measures against SQL</a:t>
            </a:r>
          </a:p>
          <a:p>
            <a:r>
              <a:rPr lang="en-IN" dirty="0"/>
              <a:t>✅ 5. Validate report KPI cards, matrix totals, and refresh behavior</a:t>
            </a:r>
          </a:p>
          <a:p>
            <a:r>
              <a:rPr lang="en-IN" dirty="0"/>
              <a:t>✅ 6. Validate RLS with both positive views and blocked cross-region access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checklist is useful because it turns Day 4 into a repeatable QA habit set.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If learners can execute this checklist confidently, they understand the core Day 4 testing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"Recap and transition to Module 5"</a:t>
            </a:r>
          </a:p>
          <a:p>
            <a:r>
              <a:rPr lang="en-IN" dirty="0"/>
              <a:t>This slide is answering the closeout question:</a:t>
            </a:r>
          </a:p>
          <a:p>
            <a:r>
              <a:rPr lang="en-IN" dirty="0"/>
              <a:t>❓ "What should learners now understand after Day 4, and how does that prepare them for the next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1. Pipeline Evidence Matters</a:t>
            </a:r>
          </a:p>
          <a:p>
            <a:r>
              <a:rPr lang="en-IN" dirty="0"/>
              <a:t>QA should prove:</a:t>
            </a:r>
          </a:p>
          <a:p>
            <a:r>
              <a:rPr lang="en-IN" dirty="0"/>
              <a:t>Activity flow</a:t>
            </a:r>
          </a:p>
          <a:p>
            <a:r>
              <a:rPr lang="en-IN" dirty="0"/>
              <a:t>Failure details</a:t>
            </a:r>
          </a:p>
          <a:p>
            <a:r>
              <a:rPr lang="en-IN" dirty="0"/>
              <a:t>Retest results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🧠 2. Models Shape Trust</a:t>
            </a:r>
          </a:p>
          <a:p>
            <a:r>
              <a:rPr lang="en-IN" dirty="0"/>
              <a:t>Relationships and measures decide whether reports tell the truth.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3. Security Needs Proof</a:t>
            </a:r>
          </a:p>
          <a:p>
            <a:r>
              <a:rPr lang="en-IN" dirty="0"/>
              <a:t>RLS validation must show:</a:t>
            </a:r>
          </a:p>
          <a:p>
            <a:r>
              <a:rPr lang="en-IN" dirty="0"/>
              <a:t>Visible allowed outcomes</a:t>
            </a:r>
          </a:p>
          <a:p>
            <a:r>
              <a:rPr lang="en-IN" dirty="0"/>
              <a:t>Blocked outcomes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➡️ 4. Next Up</a:t>
            </a:r>
          </a:p>
          <a:p>
            <a:r>
              <a:rPr lang="en-IN" dirty="0"/>
              <a:t>Module 5 adds:</a:t>
            </a:r>
          </a:p>
          <a:p>
            <a:r>
              <a:rPr lang="en-IN" dirty="0"/>
              <a:t>Performance</a:t>
            </a:r>
          </a:p>
          <a:p>
            <a:r>
              <a:rPr lang="en-IN" dirty="0"/>
              <a:t>Monitoring</a:t>
            </a:r>
          </a:p>
          <a:p>
            <a:r>
              <a:rPr lang="en-IN" dirty="0"/>
              <a:t>Automation fundamentals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completes the QA story by adding the operational layer on top of the trustworthy end-to-end solution built in Day 4.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4 proves that correct data is not enough unless it is orchestrated, consumable, and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0F154A-64BB-4035-B33C-ED5AD06D6B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06F1043-4292-44AB-BA69-600B46803B17}"/>
              </a:ext>
            </a:extLst>
          </p:cNvPr>
          <p:cNvSpPr>
            <a:spLocks noGrp="1"/>
          </p:cNvSpPr>
          <p:nvPr/>
        </p:nvSpPr>
        <p:spPr>
          <a:xfrm>
            <a:off x="8324850" y="647700"/>
            <a:ext cx="3200400" cy="32004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91932A-F885-4C57-AB11-5A1565F5A77F}"/>
              </a:ext>
            </a:extLst>
          </p:cNvPr>
          <p:cNvSpPr>
            <a:spLocks noGrp="1"/>
          </p:cNvSpPr>
          <p:nvPr/>
        </p:nvSpPr>
        <p:spPr>
          <a:xfrm>
            <a:off x="9734550" y="2400300"/>
            <a:ext cx="1695450" cy="169545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B0FC0C-F787-4529-B09A-664669C1A2B4}"/>
              </a:ext>
            </a:extLst>
          </p:cNvPr>
          <p:cNvSpPr>
            <a:spLocks noGrp="1"/>
          </p:cNvSpPr>
          <p:nvPr/>
        </p:nvSpPr>
        <p:spPr>
          <a:xfrm>
            <a:off x="8858250" y="4476750"/>
            <a:ext cx="2095500" cy="2095500"/>
          </a:xfrm>
          <a:prstGeom prst="ellipse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94C7F4-9B9E-49F9-9CE1-B80A37E87D89}"/>
              </a:ext>
            </a:extLst>
          </p:cNvPr>
          <p:cNvSpPr>
            <a:spLocks noGrp="1"/>
          </p:cNvSpPr>
          <p:nvPr/>
        </p:nvSpPr>
        <p:spPr>
          <a:xfrm>
            <a:off x="7562850" y="1333500"/>
            <a:ext cx="2266950" cy="933450"/>
          </a:xfrm>
          <a:prstGeom prst="roundRect">
            <a:avLst>
              <a:gd name="adj" fmla="val 8163"/>
            </a:avLst>
          </a:prstGeom>
          <a:solidFill>
            <a:srgbClr val="FFFFFF">
              <a:alpha val="9020"/>
            </a:srgbClr>
          </a:solidFill>
          <a:ln w="0">
            <a:solidFill>
              <a:srgbClr val="FFFFFF">
                <a:alpha val="9020"/>
              </a:srgbClr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782143-2D33-42F4-BC11-5859F7510861}"/>
              </a:ext>
            </a:extLst>
          </p:cNvPr>
          <p:cNvSpPr>
            <a:spLocks noGrp="1"/>
          </p:cNvSpPr>
          <p:nvPr/>
        </p:nvSpPr>
        <p:spPr>
          <a:xfrm>
            <a:off x="8153400" y="2571750"/>
            <a:ext cx="2457450" cy="1066800"/>
          </a:xfrm>
          <a:prstGeom prst="roundRect">
            <a:avLst>
              <a:gd name="adj" fmla="val 7143"/>
            </a:avLst>
          </a:prstGeom>
          <a:solidFill>
            <a:srgbClr val="FFFFFF">
              <a:alpha val="11373"/>
            </a:srgbClr>
          </a:solidFill>
          <a:ln w="0">
            <a:solidFill>
              <a:srgbClr val="FFFFFF">
                <a:alpha val="11373"/>
              </a:srgbClr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A7A69B-8FA3-47AB-8B64-78A95A88D999}"/>
              </a:ext>
            </a:extLst>
          </p:cNvPr>
          <p:cNvSpPr>
            <a:spLocks noGrp="1"/>
          </p:cNvSpPr>
          <p:nvPr/>
        </p:nvSpPr>
        <p:spPr>
          <a:xfrm>
            <a:off x="7334250" y="3905250"/>
            <a:ext cx="23622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020"/>
            </a:srgbClr>
          </a:solidFill>
          <a:ln w="0">
            <a:solidFill>
              <a:srgbClr val="FFFFFF">
                <a:alpha val="902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E2313-16D1-4190-9EC2-6C72CEE2EB68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4EFF1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4EFF1"/>
                </a:solidFill>
                <a:latin typeface="Aptos Mono"/>
                <a:ea typeface="Aptos Mono"/>
                <a:cs typeface="Aptos Mono"/>
              </a:rPr>
              <a:t>MICROSOFT FABRIC QA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B55CC-00B2-4262-B98A-0D803B0C624E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6572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lang="en-US" sz="2850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Module</a:t>
            </a:r>
            <a:r>
              <a:rPr sz="2850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 4: Pipeline, Semantic Model &amp; Security 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3C64DD-E1D7-4429-B130-A09E566CFC8D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58293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6EE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E6EEF2"/>
                </a:solidFill>
                <a:latin typeface="Lato"/>
                <a:ea typeface="Lato"/>
                <a:cs typeface="Lato"/>
              </a:rPr>
              <a:t>A QA-first walkthrough of run-history evidence, semantic-model validation, report correctness, and row-level security in Fabric.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2155DE-2F89-4F92-9D10-70DB0DAA0776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26494-8A01-42C0-8EC3-F9A4F24F844F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30 MINUTE SESSION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961251-33CA-4457-8BF5-1CA0453CE6BC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2114550" cy="304800"/>
          </a:xfrm>
          <a:prstGeom prst="roundRect">
            <a:avLst>
              <a:gd name="adj" fmla="val 25000"/>
            </a:avLst>
          </a:prstGeom>
          <a:solidFill>
            <a:srgbClr val="F5E7C4"/>
          </a:solidFill>
          <a:ln w="0">
            <a:solidFill>
              <a:srgbClr val="F5E7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4A0E50-1EAD-4D4B-9C62-DE3BB585A460}"/>
              </a:ext>
            </a:extLst>
          </p:cNvPr>
          <p:cNvSpPr>
            <a:spLocks noGrp="1"/>
          </p:cNvSpPr>
          <p:nvPr/>
        </p:nvSpPr>
        <p:spPr>
          <a:xfrm>
            <a:off x="2781300" y="3429000"/>
            <a:ext cx="1847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82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82D"/>
                </a:solidFill>
                <a:latin typeface="Aptos Mono"/>
                <a:ea typeface="Aptos Mono"/>
                <a:cs typeface="Aptos Mono"/>
              </a:rPr>
              <a:t>20 PRESENTATION SLIDES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140D332-6DFE-496D-AB9E-6298556CBC4A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56197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C16618-4191-4D2A-8928-6D74B1F54223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76200" cy="179070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65E235-6A6D-4ED6-AC8B-D6BB15E0E520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By the end of this module, learners should be able to: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9146D-5AE8-4E8A-909F-33BC0CA4EFBE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4953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Validate pipeline success, failure, and rerun behavior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Check relationships, measures, and report totals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Inspect refresh behavior from a QA perspective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Prove row-level isolation with role-based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797B89-4ED3-487A-A30F-67298655ECCC}"/>
              </a:ext>
            </a:extLst>
          </p:cNvPr>
          <p:cNvSpPr>
            <a:spLocks noGrp="1"/>
          </p:cNvSpPr>
          <p:nvPr/>
        </p:nvSpPr>
        <p:spPr>
          <a:xfrm>
            <a:off x="742950" y="61722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4EFF1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4EFF1"/>
                </a:solidFill>
                <a:latin typeface="Aptos Mono"/>
                <a:ea typeface="Aptos Mono"/>
                <a:cs typeface="Aptos Mono"/>
              </a:rPr>
              <a:t>Module 4</a:t>
            </a:r>
          </a:p>
        </p:txBody>
      </p:sp>
    </p:spTree>
    <p:extLst>
      <p:ext uri="{BB962C8B-B14F-4D97-AF65-F5344CB8AC3E}">
        <p14:creationId xmlns:p14="http://schemas.microsoft.com/office/powerpoint/2010/main" val="24749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0880230-AEF4-4941-A6F2-19A4C982E4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B57F5-4CFD-43DB-B7C4-8B4550779A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21C615-0C13-4062-84E9-03AFD20B3F84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B529A9-9D5F-4B47-959E-5A18FC5D86DE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77302B-6232-4FEB-81C4-A74C70A39B9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B911C-4E5B-4D9E-AFE4-269E8E03CB5E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8D8D1-9F23-4E98-9D54-6DAB24FFB202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9BAFAB-BBB8-4AAC-8184-6FDCCA53837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What we will cover in 30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33EC4E-A35B-45BF-955C-436946A00AD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This session moves from orchestration evidence into consumption correctness and access control.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6E4ABA-5F0B-4946-A6B7-1898E1647C88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257800" cy="1143000"/>
          </a:xfrm>
          <a:prstGeom prst="roundRect">
            <a:avLst>
              <a:gd name="adj" fmla="val 6667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A100C4-234D-4CE7-BE85-25CD13667D58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76200" cy="11430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CC38E5-25F2-4322-8FB6-98F8EEB73B9E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1. Pipeline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DDB38-155E-42E0-B5CF-4D21656CFB6B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4838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How to validate activity order, partial failures, and successful reruns.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46B270-30D0-4719-B1A1-5CC0D1754D60}"/>
              </a:ext>
            </a:extLst>
          </p:cNvPr>
          <p:cNvSpPr>
            <a:spLocks noGrp="1"/>
          </p:cNvSpPr>
          <p:nvPr/>
        </p:nvSpPr>
        <p:spPr>
          <a:xfrm>
            <a:off x="6210300" y="3238500"/>
            <a:ext cx="5257800" cy="1143000"/>
          </a:xfrm>
          <a:prstGeom prst="roundRect">
            <a:avLst>
              <a:gd name="adj" fmla="val 6667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3E5B4D-872B-47C1-BF9F-FC1B9934A397}"/>
              </a:ext>
            </a:extLst>
          </p:cNvPr>
          <p:cNvSpPr>
            <a:spLocks noGrp="1"/>
          </p:cNvSpPr>
          <p:nvPr/>
        </p:nvSpPr>
        <p:spPr>
          <a:xfrm>
            <a:off x="6210300" y="3238500"/>
            <a:ext cx="76200" cy="11430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E5FB0-5BEC-4233-8735-46A2C0A104DF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2. Semantic model logic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F50078-4197-48CC-A4C6-AB3DA044F17D}"/>
              </a:ext>
            </a:extLst>
          </p:cNvPr>
          <p:cNvSpPr>
            <a:spLocks noGrp="1"/>
          </p:cNvSpPr>
          <p:nvPr/>
        </p:nvSpPr>
        <p:spPr>
          <a:xfrm>
            <a:off x="6419850" y="3752850"/>
            <a:ext cx="4838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How relationships and measures shape business-facing correctness.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3ED0B3D-39A5-49BD-9650-2F54AD60D6CE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5257800" cy="1143000"/>
          </a:xfrm>
          <a:prstGeom prst="roundRect">
            <a:avLst>
              <a:gd name="adj" fmla="val 6667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815811-2B11-4E02-929E-C1E0AB3B4FE3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76200" cy="11430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6C30B4-E12D-4EC2-82D1-5800FDB19785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3. Report validation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CDA8A5-703D-4044-B213-2199781B6CBD}"/>
              </a:ext>
            </a:extLst>
          </p:cNvPr>
          <p:cNvSpPr>
            <a:spLocks noGrp="1"/>
          </p:cNvSpPr>
          <p:nvPr/>
        </p:nvSpPr>
        <p:spPr>
          <a:xfrm>
            <a:off x="933450" y="5105400"/>
            <a:ext cx="4838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How to test KPI values, region totals, and refresh outcomes.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32E0F32-B786-4026-878F-E121AA972061}"/>
              </a:ext>
            </a:extLst>
          </p:cNvPr>
          <p:cNvSpPr>
            <a:spLocks noGrp="1"/>
          </p:cNvSpPr>
          <p:nvPr/>
        </p:nvSpPr>
        <p:spPr>
          <a:xfrm>
            <a:off x="6210300" y="4591050"/>
            <a:ext cx="5257800" cy="1143000"/>
          </a:xfrm>
          <a:prstGeom prst="roundRect">
            <a:avLst>
              <a:gd name="adj" fmla="val 6667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968E0-8A13-4E13-B7DB-EFA9FD5D0B21}"/>
              </a:ext>
            </a:extLst>
          </p:cNvPr>
          <p:cNvSpPr>
            <a:spLocks noGrp="1"/>
          </p:cNvSpPr>
          <p:nvPr/>
        </p:nvSpPr>
        <p:spPr>
          <a:xfrm>
            <a:off x="6210300" y="4591050"/>
            <a:ext cx="76200" cy="114300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3A78E1-A861-4852-BFDF-A66160BF3EE3}"/>
              </a:ext>
            </a:extLst>
          </p:cNvPr>
          <p:cNvSpPr>
            <a:spLocks noGrp="1"/>
          </p:cNvSpPr>
          <p:nvPr/>
        </p:nvSpPr>
        <p:spPr>
          <a:xfrm>
            <a:off x="6419850" y="476250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4. Security testing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BFB2A8-50FA-47A7-8280-019D2E44F8CF}"/>
              </a:ext>
            </a:extLst>
          </p:cNvPr>
          <p:cNvSpPr>
            <a:spLocks noGrp="1"/>
          </p:cNvSpPr>
          <p:nvPr/>
        </p:nvSpPr>
        <p:spPr>
          <a:xfrm>
            <a:off x="6419850" y="5105400"/>
            <a:ext cx="4838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How to prove that RLS allows the right rows and blocks the wrong ones.</a:t>
            </a:r>
          </a:p>
        </p:txBody>
      </p:sp>
    </p:spTree>
    <p:extLst>
      <p:ext uri="{BB962C8B-B14F-4D97-AF65-F5344CB8AC3E}">
        <p14:creationId xmlns:p14="http://schemas.microsoft.com/office/powerpoint/2010/main" val="158142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73235B4-6264-490E-92FB-D39B06B133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DA9C89-E895-4D48-A11A-D74B211A5B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BEFF3D-232E-41C7-BC20-2ACA377BDBD2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D29E5E-1651-497C-AF24-6495672CD185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AF2F91-0032-48B9-BBC1-5CB4A4E6B4A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1512E-19BB-4C29-8B5B-605FFC8A6C05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QA 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94FB9-1FF7-4DBE-8A6F-08BC77700A79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1AE3AE-EE65-4F23-9F7F-6822EFD8118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What 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matters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566EA-E253-455D-B579-EF1D7E17A7D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 storage layer can be healthy while orchestration, reporting, or security still fails.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389418-071C-40B3-9997-DDD6B9D5B56F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2D972-643A-4A6E-841F-FFCFDF5BF0DE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76200" cy="10477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009C20-86E3-464D-BB82-21DF871A0FF8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Pipelines can fail halfway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0C7559-81E0-4399-832D-D65C50B45FC4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10172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QA should inspect which activities completed, which failed, and what evidence remains after partial success.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37876F-0311-4D01-9DED-B415533D2FC8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E111FF-3F2B-4BF7-9F13-9F82E3182853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76200" cy="10477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DA6E3-CD39-4BE2-809B-4C0BDF1DA5EF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Models can distort meaning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37FA0E-5786-49C4-85DE-FD20163C75EA}"/>
              </a:ext>
            </a:extLst>
          </p:cNvPr>
          <p:cNvSpPr>
            <a:spLocks noGrp="1"/>
          </p:cNvSpPr>
          <p:nvPr/>
        </p:nvSpPr>
        <p:spPr>
          <a:xfrm>
            <a:off x="1009650" y="4933950"/>
            <a:ext cx="10172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 wrong relationship or measure can produce believable but incorrect report numbers.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82A262-7C58-4DD6-9AED-4BCE514631C9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720C5-D7D2-4FE8-897E-1D9A8B9F992C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76200" cy="10477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4DBCFC-D856-40C0-BB8E-0E9843482F1E}"/>
              </a:ext>
            </a:extLst>
          </p:cNvPr>
          <p:cNvSpPr>
            <a:spLocks noGrp="1"/>
          </p:cNvSpPr>
          <p:nvPr/>
        </p:nvSpPr>
        <p:spPr>
          <a:xfrm>
            <a:off x="1009650" y="58483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Security is user-visible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1D4480-2AED-4859-A965-1BF56725A5DD}"/>
              </a:ext>
            </a:extLst>
          </p:cNvPr>
          <p:cNvSpPr>
            <a:spLocks noGrp="1"/>
          </p:cNvSpPr>
          <p:nvPr/>
        </p:nvSpPr>
        <p:spPr>
          <a:xfrm>
            <a:off x="1009650" y="6191250"/>
            <a:ext cx="10172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If a restricted role sees another region's data, the platform may work technically but still fail the customer.</a:t>
            </a:r>
          </a:p>
        </p:txBody>
      </p:sp>
    </p:spTree>
    <p:extLst>
      <p:ext uri="{BB962C8B-B14F-4D97-AF65-F5344CB8AC3E}">
        <p14:creationId xmlns:p14="http://schemas.microsoft.com/office/powerpoint/2010/main" val="70502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D43EA-A8AA-46EF-A9E3-978DF40DE9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C337CEB-4AD5-4F57-9CA2-AB1D7CE7CEF4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DD2ED0-FE53-45A9-87F5-93F6B4D3EEC0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76FE85-36C0-4AF9-8A2E-18A3A5CA446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76B5AE-BDC4-4090-A8F0-639AB551F904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F9625-48F1-47A6-BE8A-3AC9BCEC04D1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98FF7A-421A-4724-AC0E-244DE86E438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L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earning 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09C07-1DA4-43B4-9AEE-333C514D8FD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These are the practical skills learners should leave with after this session.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A940A8-99BB-4D63-93C4-862DB2E434FE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0029F-585E-4F22-A2EC-B990422AF58D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76200" cy="11239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A5ED3-FF10-4F65-9BE3-080D89E57912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Inspect pipeline runs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176914-737E-4BA9-81E6-6E0791C3886E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47720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Confirm activity order, statuses, and failure evidence.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3E054D-2F67-4874-9B57-29E70B75D4A1}"/>
              </a:ext>
            </a:extLst>
          </p:cNvPr>
          <p:cNvSpPr>
            <a:spLocks noGrp="1"/>
          </p:cNvSpPr>
          <p:nvPr/>
        </p:nvSpPr>
        <p:spPr>
          <a:xfrm>
            <a:off x="6143625" y="274320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0D5E82-ED91-4CB1-ADE6-BCF6766BA045}"/>
              </a:ext>
            </a:extLst>
          </p:cNvPr>
          <p:cNvSpPr>
            <a:spLocks noGrp="1"/>
          </p:cNvSpPr>
          <p:nvPr/>
        </p:nvSpPr>
        <p:spPr>
          <a:xfrm>
            <a:off x="6143625" y="2743200"/>
            <a:ext cx="76200" cy="11239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4BAC5-646F-4096-863A-3234FCA80E34}"/>
              </a:ext>
            </a:extLst>
          </p:cNvPr>
          <p:cNvSpPr>
            <a:spLocks noGrp="1"/>
          </p:cNvSpPr>
          <p:nvPr/>
        </p:nvSpPr>
        <p:spPr>
          <a:xfrm>
            <a:off x="6353175" y="29146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Retest after repair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C736DD-638A-4073-850C-4F6F3E8289B4}"/>
              </a:ext>
            </a:extLst>
          </p:cNvPr>
          <p:cNvSpPr>
            <a:spLocks noGrp="1"/>
          </p:cNvSpPr>
          <p:nvPr/>
        </p:nvSpPr>
        <p:spPr>
          <a:xfrm>
            <a:off x="6353175" y="3257550"/>
            <a:ext cx="47720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Rerun a repaired pipeline and confirm final success.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B6D62D-1CDF-4BF3-B157-044606EF7D70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C180C-5D9F-473D-9607-88944DBA1125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76200" cy="11239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EA4A1-E1C1-4283-96D4-1711EF0E24C5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Validate model logic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539660-7F53-4572-AD3A-4AF4A88DD128}"/>
              </a:ext>
            </a:extLst>
          </p:cNvPr>
          <p:cNvSpPr>
            <a:spLocks noGrp="1"/>
          </p:cNvSpPr>
          <p:nvPr/>
        </p:nvSpPr>
        <p:spPr>
          <a:xfrm>
            <a:off x="952500" y="4591050"/>
            <a:ext cx="47720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Check relationships, cardinality, filter direction, and measures.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0330A2E-9B58-41EE-968D-36C6DB0A2105}"/>
              </a:ext>
            </a:extLst>
          </p:cNvPr>
          <p:cNvSpPr>
            <a:spLocks noGrp="1"/>
          </p:cNvSpPr>
          <p:nvPr/>
        </p:nvSpPr>
        <p:spPr>
          <a:xfrm>
            <a:off x="6143625" y="407670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8BAEBC-5AE1-4778-B0AD-2BE1AC64ED40}"/>
              </a:ext>
            </a:extLst>
          </p:cNvPr>
          <p:cNvSpPr>
            <a:spLocks noGrp="1"/>
          </p:cNvSpPr>
          <p:nvPr/>
        </p:nvSpPr>
        <p:spPr>
          <a:xfrm>
            <a:off x="6143625" y="4076700"/>
            <a:ext cx="76200" cy="112395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8D2D52-6BE2-48F2-8849-C899EF6CCAA2}"/>
              </a:ext>
            </a:extLst>
          </p:cNvPr>
          <p:cNvSpPr>
            <a:spLocks noGrp="1"/>
          </p:cNvSpPr>
          <p:nvPr/>
        </p:nvSpPr>
        <p:spPr>
          <a:xfrm>
            <a:off x="6353175" y="42481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Validate reports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4B95A6-EA8B-4D4A-891E-5CC8B5F1C38A}"/>
              </a:ext>
            </a:extLst>
          </p:cNvPr>
          <p:cNvSpPr>
            <a:spLocks noGrp="1"/>
          </p:cNvSpPr>
          <p:nvPr/>
        </p:nvSpPr>
        <p:spPr>
          <a:xfrm>
            <a:off x="6353175" y="4591050"/>
            <a:ext cx="47720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Check KPI cards, matrix totals, and refresh results.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8629BDB-F609-421A-AFFA-AF08E116BC79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E71807-5E99-403D-B4D3-DFDE3A3C2811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76200" cy="112395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F7DFED-C1C4-49FF-932A-5BBFFAF47FC0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Prove isolation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3309EC-F026-42E8-AE28-2DDE35A2E91B}"/>
              </a:ext>
            </a:extLst>
          </p:cNvPr>
          <p:cNvSpPr>
            <a:spLocks noGrp="1"/>
          </p:cNvSpPr>
          <p:nvPr/>
        </p:nvSpPr>
        <p:spPr>
          <a:xfrm>
            <a:off x="952500" y="5924550"/>
            <a:ext cx="47720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Use RLS roles to validate positive and negative access outcomes.</a:t>
            </a:r>
          </a:p>
        </p:txBody>
      </p:sp>
    </p:spTree>
    <p:extLst>
      <p:ext uri="{BB962C8B-B14F-4D97-AF65-F5344CB8AC3E}">
        <p14:creationId xmlns:p14="http://schemas.microsoft.com/office/powerpoint/2010/main" val="158623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FF446CE-EFCF-4019-BEDD-5CB26083FE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037F0-8198-43C6-BA6B-B92A822C0F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E7AB92-339E-4146-8B0E-DBC938D601BC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1D2E6E-83A9-4DA1-852C-9E0D1F1285FC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B9C183-041B-4D10-98BE-3C49EAB80EF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B0153-B178-4BAB-9331-BCECB92DFE6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SURFACE 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79998-DDDC-4FF1-95E4-8C7ECC592A79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1A2E2-F2A7-4C0A-ADF7-48B24AE1DF2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The QA surface 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278D3-C6F0-4AAD-BD67-ADBA11498AF7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 working Fabric solution has four connected validation surfaces on Day 4.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FF553E-5B0E-4EE4-BA48-ACF89AEA2B24}"/>
              </a:ext>
            </a:extLst>
          </p:cNvPr>
          <p:cNvSpPr>
            <a:spLocks noGrp="1"/>
          </p:cNvSpPr>
          <p:nvPr/>
        </p:nvSpPr>
        <p:spPr>
          <a:xfrm>
            <a:off x="4819650" y="3448050"/>
            <a:ext cx="2552700" cy="1619250"/>
          </a:xfrm>
          <a:prstGeom prst="ellipse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069DD3-00FE-4E24-8709-B8BF4F6F379D}"/>
              </a:ext>
            </a:extLst>
          </p:cNvPr>
          <p:cNvSpPr>
            <a:spLocks noGrp="1"/>
          </p:cNvSpPr>
          <p:nvPr/>
        </p:nvSpPr>
        <p:spPr>
          <a:xfrm>
            <a:off x="5257800" y="40386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sz="2100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QA MAP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8A06C9A-4C6C-460A-9E9F-AA796D338BE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C523DD-EB45-40B9-815B-7C38FEEDADD6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76200" cy="9906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B63C8C-894B-4278-964F-436F6C056A23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B0D61-F46D-444D-AAE3-F430069673D6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Run order, statuses, error details, reruns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244D24-4C6E-4065-A32D-3926C614D345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F5ECB5-80C9-447C-BB4B-CEFCC76311DF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76200" cy="9906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8C985-72F5-4DD0-8445-46080B2F6378}"/>
              </a:ext>
            </a:extLst>
          </p:cNvPr>
          <p:cNvSpPr>
            <a:spLocks noGrp="1"/>
          </p:cNvSpPr>
          <p:nvPr/>
        </p:nvSpPr>
        <p:spPr>
          <a:xfrm>
            <a:off x="8267700" y="3505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Semantic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3B382E-8CC8-4EB4-B03B-21171EC0EA58}"/>
              </a:ext>
            </a:extLst>
          </p:cNvPr>
          <p:cNvSpPr>
            <a:spLocks noGrp="1"/>
          </p:cNvSpPr>
          <p:nvPr/>
        </p:nvSpPr>
        <p:spPr>
          <a:xfrm>
            <a:off x="8267700" y="38290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Relationships, measures, filter behavior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5D6588-8ABA-401F-B2D7-61F62A2A99A1}"/>
              </a:ext>
            </a:extLst>
          </p:cNvPr>
          <p:cNvSpPr>
            <a:spLocks noGrp="1"/>
          </p:cNvSpPr>
          <p:nvPr/>
        </p:nvSpPr>
        <p:spPr>
          <a:xfrm>
            <a:off x="2209800" y="531495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218ED4-4E14-405B-B0C5-AE60607315F7}"/>
              </a:ext>
            </a:extLst>
          </p:cNvPr>
          <p:cNvSpPr>
            <a:spLocks noGrp="1"/>
          </p:cNvSpPr>
          <p:nvPr/>
        </p:nvSpPr>
        <p:spPr>
          <a:xfrm>
            <a:off x="2209800" y="5314950"/>
            <a:ext cx="76200" cy="9906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305D02-EB2F-4991-8F55-FE06D24CB839}"/>
              </a:ext>
            </a:extLst>
          </p:cNvPr>
          <p:cNvSpPr>
            <a:spLocks noGrp="1"/>
          </p:cNvSpPr>
          <p:nvPr/>
        </p:nvSpPr>
        <p:spPr>
          <a:xfrm>
            <a:off x="2419350" y="5467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FADF0A-8353-4E33-BFAE-37DAA6318924}"/>
              </a:ext>
            </a:extLst>
          </p:cNvPr>
          <p:cNvSpPr>
            <a:spLocks noGrp="1"/>
          </p:cNvSpPr>
          <p:nvPr/>
        </p:nvSpPr>
        <p:spPr>
          <a:xfrm>
            <a:off x="2419350" y="579120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KPI cards, matrix values, refresh evidence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2691F4B-020B-4AFB-9A59-90519A99D7CA}"/>
              </a:ext>
            </a:extLst>
          </p:cNvPr>
          <p:cNvSpPr>
            <a:spLocks noGrp="1"/>
          </p:cNvSpPr>
          <p:nvPr/>
        </p:nvSpPr>
        <p:spPr>
          <a:xfrm>
            <a:off x="6591300" y="531495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A7787A-7ADF-46EF-BB9D-26C40801A416}"/>
              </a:ext>
            </a:extLst>
          </p:cNvPr>
          <p:cNvSpPr>
            <a:spLocks noGrp="1"/>
          </p:cNvSpPr>
          <p:nvPr/>
        </p:nvSpPr>
        <p:spPr>
          <a:xfrm>
            <a:off x="6591300" y="5314950"/>
            <a:ext cx="76200" cy="99060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73A023-9C88-4687-9993-FDF780073AFC}"/>
              </a:ext>
            </a:extLst>
          </p:cNvPr>
          <p:cNvSpPr>
            <a:spLocks noGrp="1"/>
          </p:cNvSpPr>
          <p:nvPr/>
        </p:nvSpPr>
        <p:spPr>
          <a:xfrm>
            <a:off x="6800850" y="5467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Security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3E4C4-D575-4B21-AC37-655A5121AEDB}"/>
              </a:ext>
            </a:extLst>
          </p:cNvPr>
          <p:cNvSpPr>
            <a:spLocks noGrp="1"/>
          </p:cNvSpPr>
          <p:nvPr/>
        </p:nvSpPr>
        <p:spPr>
          <a:xfrm>
            <a:off x="6800850" y="579120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RLS role views, blocked access, customer isolation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4E4044-2506-430F-833C-C50C061A969C}"/>
              </a:ext>
            </a:extLst>
          </p:cNvPr>
          <p:cNvSpPr>
            <a:spLocks noGrp="1"/>
          </p:cNvSpPr>
          <p:nvPr/>
        </p:nvSpPr>
        <p:spPr>
          <a:xfrm>
            <a:off x="3543300" y="4210050"/>
            <a:ext cx="12954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F7E660-9591-4D50-AFC2-B74C9CFDA8AA}"/>
              </a:ext>
            </a:extLst>
          </p:cNvPr>
          <p:cNvSpPr>
            <a:spLocks noGrp="1"/>
          </p:cNvSpPr>
          <p:nvPr/>
        </p:nvSpPr>
        <p:spPr>
          <a:xfrm>
            <a:off x="7353300" y="4210050"/>
            <a:ext cx="70485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AED34C-F910-42F8-AAAE-0AFDFD2C53B0}"/>
              </a:ext>
            </a:extLst>
          </p:cNvPr>
          <p:cNvSpPr>
            <a:spLocks noGrp="1"/>
          </p:cNvSpPr>
          <p:nvPr/>
        </p:nvSpPr>
        <p:spPr>
          <a:xfrm>
            <a:off x="5905500" y="5048250"/>
            <a:ext cx="38100" cy="419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128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BBB697B-C0DD-40B0-84ED-A69527550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585CE0-AEDD-499A-B953-D856E04701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D72279-4D24-4356-B96F-1068D1738F0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B69D7F-D18D-4916-BEC9-F457F83EC0F2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038D6C-6596-4F55-956F-7254BE2718D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2BD6FD-ED6E-4383-95CE-84B82C89714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183D2-B829-4ADB-A01C-B6653B99800D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E317E-1ADC-4E12-A29B-0ADC1C7ABFD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Pipeline testing questions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F48F8-8CBD-45B4-B460-0E62EEF4058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 successful run matters, but QA should ask deeper questions than pass or fail.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483D28-B507-4E94-AD98-B47594F74985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5181600" cy="2781300"/>
          </a:xfrm>
          <a:prstGeom prst="roundRect">
            <a:avLst>
              <a:gd name="adj" fmla="val 2740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3BCC11-E7A5-4EF3-8256-EEA8F06E3885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76200" cy="27813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4B477-4633-4FC0-A9F8-EE75D214F6F6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Questions QA should 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C83D44-BD25-46A6-BD50-25748E72D6DD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43624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Did activities run in the expected sequence?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What exactly succeeded before the failure occurred?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Can the rerun be traced clearly in history?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Are the produced outputs complete and current?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Does the failure message help the team act quickly?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D6C5E25-4666-489B-BD90-F9124793E370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5181600" cy="2781300"/>
          </a:xfrm>
          <a:prstGeom prst="roundRect">
            <a:avLst>
              <a:gd name="adj" fmla="val 2740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EE9AF-BD74-420B-85EF-38FCEC486806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76200" cy="27813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61A00D-0CAA-47BB-87A3-714C07ECFDC4}"/>
              </a:ext>
            </a:extLst>
          </p:cNvPr>
          <p:cNvSpPr>
            <a:spLocks noGrp="1"/>
          </p:cNvSpPr>
          <p:nvPr/>
        </p:nvSpPr>
        <p:spPr>
          <a:xfrm>
            <a:off x="6515100" y="3352800"/>
            <a:ext cx="318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Practical evidence to collect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E16B5-2F16-48CC-A8BD-519AFB6FF576}"/>
              </a:ext>
            </a:extLst>
          </p:cNvPr>
          <p:cNvSpPr>
            <a:spLocks noGrp="1"/>
          </p:cNvSpPr>
          <p:nvPr/>
        </p:nvSpPr>
        <p:spPr>
          <a:xfrm>
            <a:off x="6515100" y="3771900"/>
            <a:ext cx="43815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Pipeline run ID and status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Activity-level start and end status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Error text from the failed checkpoint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Proof that curated tables existed after activity one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Proof that the rerun completed cleanly after the fix</a:t>
            </a:r>
          </a:p>
        </p:txBody>
      </p:sp>
    </p:spTree>
    <p:extLst>
      <p:ext uri="{BB962C8B-B14F-4D97-AF65-F5344CB8AC3E}">
        <p14:creationId xmlns:p14="http://schemas.microsoft.com/office/powerpoint/2010/main" val="185459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E5C5128-A6FA-42FD-A10D-ED240EA618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DD4724-3B01-4305-B71A-4FC5FED629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B2046F-63F9-43DC-B2F9-3E27938BADE4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ABAA5D-92EC-468E-9BA4-5238628F6F03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4ABC5A-38B3-41EF-B9E0-00840487A84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8E964-8180-4691-9F84-07402628E802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FAILURE 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7B8FF-2DCC-4EC7-80F9-DE0EBBFB9AA6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EB815-C2C5-4FD6-969F-B730166EFC1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Partial failures, reruns, and run-history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14D86-F7A2-4004-AB3A-5C9ECC9EBF6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Using</a:t>
            </a: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 an intentional checkpoint failure to make the rerun path visible.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4018DB-112F-491D-A02D-6ACD36076A6F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CE0CB-06EE-445B-9DAA-42DC733E4CD8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76200" cy="14859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48FE1-3338-4E5C-BCE4-58D30695AA7C}"/>
              </a:ext>
            </a:extLst>
          </p:cNvPr>
          <p:cNvSpPr>
            <a:spLocks noGrp="1"/>
          </p:cNvSpPr>
          <p:nvPr/>
        </p:nvSpPr>
        <p:spPr>
          <a:xfrm>
            <a:off x="1028700" y="39624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9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Run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4CA08C-B676-40EB-88C8-E805F630FF34}"/>
              </a:ext>
            </a:extLst>
          </p:cNvPr>
          <p:cNvSpPr>
            <a:spLocks noGrp="1"/>
          </p:cNvSpPr>
          <p:nvPr/>
        </p:nvSpPr>
        <p:spPr>
          <a:xfrm>
            <a:off x="1028700" y="4400550"/>
            <a:ext cx="209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 lnSpcReduction="1000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Curated-table notebook succeeds and creates the expected outputs.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0B6699-E864-47E0-9EDA-36768083DAAF}"/>
              </a:ext>
            </a:extLst>
          </p:cNvPr>
          <p:cNvSpPr>
            <a:spLocks noGrp="1"/>
          </p:cNvSpPr>
          <p:nvPr/>
        </p:nvSpPr>
        <p:spPr>
          <a:xfrm>
            <a:off x="4000500" y="37338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2485FA-5918-41A0-8641-5518BC7A2783}"/>
              </a:ext>
            </a:extLst>
          </p:cNvPr>
          <p:cNvSpPr>
            <a:spLocks noGrp="1"/>
          </p:cNvSpPr>
          <p:nvPr/>
        </p:nvSpPr>
        <p:spPr>
          <a:xfrm>
            <a:off x="4000500" y="3733800"/>
            <a:ext cx="76200" cy="14859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5A7ED-4EBD-44B3-81B4-AED39DAD34E3}"/>
              </a:ext>
            </a:extLst>
          </p:cNvPr>
          <p:cNvSpPr>
            <a:spLocks noGrp="1"/>
          </p:cNvSpPr>
          <p:nvPr/>
        </p:nvSpPr>
        <p:spPr>
          <a:xfrm>
            <a:off x="4229099" y="3962400"/>
            <a:ext cx="2219201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95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Checkpoint fails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DF926C-1E60-44F6-9040-BD5AF023CE1B}"/>
              </a:ext>
            </a:extLst>
          </p:cNvPr>
          <p:cNvSpPr>
            <a:spLocks noGrp="1"/>
          </p:cNvSpPr>
          <p:nvPr/>
        </p:nvSpPr>
        <p:spPr>
          <a:xfrm>
            <a:off x="4229100" y="4400550"/>
            <a:ext cx="209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 lnSpcReduction="1000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The second notebook raises an intentional exception for QA review.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A26FAD-364B-46CD-BDD5-5665BD1CA8A4}"/>
              </a:ext>
            </a:extLst>
          </p:cNvPr>
          <p:cNvSpPr>
            <a:spLocks noGrp="1"/>
          </p:cNvSpPr>
          <p:nvPr/>
        </p:nvSpPr>
        <p:spPr>
          <a:xfrm>
            <a:off x="7200900" y="37338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3DFF3D-1BD0-4E06-B167-DF2D3D80B219}"/>
              </a:ext>
            </a:extLst>
          </p:cNvPr>
          <p:cNvSpPr>
            <a:spLocks noGrp="1"/>
          </p:cNvSpPr>
          <p:nvPr/>
        </p:nvSpPr>
        <p:spPr>
          <a:xfrm>
            <a:off x="7200900" y="3733800"/>
            <a:ext cx="76200" cy="14859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29271D-B4D0-4135-BD7F-66F24914677C}"/>
              </a:ext>
            </a:extLst>
          </p:cNvPr>
          <p:cNvSpPr>
            <a:spLocks noGrp="1"/>
          </p:cNvSpPr>
          <p:nvPr/>
        </p:nvSpPr>
        <p:spPr>
          <a:xfrm>
            <a:off x="7429500" y="39624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9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Run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21CAD9-9A6E-4DE3-80D7-906FD9841B1E}"/>
              </a:ext>
            </a:extLst>
          </p:cNvPr>
          <p:cNvSpPr>
            <a:spLocks noGrp="1"/>
          </p:cNvSpPr>
          <p:nvPr/>
        </p:nvSpPr>
        <p:spPr>
          <a:xfrm>
            <a:off x="7429500" y="4400550"/>
            <a:ext cx="2095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 lnSpcReduction="10000"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The checkpoint is repaired and the rerun completes successfully.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083287-1536-4599-BBCA-4168116F43C6}"/>
              </a:ext>
            </a:extLst>
          </p:cNvPr>
          <p:cNvSpPr>
            <a:spLocks noGrp="1"/>
          </p:cNvSpPr>
          <p:nvPr/>
        </p:nvSpPr>
        <p:spPr>
          <a:xfrm>
            <a:off x="3429000" y="4457700"/>
            <a:ext cx="5715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A5A04936-25FC-4916-99FF-1D2135FC004B}"/>
              </a:ext>
            </a:extLst>
          </p:cNvPr>
          <p:cNvSpPr>
            <a:spLocks noGrp="1"/>
          </p:cNvSpPr>
          <p:nvPr/>
        </p:nvSpPr>
        <p:spPr>
          <a:xfrm>
            <a:off x="3867150" y="43624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10C277-0B30-48CE-88B1-DD04A39BE0BD}"/>
              </a:ext>
            </a:extLst>
          </p:cNvPr>
          <p:cNvSpPr>
            <a:spLocks noGrp="1"/>
          </p:cNvSpPr>
          <p:nvPr/>
        </p:nvSpPr>
        <p:spPr>
          <a:xfrm>
            <a:off x="6629400" y="4457700"/>
            <a:ext cx="5715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C1E40EC5-0D4C-42AB-BF0C-5AC3ED8A892D}"/>
              </a:ext>
            </a:extLst>
          </p:cNvPr>
          <p:cNvSpPr>
            <a:spLocks noGrp="1"/>
          </p:cNvSpPr>
          <p:nvPr/>
        </p:nvSpPr>
        <p:spPr>
          <a:xfrm>
            <a:off x="7067550" y="43624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CB3FFAB-D2BB-40D0-BF16-CC78514A2888}"/>
              </a:ext>
            </a:extLst>
          </p:cNvPr>
          <p:cNvSpPr>
            <a:spLocks noGrp="1"/>
          </p:cNvSpPr>
          <p:nvPr/>
        </p:nvSpPr>
        <p:spPr>
          <a:xfrm>
            <a:off x="3505200" y="5524500"/>
            <a:ext cx="5181600" cy="304800"/>
          </a:xfrm>
          <a:prstGeom prst="roundRect">
            <a:avLst>
              <a:gd name="adj" fmla="val 25000"/>
            </a:avLst>
          </a:prstGeom>
          <a:solidFill>
            <a:srgbClr val="EEF2F5"/>
          </a:solidFill>
          <a:ln w="0">
            <a:solidFill>
              <a:srgbClr val="EEF2F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B4DFE7-AF8F-421A-B815-3076EDCE6BFD}"/>
              </a:ext>
            </a:extLst>
          </p:cNvPr>
          <p:cNvSpPr>
            <a:spLocks noGrp="1"/>
          </p:cNvSpPr>
          <p:nvPr/>
        </p:nvSpPr>
        <p:spPr>
          <a:xfrm>
            <a:off x="3638550" y="5600700"/>
            <a:ext cx="491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033"/>
                </a:solidFill>
                <a:latin typeface="Aptos Mono"/>
                <a:ea typeface="Aptos Mono"/>
                <a:cs typeface="Aptos Mono"/>
              </a:rPr>
              <a:t>QA STORY: PARTIAL SUCCESS -&gt; FIX -&gt; RETEST</a:t>
            </a:r>
          </a:p>
        </p:txBody>
      </p:sp>
    </p:spTree>
    <p:extLst>
      <p:ext uri="{BB962C8B-B14F-4D97-AF65-F5344CB8AC3E}">
        <p14:creationId xmlns:p14="http://schemas.microsoft.com/office/powerpoint/2010/main" val="175953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0205356-16DB-485A-B7DF-0031B2282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0D2D1D-6BC2-4A22-811C-8886D152C1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612D52-446D-41E4-B384-7E9EAD35AC5A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C6B1F6-3584-43F0-896D-9EA42B57897A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46889A-03D1-4F08-A4C2-A71307615EA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9CA4EF-3C92-404A-9FA3-352F0B57639A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MONITORING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6B3B02-1B33-4D2F-B12F-86382F3DBF8D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A227A-3A99-44F5-A941-1743355DE05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What to capture from pipeline monitoring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B9998-865A-4809-98E0-96B2447EA3A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Monitoring data should make debugging, retesting, and audit evidence easier.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2D96BD-1120-4B4D-BEB3-0F9D7A1ED2CA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EBA80-D78D-4E31-9ADC-8D5C528F8B19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6200" cy="11620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9EA33E-0E7D-4129-9BB0-04FAF22ECF2F}"/>
              </a:ext>
            </a:extLst>
          </p:cNvPr>
          <p:cNvSpPr>
            <a:spLocks noGrp="1"/>
          </p:cNvSpPr>
          <p:nvPr/>
        </p:nvSpPr>
        <p:spPr>
          <a:xfrm>
            <a:off x="1009650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Activity statuses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20BB14-F9DB-49D2-A32B-6AFC1282658D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Capture which steps succeeded, failed, or were skipped.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C244B4B-CD2C-4731-BB80-CE0FCD318667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66E778-555E-4467-83D9-4B08DC7055C6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76200" cy="11620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5A97F-6F49-49D4-98F3-F7886EFF90BD}"/>
              </a:ext>
            </a:extLst>
          </p:cNvPr>
          <p:cNvSpPr>
            <a:spLocks noGrp="1"/>
          </p:cNvSpPr>
          <p:nvPr/>
        </p:nvSpPr>
        <p:spPr>
          <a:xfrm>
            <a:off x="6410325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Failure details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80B7EC-A3BD-471D-9D0B-5FA220C33572}"/>
              </a:ext>
            </a:extLst>
          </p:cNvPr>
          <p:cNvSpPr>
            <a:spLocks noGrp="1"/>
          </p:cNvSpPr>
          <p:nvPr/>
        </p:nvSpPr>
        <p:spPr>
          <a:xfrm>
            <a:off x="6410325" y="37147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Capture the exact checkpoint error text and timestamp.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D664AA-64CE-4ED3-8F6C-259BDF1C0A82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860F94-5C1F-4316-92E1-94D2EDAAF9CD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76200" cy="11620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6F8271-C55D-41F2-9E87-D241C8D1A635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Output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1B994-C9CC-4683-8487-37F35E5A9D85}"/>
              </a:ext>
            </a:extLst>
          </p:cNvPr>
          <p:cNvSpPr>
            <a:spLocks noGrp="1"/>
          </p:cNvSpPr>
          <p:nvPr/>
        </p:nvSpPr>
        <p:spPr>
          <a:xfrm>
            <a:off x="1009650" y="50863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Capture proof that the first activity created curated tables.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0A9F026-145D-481C-8599-1576561B4CBF}"/>
              </a:ext>
            </a:extLst>
          </p:cNvPr>
          <p:cNvSpPr>
            <a:spLocks noGrp="1"/>
          </p:cNvSpPr>
          <p:nvPr/>
        </p:nvSpPr>
        <p:spPr>
          <a:xfrm>
            <a:off x="6200775" y="45720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F74AA-8E83-48D8-AADF-8A4246BE5B9C}"/>
              </a:ext>
            </a:extLst>
          </p:cNvPr>
          <p:cNvSpPr>
            <a:spLocks noGrp="1"/>
          </p:cNvSpPr>
          <p:nvPr/>
        </p:nvSpPr>
        <p:spPr>
          <a:xfrm>
            <a:off x="6200775" y="4572000"/>
            <a:ext cx="76200" cy="116205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B1B1CA-11F0-4016-BA26-6E39A6815054}"/>
              </a:ext>
            </a:extLst>
          </p:cNvPr>
          <p:cNvSpPr>
            <a:spLocks noGrp="1"/>
          </p:cNvSpPr>
          <p:nvPr/>
        </p:nvSpPr>
        <p:spPr>
          <a:xfrm>
            <a:off x="6410325" y="47434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Rerun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A61B74-92F5-4BDD-AA8A-EC9E10898C51}"/>
              </a:ext>
            </a:extLst>
          </p:cNvPr>
          <p:cNvSpPr>
            <a:spLocks noGrp="1"/>
          </p:cNvSpPr>
          <p:nvPr/>
        </p:nvSpPr>
        <p:spPr>
          <a:xfrm>
            <a:off x="6410325" y="50863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Capture the later successful run and compare it to the failed one.</a:t>
            </a:r>
          </a:p>
        </p:txBody>
      </p:sp>
    </p:spTree>
    <p:extLst>
      <p:ext uri="{BB962C8B-B14F-4D97-AF65-F5344CB8AC3E}">
        <p14:creationId xmlns:p14="http://schemas.microsoft.com/office/powerpoint/2010/main" val="17140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69E3795-D264-4195-A9C9-5232071B2A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7E231-687A-4EEF-A87A-C102EEE29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DA6422-B513-4979-B801-DC4A19A709BD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B418BF-16C1-4955-B3FC-BEBAB194504E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7A51BF-D960-47FE-A516-C058DEE2AF8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F3A505-C106-480A-8ED8-A44AAA197F99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SEMANTIC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5663B-31B4-4D01-A8E6-49EF2CC091C8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C4A57-3F3C-4448-8092-B021FB5AB75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Semantic model testing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E84682-8629-4202-BC80-BFA747DD0E0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Once the data reaches a business model, QA should treat it as a contract.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FAE8E71-6B0B-48A7-A417-66C450375FB0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99A58C-E2C1-4986-94DD-821E4A80D9AA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811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63F8F-A70B-4A10-8B3E-26900DA397DB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Tables and fields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240B42-BF57-41BA-9BAB-50C7F5FC74E8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Confirm the expected fact and dimension tables are visible and named clearly.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DFA417-66B7-42C1-BBC1-D59BD02E6212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574DD0-36E2-4207-ACCD-BA79BF724C67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811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AA8929-6E48-47C8-8B42-9C73CD55FDD0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Relationships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6B5D1-A3DC-4526-9072-19B8ED0E13F2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Confirm keys, cardinality, and filter direction are correct.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0009ED-C7C7-4B5A-98F5-FFB2D17BF9DB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2A0005-2E7E-4F22-9FD3-39ACE6CA27E7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76200" cy="11811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B77977-E3E5-4F63-A751-5B8906F5D5DC}"/>
              </a:ext>
            </a:extLst>
          </p:cNvPr>
          <p:cNvSpPr>
            <a:spLocks noGrp="1"/>
          </p:cNvSpPr>
          <p:nvPr/>
        </p:nvSpPr>
        <p:spPr>
          <a:xfrm>
            <a:off x="1009650" y="47815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Measures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52AEFD-7061-4CBA-816E-06C354B580E3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Confirm DAX formulas return the same values as SQL validation queries.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4F6D7A3-927E-4EEA-AB99-94E77F05F7B2}"/>
              </a:ext>
            </a:extLst>
          </p:cNvPr>
          <p:cNvSpPr>
            <a:spLocks noGrp="1"/>
          </p:cNvSpPr>
          <p:nvPr/>
        </p:nvSpPr>
        <p:spPr>
          <a:xfrm>
            <a:off x="6200775" y="46101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AFBE96-FA51-44E8-A9E2-6A64D7E114C5}"/>
              </a:ext>
            </a:extLst>
          </p:cNvPr>
          <p:cNvSpPr>
            <a:spLocks noGrp="1"/>
          </p:cNvSpPr>
          <p:nvPr/>
        </p:nvSpPr>
        <p:spPr>
          <a:xfrm>
            <a:off x="6200775" y="4610100"/>
            <a:ext cx="76200" cy="118110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0269E8-BEE2-4EEC-B6EA-30E4CABB0CE7}"/>
              </a:ext>
            </a:extLst>
          </p:cNvPr>
          <p:cNvSpPr>
            <a:spLocks noGrp="1"/>
          </p:cNvSpPr>
          <p:nvPr/>
        </p:nvSpPr>
        <p:spPr>
          <a:xfrm>
            <a:off x="6410325" y="47815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Usability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25D6C8-C921-4F66-AAB7-E5F90C22F48E}"/>
              </a:ext>
            </a:extLst>
          </p:cNvPr>
          <p:cNvSpPr>
            <a:spLocks noGrp="1"/>
          </p:cNvSpPr>
          <p:nvPr/>
        </p:nvSpPr>
        <p:spPr>
          <a:xfrm>
            <a:off x="6410325" y="512445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Confirm the model supports the report layout the business expects.</a:t>
            </a:r>
          </a:p>
        </p:txBody>
      </p:sp>
    </p:spTree>
    <p:extLst>
      <p:ext uri="{BB962C8B-B14F-4D97-AF65-F5344CB8AC3E}">
        <p14:creationId xmlns:p14="http://schemas.microsoft.com/office/powerpoint/2010/main" val="185095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4381F24-14C6-4EC3-9D35-FBFD8DE43E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E9E71B-AFE0-4BEA-A585-6F4F705CC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080572-4917-4EFB-BF4B-B9AC1CFC6C6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F52F5B-2156-43CC-A59A-8BC3F2D44C2F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B792AC-CDFC-4D7C-9916-46179A5A763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FB1AB5-CB29-480D-BCAF-204077837700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RELATIONSHIPS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9617C-951B-48DC-8D88-53BEDE452FB4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28CC6-67D6-4338-8F3F-503FB3CB0BE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Relationships, cardinality, and filter direction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54703-3504-47D2-889C-6CAF885DD6B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 report can be wrong even when the fact table is right if model links are wrong.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100E63-A9EA-4400-8133-558E3F6EDD04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10820400" cy="2571750"/>
          </a:xfrm>
          <a:prstGeom prst="roundRect">
            <a:avLst>
              <a:gd name="adj" fmla="val 2632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A1463-13FB-454D-86B9-F5BEA9C27A9C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45719" cy="25717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EB222-16D5-4B4A-BCEF-FA66D3094C73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Topic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6FE646-EE78-46D0-8A94-DEA71C73C86A}"/>
              </a:ext>
            </a:extLst>
          </p:cNvPr>
          <p:cNvSpPr>
            <a:spLocks noGrp="1"/>
          </p:cNvSpPr>
          <p:nvPr/>
        </p:nvSpPr>
        <p:spPr>
          <a:xfrm>
            <a:off x="3352800" y="33909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Expected setting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6D5DE7-67FD-4DA8-B305-10B72B8482FE}"/>
              </a:ext>
            </a:extLst>
          </p:cNvPr>
          <p:cNvSpPr>
            <a:spLocks noGrp="1"/>
          </p:cNvSpPr>
          <p:nvPr/>
        </p:nvSpPr>
        <p:spPr>
          <a:xfrm>
            <a:off x="7505700" y="33909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QA risk if wrong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AE496A-1FA1-4921-9DDF-3DB8E264281E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10382250" cy="9525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C0A4B9-6806-4B10-8E3A-B84456755F1B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125" b="1" dirty="0">
                <a:solidFill>
                  <a:srgbClr val="142333"/>
                </a:solidFill>
                <a:latin typeface="Lato"/>
                <a:ea typeface="Lato"/>
                <a:cs typeface="Lato"/>
              </a:rPr>
              <a:t>Customer relationship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A2DF97-DAB1-4AEC-9821-E8C36811AAD1}"/>
              </a:ext>
            </a:extLst>
          </p:cNvPr>
          <p:cNvSpPr>
            <a:spLocks noGrp="1"/>
          </p:cNvSpPr>
          <p:nvPr/>
        </p:nvSpPr>
        <p:spPr>
          <a:xfrm>
            <a:off x="3352800" y="38862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FactSales many-to-one DimCustomer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8BADF-413F-499F-B844-BDDA92B3A900}"/>
              </a:ext>
            </a:extLst>
          </p:cNvPr>
          <p:cNvSpPr>
            <a:spLocks noGrp="1"/>
          </p:cNvSpPr>
          <p:nvPr/>
        </p:nvSpPr>
        <p:spPr>
          <a:xfrm>
            <a:off x="7505700" y="38862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Region-based totals can duplicate or disappear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77AD86-0C23-4D2F-B8CC-D137374F68D4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0382250" cy="9525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67615C-2132-496C-9934-49D6C8BD3B6D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42333"/>
                </a:solidFill>
                <a:latin typeface="Lato"/>
                <a:ea typeface="Lato"/>
                <a:cs typeface="Lato"/>
              </a:rPr>
              <a:t>Product relationship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38ACE2-30F1-4992-BD98-0D0F529EE040}"/>
              </a:ext>
            </a:extLst>
          </p:cNvPr>
          <p:cNvSpPr>
            <a:spLocks noGrp="1"/>
          </p:cNvSpPr>
          <p:nvPr/>
        </p:nvSpPr>
        <p:spPr>
          <a:xfrm>
            <a:off x="3352800" y="4381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FactSales many-to-one DimProduct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16A962-05F3-405B-B86F-E49CBC92E00A}"/>
              </a:ext>
            </a:extLst>
          </p:cNvPr>
          <p:cNvSpPr>
            <a:spLocks noGrp="1"/>
          </p:cNvSpPr>
          <p:nvPr/>
        </p:nvSpPr>
        <p:spPr>
          <a:xfrm>
            <a:off x="7505700" y="43815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Category logic can filter incorrectly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F5A904-D14F-433D-A222-9B8C2A3F4E2D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10382250" cy="9525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40A106-5045-4CEC-9038-0FB5AEF3885E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42333"/>
                </a:solidFill>
                <a:latin typeface="Lato"/>
                <a:ea typeface="Lato"/>
                <a:cs typeface="Lato"/>
              </a:rPr>
              <a:t>Filter direction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0723D5-F93E-43F8-8C35-6C2B02063953}"/>
              </a:ext>
            </a:extLst>
          </p:cNvPr>
          <p:cNvSpPr>
            <a:spLocks noGrp="1"/>
          </p:cNvSpPr>
          <p:nvPr/>
        </p:nvSpPr>
        <p:spPr>
          <a:xfrm>
            <a:off x="3352800" y="48768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Single direction from dimensions to fact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20AA98-C13F-4DA9-B4C8-E4B0EED0636E}"/>
              </a:ext>
            </a:extLst>
          </p:cNvPr>
          <p:cNvSpPr>
            <a:spLocks noGrp="1"/>
          </p:cNvSpPr>
          <p:nvPr/>
        </p:nvSpPr>
        <p:spPr>
          <a:xfrm>
            <a:off x="7505700" y="48768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Unexpected context flow can distort results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692B7C-934C-4CB5-A496-7CBC4D326C76}"/>
              </a:ext>
            </a:extLst>
          </p:cNvPr>
          <p:cNvSpPr>
            <a:spLocks noGrp="1"/>
          </p:cNvSpPr>
          <p:nvPr/>
        </p:nvSpPr>
        <p:spPr>
          <a:xfrm>
            <a:off x="914400" y="5276850"/>
            <a:ext cx="10382250" cy="9525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F2DECD-C3B2-4D87-BB18-63C36831D8F4}"/>
              </a:ext>
            </a:extLst>
          </p:cNvPr>
          <p:cNvSpPr>
            <a:spLocks noGrp="1"/>
          </p:cNvSpPr>
          <p:nvPr/>
        </p:nvSpPr>
        <p:spPr>
          <a:xfrm>
            <a:off x="952500" y="53721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42333"/>
                </a:solidFill>
                <a:latin typeface="Lato"/>
                <a:ea typeface="Lato"/>
                <a:cs typeface="Lato"/>
              </a:rPr>
              <a:t>Role filters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E01A0B-6A6B-4EE8-B12F-713FD69CF6BE}"/>
              </a:ext>
            </a:extLst>
          </p:cNvPr>
          <p:cNvSpPr>
            <a:spLocks noGrp="1"/>
          </p:cNvSpPr>
          <p:nvPr/>
        </p:nvSpPr>
        <p:spPr>
          <a:xfrm>
            <a:off x="3352800" y="53721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Applied on DimCustomer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679F35-4603-4BA4-9686-21C63DD09EC3}"/>
              </a:ext>
            </a:extLst>
          </p:cNvPr>
          <p:cNvSpPr>
            <a:spLocks noGrp="1"/>
          </p:cNvSpPr>
          <p:nvPr/>
        </p:nvSpPr>
        <p:spPr>
          <a:xfrm>
            <a:off x="7505700" y="5372100"/>
            <a:ext cx="3573978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790"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RLS can behave unpredictably if placed on the wrong table</a:t>
            </a:r>
          </a:p>
        </p:txBody>
      </p:sp>
    </p:spTree>
    <p:extLst>
      <p:ext uri="{BB962C8B-B14F-4D97-AF65-F5344CB8AC3E}">
        <p14:creationId xmlns:p14="http://schemas.microsoft.com/office/powerpoint/2010/main" val="92915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AC513-ECDE-41DD-826B-268981F0E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9D9A3F-E5EF-4179-9D77-6E45EDB27A85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DE6E99-20AD-4220-94EF-2AD24A5ED241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26DB30-B3E4-41F0-8A4B-16433021DC5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7AE26-AA36-453D-9143-F4C8099BF444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MEASURES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6E540-20B5-4EF8-B8C6-031D2BE08927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5FAF30-390B-418F-9B36-8931263976D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Measures and aggregation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A26F0-83F9-4CEB-91E9-BC0F28AA041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DAX measures should agree with the SQL truth set used for validation.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ACCAA2-CD32-4328-98B4-ECFD2081D47E}"/>
              </a:ext>
            </a:extLst>
          </p:cNvPr>
          <p:cNvSpPr>
            <a:spLocks noGrp="1"/>
          </p:cNvSpPr>
          <p:nvPr/>
        </p:nvSpPr>
        <p:spPr>
          <a:xfrm>
            <a:off x="742950" y="2621725"/>
            <a:ext cx="10591800" cy="1066800"/>
          </a:xfrm>
          <a:prstGeom prst="roundRect">
            <a:avLst>
              <a:gd name="adj" fmla="val 7143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35AB17-9A51-4926-945F-BB3B79920308}"/>
              </a:ext>
            </a:extLst>
          </p:cNvPr>
          <p:cNvSpPr>
            <a:spLocks noGrp="1"/>
          </p:cNvSpPr>
          <p:nvPr/>
        </p:nvSpPr>
        <p:spPr>
          <a:xfrm>
            <a:off x="742950" y="2621725"/>
            <a:ext cx="76200" cy="10668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438D7-25FD-425F-A53E-E8E64D6AFD31}"/>
              </a:ext>
            </a:extLst>
          </p:cNvPr>
          <p:cNvSpPr>
            <a:spLocks noGrp="1"/>
          </p:cNvSpPr>
          <p:nvPr/>
        </p:nvSpPr>
        <p:spPr>
          <a:xfrm>
            <a:off x="952500" y="2793175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Total Sales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164D8-93B3-493F-B627-9599EC80B68F}"/>
              </a:ext>
            </a:extLst>
          </p:cNvPr>
          <p:cNvSpPr>
            <a:spLocks noGrp="1"/>
          </p:cNvSpPr>
          <p:nvPr/>
        </p:nvSpPr>
        <p:spPr>
          <a:xfrm>
            <a:off x="952500" y="3136075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Expected result: 4680.00. Validate the measure against the Warehouse SQL total.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181990-4112-4449-AE71-9650A02F3835}"/>
              </a:ext>
            </a:extLst>
          </p:cNvPr>
          <p:cNvSpPr>
            <a:spLocks noGrp="1"/>
          </p:cNvSpPr>
          <p:nvPr/>
        </p:nvSpPr>
        <p:spPr>
          <a:xfrm>
            <a:off x="742950" y="3898075"/>
            <a:ext cx="10591800" cy="1066800"/>
          </a:xfrm>
          <a:prstGeom prst="roundRect">
            <a:avLst>
              <a:gd name="adj" fmla="val 7143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F061A6-8665-4802-9DBE-A06694144A51}"/>
              </a:ext>
            </a:extLst>
          </p:cNvPr>
          <p:cNvSpPr>
            <a:spLocks noGrp="1"/>
          </p:cNvSpPr>
          <p:nvPr/>
        </p:nvSpPr>
        <p:spPr>
          <a:xfrm>
            <a:off x="742950" y="3898075"/>
            <a:ext cx="76200" cy="10668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E86CCD-DEB0-44C9-A28F-9076B3DD32E4}"/>
              </a:ext>
            </a:extLst>
          </p:cNvPr>
          <p:cNvSpPr>
            <a:spLocks noGrp="1"/>
          </p:cNvSpPr>
          <p:nvPr/>
        </p:nvSpPr>
        <p:spPr>
          <a:xfrm>
            <a:off x="952500" y="4069525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Order Count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988082-0FED-436D-96EB-6A3358304409}"/>
              </a:ext>
            </a:extLst>
          </p:cNvPr>
          <p:cNvSpPr>
            <a:spLocks noGrp="1"/>
          </p:cNvSpPr>
          <p:nvPr/>
        </p:nvSpPr>
        <p:spPr>
          <a:xfrm>
            <a:off x="952500" y="4412425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Expected result: 8. Validate using COUNTROWS and compare with SQL count.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402494D-7085-4EDC-8902-770589F5A3B7}"/>
              </a:ext>
            </a:extLst>
          </p:cNvPr>
          <p:cNvSpPr>
            <a:spLocks noGrp="1"/>
          </p:cNvSpPr>
          <p:nvPr/>
        </p:nvSpPr>
        <p:spPr>
          <a:xfrm>
            <a:off x="742950" y="5174425"/>
            <a:ext cx="10591800" cy="1066800"/>
          </a:xfrm>
          <a:prstGeom prst="roundRect">
            <a:avLst>
              <a:gd name="adj" fmla="val 7143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24FAA-FFBC-406E-9BAF-06D66553A36E}"/>
              </a:ext>
            </a:extLst>
          </p:cNvPr>
          <p:cNvSpPr>
            <a:spLocks noGrp="1"/>
          </p:cNvSpPr>
          <p:nvPr/>
        </p:nvSpPr>
        <p:spPr>
          <a:xfrm>
            <a:off x="742950" y="5174425"/>
            <a:ext cx="76200" cy="10668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50968C-DB93-4136-8CDB-0F496D02784C}"/>
              </a:ext>
            </a:extLst>
          </p:cNvPr>
          <p:cNvSpPr>
            <a:spLocks noGrp="1"/>
          </p:cNvSpPr>
          <p:nvPr/>
        </p:nvSpPr>
        <p:spPr>
          <a:xfrm>
            <a:off x="952500" y="5345875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Average Order Value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892F55-EA37-4BCE-9282-2AD5716C5590}"/>
              </a:ext>
            </a:extLst>
          </p:cNvPr>
          <p:cNvSpPr>
            <a:spLocks noGrp="1"/>
          </p:cNvSpPr>
          <p:nvPr/>
        </p:nvSpPr>
        <p:spPr>
          <a:xfrm>
            <a:off x="952500" y="5688775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Expected result: 585.00. Validate using DIVIDE and compare with SQL average.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7F8652F-7F7D-4B50-B3EB-9A9F7B23FDA1}"/>
              </a:ext>
            </a:extLst>
          </p:cNvPr>
          <p:cNvSpPr>
            <a:spLocks noGrp="1"/>
          </p:cNvSpPr>
          <p:nvPr/>
        </p:nvSpPr>
        <p:spPr>
          <a:xfrm>
            <a:off x="742950" y="6336475"/>
            <a:ext cx="10591800" cy="361950"/>
          </a:xfrm>
          <a:prstGeom prst="roundRect">
            <a:avLst>
              <a:gd name="adj" fmla="val 21053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1120F6-9A53-4224-99E0-13D80FD283EC}"/>
              </a:ext>
            </a:extLst>
          </p:cNvPr>
          <p:cNvSpPr>
            <a:spLocks noGrp="1"/>
          </p:cNvSpPr>
          <p:nvPr/>
        </p:nvSpPr>
        <p:spPr>
          <a:xfrm>
            <a:off x="1009650" y="6441250"/>
            <a:ext cx="1017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125" b="0" dirty="0">
                <a:solidFill>
                  <a:srgbClr val="142333"/>
                </a:solidFill>
                <a:latin typeface="Lato"/>
                <a:ea typeface="Lato"/>
                <a:cs typeface="Lato"/>
              </a:rPr>
              <a:t>QA rule: if a DAX measure and the SQL validation query disagree, treat the semantic model as the investigation surface first.</a:t>
            </a:r>
          </a:p>
        </p:txBody>
      </p:sp>
    </p:spTree>
    <p:extLst>
      <p:ext uri="{BB962C8B-B14F-4D97-AF65-F5344CB8AC3E}">
        <p14:creationId xmlns:p14="http://schemas.microsoft.com/office/powerpoint/2010/main" val="182868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869446-E5DC-4AAA-BD38-717898416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4943D7-2962-4653-961F-9F26A05461CC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30954A-9241-4F38-8391-06EC24C2A398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D45483-7E7C-4C29-8DF9-52C5C040C55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73EA1-CCE9-4753-9391-1095ACE2EB27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REPORT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2791F-8D18-459D-B7C8-A041AA6D2781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A4233-D596-4F2C-A545-866ACCCC52E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Report and refresh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59AC9-35F8-46BD-AA4A-337B0D8504C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Report correctness is where model logic becomes visible to users.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5AEC79-BF9F-4A53-84C6-D92E23E0181D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5143500" cy="2800350"/>
          </a:xfrm>
          <a:prstGeom prst="roundRect">
            <a:avLst>
              <a:gd name="adj" fmla="val 2721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24A1D1-2279-459D-A467-0A6F5507AFF5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76200" cy="28003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D213F6-7B98-4A0C-A91E-F7DFD1039F8C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Checks to perform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C5C8FE-59EC-46B7-9A04-B5FEC10B5F28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4343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Validate KPI cards against expected values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Validate matrix totals by region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Confirm unrestricted and restricted views differ correctly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Refresh the report and confirm values remain stable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Capture any mismatch as a business-visible defect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EED208-0331-41DD-883C-7B768C0BA5F3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5238750" cy="2800350"/>
          </a:xfrm>
          <a:prstGeom prst="roundRect">
            <a:avLst>
              <a:gd name="adj" fmla="val 2721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516966-030C-4A52-95C6-71EF8AD2B277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76200" cy="28003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DE36B-1DEE-4100-B6FD-B2066CA516BF}"/>
              </a:ext>
            </a:extLst>
          </p:cNvPr>
          <p:cNvSpPr>
            <a:spLocks noGrp="1"/>
          </p:cNvSpPr>
          <p:nvPr/>
        </p:nvSpPr>
        <p:spPr>
          <a:xfrm>
            <a:off x="6457950" y="3333750"/>
            <a:ext cx="3837956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Module 4 Lab</a:t>
            </a:r>
            <a:r>
              <a:rPr sz="18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 expected report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2269F-F7AD-4000-B772-0A3AC2EF6178}"/>
              </a:ext>
            </a:extLst>
          </p:cNvPr>
          <p:cNvSpPr>
            <a:spLocks noGrp="1"/>
          </p:cNvSpPr>
          <p:nvPr/>
        </p:nvSpPr>
        <p:spPr>
          <a:xfrm>
            <a:off x="6457950" y="3790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42333"/>
                </a:solidFill>
                <a:latin typeface="Lato"/>
                <a:ea typeface="Lato"/>
                <a:cs typeface="Lato"/>
              </a:rPr>
              <a:t>Cards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6D16A-9657-4027-8FAC-CDFF9D919020}"/>
              </a:ext>
            </a:extLst>
          </p:cNvPr>
          <p:cNvSpPr>
            <a:spLocks noGrp="1"/>
          </p:cNvSpPr>
          <p:nvPr/>
        </p:nvSpPr>
        <p:spPr>
          <a:xfrm>
            <a:off x="6457950" y="4095750"/>
            <a:ext cx="2923556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Total Sales = 4680.00</a:t>
            </a:r>
          </a:p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Order Count = 8</a:t>
            </a:r>
          </a:p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Average Order Value = 585.00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942829-15A4-479B-93BD-CE8A265DC92E}"/>
              </a:ext>
            </a:extLst>
          </p:cNvPr>
          <p:cNvSpPr>
            <a:spLocks noGrp="1"/>
          </p:cNvSpPr>
          <p:nvPr/>
        </p:nvSpPr>
        <p:spPr>
          <a:xfrm>
            <a:off x="9248775" y="3812721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350" b="1" dirty="0">
                <a:solidFill>
                  <a:srgbClr val="142333"/>
                </a:solidFill>
                <a:latin typeface="Lato"/>
                <a:ea typeface="Lato"/>
                <a:cs typeface="Lato"/>
              </a:rPr>
              <a:t>Matrix rows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D80C45-64A5-43DE-9B73-E8FD75B0EF09}"/>
              </a:ext>
            </a:extLst>
          </p:cNvPr>
          <p:cNvSpPr>
            <a:spLocks noGrp="1"/>
          </p:cNvSpPr>
          <p:nvPr/>
        </p:nvSpPr>
        <p:spPr>
          <a:xfrm>
            <a:off x="9248775" y="4105275"/>
            <a:ext cx="1524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East 1500</a:t>
            </a:r>
          </a:p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North 1530</a:t>
            </a:r>
          </a:p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South 90</a:t>
            </a:r>
          </a:p>
          <a:p>
            <a:pPr algn="l">
              <a:defRPr sz="13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West 1560</a:t>
            </a:r>
          </a:p>
        </p:txBody>
      </p:sp>
    </p:spTree>
    <p:extLst>
      <p:ext uri="{BB962C8B-B14F-4D97-AF65-F5344CB8AC3E}">
        <p14:creationId xmlns:p14="http://schemas.microsoft.com/office/powerpoint/2010/main" val="578917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54E16D8-C3E2-46E8-B8FC-84EDB405B4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566E52-CB3D-4E3E-8393-9F62C8B771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B07251-FF42-4781-9093-74BA24BE1A83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99AB7D-84AB-4989-8101-AAD6B22E8EDF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16D7E9B-8A7D-4019-BE37-9CEF54D6A83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05C1E-AC46-49FD-B159-6DEBEAE2ED0A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SECURITY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2810D-CFB3-4081-8361-166089D1ADA1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A3F7B-012C-45EA-B83B-01F6FB132EE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Fabric security layers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FF7F1-B11A-49ED-AB73-9AD05D2EB9B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Security testing works best when learners separate workspace access from data visibility.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BCED34-4F54-4ABB-BC7A-2387044C271B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70FC2-8D6F-4C51-B3CD-1AF7DAC87A14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6200" cy="11620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940DE-CAF9-4406-994D-DED8F8623959}"/>
              </a:ext>
            </a:extLst>
          </p:cNvPr>
          <p:cNvSpPr>
            <a:spLocks noGrp="1"/>
          </p:cNvSpPr>
          <p:nvPr/>
        </p:nvSpPr>
        <p:spPr>
          <a:xfrm>
            <a:off x="1009650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Workspace roles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A9EBC3-4CC7-4E53-A044-CD76813238C4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Who can open or manage the workspace and its items.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C649DC-F520-49CC-A61B-BFC165210D6E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6E0694-DA2A-4552-88EF-79454C593F59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76200" cy="11620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F68483-2BBF-4A91-89DE-C82AC9C0F306}"/>
              </a:ext>
            </a:extLst>
          </p:cNvPr>
          <p:cNvSpPr>
            <a:spLocks noGrp="1"/>
          </p:cNvSpPr>
          <p:nvPr/>
        </p:nvSpPr>
        <p:spPr>
          <a:xfrm>
            <a:off x="6410325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Item permissions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16A73-FFCC-4844-8B2C-D9065FAEC0A1}"/>
              </a:ext>
            </a:extLst>
          </p:cNvPr>
          <p:cNvSpPr>
            <a:spLocks noGrp="1"/>
          </p:cNvSpPr>
          <p:nvPr/>
        </p:nvSpPr>
        <p:spPr>
          <a:xfrm>
            <a:off x="6410325" y="37147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Who can access a Warehouse, semantic model, report, or Lakehouse.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6F1930-37C0-496B-95F1-FAD242ED9CD1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EA5179-0DC4-4AA8-8D3A-CC9188E5FAC5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76200" cy="11620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0A9B3B-16FE-4AA5-A247-123084420572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Data permissions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8CF5A1-377C-44D8-AE55-C5D7CC941304}"/>
              </a:ext>
            </a:extLst>
          </p:cNvPr>
          <p:cNvSpPr>
            <a:spLocks noGrp="1"/>
          </p:cNvSpPr>
          <p:nvPr/>
        </p:nvSpPr>
        <p:spPr>
          <a:xfrm>
            <a:off x="1009650" y="50863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Who can read tables or files through SQL, Spark, or the report layer.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8504D44-1D6B-4748-B489-490E431C2D0B}"/>
              </a:ext>
            </a:extLst>
          </p:cNvPr>
          <p:cNvSpPr>
            <a:spLocks noGrp="1"/>
          </p:cNvSpPr>
          <p:nvPr/>
        </p:nvSpPr>
        <p:spPr>
          <a:xfrm>
            <a:off x="6200775" y="457200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CE90F2-18ED-4313-9168-38D4BCAFF2CE}"/>
              </a:ext>
            </a:extLst>
          </p:cNvPr>
          <p:cNvSpPr>
            <a:spLocks noGrp="1"/>
          </p:cNvSpPr>
          <p:nvPr/>
        </p:nvSpPr>
        <p:spPr>
          <a:xfrm>
            <a:off x="6200775" y="4572000"/>
            <a:ext cx="76200" cy="116205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CAC110-39B3-4D56-8E11-1262CEA1377B}"/>
              </a:ext>
            </a:extLst>
          </p:cNvPr>
          <p:cNvSpPr>
            <a:spLocks noGrp="1"/>
          </p:cNvSpPr>
          <p:nvPr/>
        </p:nvSpPr>
        <p:spPr>
          <a:xfrm>
            <a:off x="6410325" y="47434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RLS behavior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B7579E-5E32-4062-A1CF-0BB387D2F5F9}"/>
              </a:ext>
            </a:extLst>
          </p:cNvPr>
          <p:cNvSpPr>
            <a:spLocks noGrp="1"/>
          </p:cNvSpPr>
          <p:nvPr/>
        </p:nvSpPr>
        <p:spPr>
          <a:xfrm>
            <a:off x="6410325" y="50863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Which rows remain visible once a user reaches the report.</a:t>
            </a:r>
          </a:p>
        </p:txBody>
      </p:sp>
    </p:spTree>
    <p:extLst>
      <p:ext uri="{BB962C8B-B14F-4D97-AF65-F5344CB8AC3E}">
        <p14:creationId xmlns:p14="http://schemas.microsoft.com/office/powerpoint/2010/main" val="73782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6348DF-B68E-40AC-B149-70C5346347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2E011-9283-427B-ABB6-7EABA31579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9D7C2-C092-4A98-8491-21831E5FB2B1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05E0B5-80B6-4870-BC36-E46EDA77B8E0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8F51DA-C2A3-47BC-B149-A2654BE912F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54F65-B17C-4AD4-A65C-719C656A64F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RLS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83030-B6A5-4003-8E64-7B7846B38A51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A61148-F43B-44DC-8C6C-5C515BBA280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RLS and cross-customer isolation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1C0936-EAB7-4F51-816D-CAB25BBDCB3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Good RLS testing includes both the rows a role can see and the rows it must never see.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714A3E-D748-4BE6-99D7-64DC66A7CA2E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5048250" cy="2724150"/>
          </a:xfrm>
          <a:prstGeom prst="roundRect">
            <a:avLst>
              <a:gd name="adj" fmla="val 2797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5F2EE-A8F6-4CE6-BFD4-01B0A5FC2ED1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76200" cy="27241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77A43-5844-4DEC-8213-6F17DD60B470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Positive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67DCA-2D7B-4477-A90B-97553DE6341E}"/>
              </a:ext>
            </a:extLst>
          </p:cNvPr>
          <p:cNvSpPr>
            <a:spLocks noGrp="1"/>
          </p:cNvSpPr>
          <p:nvPr/>
        </p:nvSpPr>
        <p:spPr>
          <a:xfrm>
            <a:off x="990600" y="3810000"/>
            <a:ext cx="42481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NorthRole should show only North rows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WestRole should show only West rows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Cards and matrix should change to restricted totals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View as should make the role effect visible immediately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C0F006-9643-4E6C-B815-D2C3FA12C13C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5048250" cy="2724150"/>
          </a:xfrm>
          <a:prstGeom prst="roundRect">
            <a:avLst>
              <a:gd name="adj" fmla="val 2797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5EED10-3151-4E69-8B92-F2E06E74FA2A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76200" cy="27241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8F2377-19E7-4683-8707-DFE46845452E}"/>
              </a:ext>
            </a:extLst>
          </p:cNvPr>
          <p:cNvSpPr>
            <a:spLocks noGrp="1"/>
          </p:cNvSpPr>
          <p:nvPr/>
        </p:nvSpPr>
        <p:spPr>
          <a:xfrm>
            <a:off x="6648450" y="33909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Negative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6FE6C-7C30-493F-9C1D-0DE2AF35632C}"/>
              </a:ext>
            </a:extLst>
          </p:cNvPr>
          <p:cNvSpPr>
            <a:spLocks noGrp="1"/>
          </p:cNvSpPr>
          <p:nvPr/>
        </p:nvSpPr>
        <p:spPr>
          <a:xfrm>
            <a:off x="6648450" y="3810000"/>
            <a:ext cx="42481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NorthRole must not show East, South, or West rows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WestRole must not show East, North, or South rows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Clearing View as should restore the unrestricted totals</a:t>
            </a:r>
          </a:p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- Any leaked row is a customer-isolation defect</a:t>
            </a:r>
          </a:p>
        </p:txBody>
      </p:sp>
    </p:spTree>
    <p:extLst>
      <p:ext uri="{BB962C8B-B14F-4D97-AF65-F5344CB8AC3E}">
        <p14:creationId xmlns:p14="http://schemas.microsoft.com/office/powerpoint/2010/main" val="17884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4E989D6-89A6-4951-8B5C-798A8FAE10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6901A-7F3B-4DF1-BE2D-136391D15C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D529DE-5A76-4AF9-8F3C-359AB9A0ABA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25F124-90C2-4E35-BF31-0443671F057F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485B07-96EF-45C1-917E-6E6EF632E77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F244B-98A2-484A-80C8-08F34AD173C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0A950-EB85-40FC-8D8D-64D95F01E293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99F6-32BE-4E36-840D-6C6BB44F1F7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Lab 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4 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3E32B-AC06-4C50-8CC1-A2338EDE5F0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The lab uses a small regional sales dataset so learners can prove each </a:t>
            </a:r>
            <a:r>
              <a:rPr lang="en-US"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Module</a:t>
            </a: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 4 behavior quickly.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6F2893-CD95-4771-B1A0-2FC2503FD181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8090AE-632C-4450-9A13-EB302918B7A8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E1225A-EFD4-45A9-9222-51E47795F896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Raw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AA37E9-7B66-478A-A16B-CE08C7522663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6 customers, 5 products, and 8 orders are uploaded to the Lakehouse.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5A3D1E-30A2-45B6-8E6E-F07DBCEB04B2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BC0C90-5344-47EC-A26C-D638026A42AB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F48CE-D8AF-4241-A14D-292C64A3F617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Pipeline story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3A333-7215-4B7E-92D0-5FD7DA99E6A6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Run one fails at the checkpoint. Run two succeeds after the notebook is switched.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26B92E6-9EA0-4956-BEBC-8C2F07464428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35FCA0-BD80-4887-AAD9-5DEDA8387384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51D7C-20A2-48D3-AD03-4D01616E30C3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Reporting truth set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7DD4ED-8A41-44CF-BFE0-DFE2B25A57E3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Warehouse SQL defines the validation baseline for KPIs and region totals.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C03C463-B430-42C9-91EB-44BFD3427EF4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4E7B6-260C-4137-87D1-1B9288A76E40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C2F61B-ECD3-48AE-867C-4A0C290B45A5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Security story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5982C9-3125-4E84-AF61-D9BE95CD52C8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NorthRole and WestRole prove role-based isolation with visible and blocked rows.</a:t>
            </a:r>
          </a:p>
        </p:txBody>
      </p:sp>
    </p:spTree>
    <p:extLst>
      <p:ext uri="{BB962C8B-B14F-4D97-AF65-F5344CB8AC3E}">
        <p14:creationId xmlns:p14="http://schemas.microsoft.com/office/powerpoint/2010/main" val="1068407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C2F4135-099B-40B4-81AF-7678CF9D7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EBD9F7-7043-492C-95AD-37460B856E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2FE3DA-A8FF-472A-A80F-250B18612179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BA480F-E63F-409B-BAFB-19C401659C4E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181834-87F2-408B-A744-B3FFD1738A6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A4A81-76E3-4647-9CE4-81BCF1F08EED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LAB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0B77B-1D60-4749-9ED2-DD03014EB747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192A5-5188-4456-A3BB-D8BAB9D3501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Lab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 4 lab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2AA2E6-5CA4-4EEE-AFE2-A44AC5297535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The lab is designed to move from orchestration into reporting and then into security evidence.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37E07D1-15A0-4E68-A248-ED2B2BF4C1E6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B344A9-464F-4E71-A4E8-C7714ED15BE3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76200" cy="14668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0948CC-FFB1-4863-8A17-BE71B708604E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1. Upload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C21BD-F87A-4A6E-A83E-25B614708589}"/>
              </a:ext>
            </a:extLst>
          </p:cNvPr>
          <p:cNvSpPr>
            <a:spLocks noGrp="1"/>
          </p:cNvSpPr>
          <p:nvPr/>
        </p:nvSpPr>
        <p:spPr>
          <a:xfrm>
            <a:off x="8953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Create the workspace, Lakehouse, and notebooks.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820CA8-EEAC-437F-91E7-ABE38903B53A}"/>
              </a:ext>
            </a:extLst>
          </p:cNvPr>
          <p:cNvSpPr>
            <a:spLocks noGrp="1"/>
          </p:cNvSpPr>
          <p:nvPr/>
        </p:nvSpPr>
        <p:spPr>
          <a:xfrm>
            <a:off x="300990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BAC721-0D8C-408A-8555-99E1FC2D4879}"/>
              </a:ext>
            </a:extLst>
          </p:cNvPr>
          <p:cNvSpPr>
            <a:spLocks noGrp="1"/>
          </p:cNvSpPr>
          <p:nvPr/>
        </p:nvSpPr>
        <p:spPr>
          <a:xfrm>
            <a:off x="3009900" y="3848100"/>
            <a:ext cx="76200" cy="14668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D290AA-7FB9-4C2F-BB49-D66E7A18EEA5}"/>
              </a:ext>
            </a:extLst>
          </p:cNvPr>
          <p:cNvSpPr>
            <a:spLocks noGrp="1"/>
          </p:cNvSpPr>
          <p:nvPr/>
        </p:nvSpPr>
        <p:spPr>
          <a:xfrm>
            <a:off x="320040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07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2. Run pipeline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2FAD-D299-48D8-BE57-9E2401A25729}"/>
              </a:ext>
            </a:extLst>
          </p:cNvPr>
          <p:cNvSpPr>
            <a:spLocks noGrp="1"/>
          </p:cNvSpPr>
          <p:nvPr/>
        </p:nvSpPr>
        <p:spPr>
          <a:xfrm>
            <a:off x="320040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Observe one intentional checkpoint failure.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9D99E7-A586-4C9F-A464-2322CC45910D}"/>
              </a:ext>
            </a:extLst>
          </p:cNvPr>
          <p:cNvSpPr>
            <a:spLocks noGrp="1"/>
          </p:cNvSpPr>
          <p:nvPr/>
        </p:nvSpPr>
        <p:spPr>
          <a:xfrm>
            <a:off x="53149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072CC9-8ACB-4249-9128-F56B7FFDC4C5}"/>
              </a:ext>
            </a:extLst>
          </p:cNvPr>
          <p:cNvSpPr>
            <a:spLocks noGrp="1"/>
          </p:cNvSpPr>
          <p:nvPr/>
        </p:nvSpPr>
        <p:spPr>
          <a:xfrm>
            <a:off x="5314950" y="3848100"/>
            <a:ext cx="76200" cy="14668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4526B3-14ED-4A9F-A514-51D0D6950026}"/>
              </a:ext>
            </a:extLst>
          </p:cNvPr>
          <p:cNvSpPr>
            <a:spLocks noGrp="1"/>
          </p:cNvSpPr>
          <p:nvPr/>
        </p:nvSpPr>
        <p:spPr>
          <a:xfrm>
            <a:off x="55054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179" lnSpcReduction="10000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3. Rerun successfully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EE28E-B026-4D40-A2CB-4A41D6792B17}"/>
              </a:ext>
            </a:extLst>
          </p:cNvPr>
          <p:cNvSpPr>
            <a:spLocks noGrp="1"/>
          </p:cNvSpPr>
          <p:nvPr/>
        </p:nvSpPr>
        <p:spPr>
          <a:xfrm>
            <a:off x="55054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Switch the notebook and confirm final success.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90EBB61-2E15-4FF1-9E03-E9DB1B0D6909}"/>
              </a:ext>
            </a:extLst>
          </p:cNvPr>
          <p:cNvSpPr>
            <a:spLocks noGrp="1"/>
          </p:cNvSpPr>
          <p:nvPr/>
        </p:nvSpPr>
        <p:spPr>
          <a:xfrm>
            <a:off x="762000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22F032-A45E-41AE-9130-1219BF695409}"/>
              </a:ext>
            </a:extLst>
          </p:cNvPr>
          <p:cNvSpPr>
            <a:spLocks noGrp="1"/>
          </p:cNvSpPr>
          <p:nvPr/>
        </p:nvSpPr>
        <p:spPr>
          <a:xfrm>
            <a:off x="7620000" y="3848100"/>
            <a:ext cx="76200" cy="146685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8750DA-9FDD-4EC9-BE74-58654FC8E7E7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416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4. Validate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822DF5-6827-41B3-BD51-1B2FABC55599}"/>
              </a:ext>
            </a:extLst>
          </p:cNvPr>
          <p:cNvSpPr>
            <a:spLocks noGrp="1"/>
          </p:cNvSpPr>
          <p:nvPr/>
        </p:nvSpPr>
        <p:spPr>
          <a:xfrm>
            <a:off x="781050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Load the Warehouse and shape the semantic model.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78D08AE-AE72-4537-B5DE-CD8DFFC7B625}"/>
              </a:ext>
            </a:extLst>
          </p:cNvPr>
          <p:cNvSpPr>
            <a:spLocks noGrp="1"/>
          </p:cNvSpPr>
          <p:nvPr/>
        </p:nvSpPr>
        <p:spPr>
          <a:xfrm>
            <a:off x="99250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17AFB4-0C3D-4FD9-B88E-49835887D9B4}"/>
              </a:ext>
            </a:extLst>
          </p:cNvPr>
          <p:cNvSpPr>
            <a:spLocks noGrp="1"/>
          </p:cNvSpPr>
          <p:nvPr/>
        </p:nvSpPr>
        <p:spPr>
          <a:xfrm>
            <a:off x="9925050" y="3848100"/>
            <a:ext cx="76200" cy="146685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BEE372-DA42-414A-B44C-C3A57B656CC6}"/>
              </a:ext>
            </a:extLst>
          </p:cNvPr>
          <p:cNvSpPr>
            <a:spLocks noGrp="1"/>
          </p:cNvSpPr>
          <p:nvPr/>
        </p:nvSpPr>
        <p:spPr>
          <a:xfrm>
            <a:off x="101155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9561" lnSpcReduction="10000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5. Test report and RLS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80DE9-5D31-483D-8188-029F9E894EC6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Validate KPIs, matrix totals, and restricted views.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3CE363-6B02-4CE2-9211-AF44A5C3919B}"/>
              </a:ext>
            </a:extLst>
          </p:cNvPr>
          <p:cNvSpPr>
            <a:spLocks noGrp="1"/>
          </p:cNvSpPr>
          <p:nvPr/>
        </p:nvSpPr>
        <p:spPr>
          <a:xfrm>
            <a:off x="2552700" y="4572000"/>
            <a:ext cx="4572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56A0ECCA-7A9B-43B3-9648-1F3DA9702F9D}"/>
              </a:ext>
            </a:extLst>
          </p:cNvPr>
          <p:cNvSpPr>
            <a:spLocks noGrp="1"/>
          </p:cNvSpPr>
          <p:nvPr/>
        </p:nvSpPr>
        <p:spPr>
          <a:xfrm>
            <a:off x="2876550" y="44767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4DCC7D-2366-4E04-8189-A7290D605BF0}"/>
              </a:ext>
            </a:extLst>
          </p:cNvPr>
          <p:cNvSpPr>
            <a:spLocks noGrp="1"/>
          </p:cNvSpPr>
          <p:nvPr/>
        </p:nvSpPr>
        <p:spPr>
          <a:xfrm>
            <a:off x="4857750" y="4572000"/>
            <a:ext cx="4572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3" name="Chevron 32">
            <a:extLst>
              <a:ext uri="{FF2B5EF4-FFF2-40B4-BE49-F238E27FC236}">
                <a16:creationId xmlns:a16="http://schemas.microsoft.com/office/drawing/2014/main" id="{E3672D30-817E-47C0-A32F-7309EFB5DB9E}"/>
              </a:ext>
            </a:extLst>
          </p:cNvPr>
          <p:cNvSpPr>
            <a:spLocks noGrp="1"/>
          </p:cNvSpPr>
          <p:nvPr/>
        </p:nvSpPr>
        <p:spPr>
          <a:xfrm>
            <a:off x="5181600" y="44767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357271-CDD0-486C-AED3-25EBF0F66BB6}"/>
              </a:ext>
            </a:extLst>
          </p:cNvPr>
          <p:cNvSpPr>
            <a:spLocks noGrp="1"/>
          </p:cNvSpPr>
          <p:nvPr/>
        </p:nvSpPr>
        <p:spPr>
          <a:xfrm>
            <a:off x="7162800" y="4572000"/>
            <a:ext cx="4572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5" name="Chevron 34">
            <a:extLst>
              <a:ext uri="{FF2B5EF4-FFF2-40B4-BE49-F238E27FC236}">
                <a16:creationId xmlns:a16="http://schemas.microsoft.com/office/drawing/2014/main" id="{9E84F165-FEFF-4BB0-8FA7-61682971D284}"/>
              </a:ext>
            </a:extLst>
          </p:cNvPr>
          <p:cNvSpPr>
            <a:spLocks noGrp="1"/>
          </p:cNvSpPr>
          <p:nvPr/>
        </p:nvSpPr>
        <p:spPr>
          <a:xfrm>
            <a:off x="7486650" y="44767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D9DC90-48CB-47A4-BDF1-A6ECCD2C07B1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457200" cy="38100"/>
          </a:xfrm>
          <a:prstGeom prst="rect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  <p:sp>
        <p:nvSpPr>
          <p:cNvPr id="37" name="Chevron 36">
            <a:extLst>
              <a:ext uri="{FF2B5EF4-FFF2-40B4-BE49-F238E27FC236}">
                <a16:creationId xmlns:a16="http://schemas.microsoft.com/office/drawing/2014/main" id="{25C5063F-CCD8-4002-8AE5-6E6CE57E5AEE}"/>
              </a:ext>
            </a:extLst>
          </p:cNvPr>
          <p:cNvSpPr>
            <a:spLocks noGrp="1"/>
          </p:cNvSpPr>
          <p:nvPr/>
        </p:nvSpPr>
        <p:spPr>
          <a:xfrm>
            <a:off x="9791700" y="4476750"/>
            <a:ext cx="209550" cy="228600"/>
          </a:xfrm>
          <a:prstGeom prst="chevron">
            <a:avLst/>
          </a:prstGeom>
          <a:solidFill>
            <a:srgbClr val="DCE3E8"/>
          </a:solidFill>
          <a:ln w="0">
            <a:solidFill>
              <a:srgbClr val="DC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23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BD211D-F731-4C96-B39E-B10A188571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BE574D-1931-4C3D-BA75-AC12A9B9C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A11A36-6AB5-4DA8-B341-CFBB5B5C847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4F4F73-5A7F-4207-9E5B-E1E6DDFB52E3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4F370C-1EDF-447A-AF78-2CAB6F258CA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FE82D-3951-4640-ACC1-5DC734EC1EF1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EXPECTED 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8C018-88A6-403E-9F3B-43D2BD0F7D22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57F03-A53D-425F-83E1-B7FC7947B72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Expected outputs and security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967B2-5792-4265-A1CD-51D9F5361442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Lab</a:t>
            </a: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 4 lab has a small truth set so mismatches are easy to spot.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B4AF7E-A23B-478D-8502-952D38727FB6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2C28D-03BC-4D15-A73C-15290AB6B304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76200" cy="23812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CE05B-92C5-42E3-A36C-C460BC8C9261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Core KPIs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A904F2-B85C-4132-BFBA-B6DE1EE64BED}"/>
              </a:ext>
            </a:extLst>
          </p:cNvPr>
          <p:cNvSpPr>
            <a:spLocks noGrp="1"/>
          </p:cNvSpPr>
          <p:nvPr/>
        </p:nvSpPr>
        <p:spPr>
          <a:xfrm>
            <a:off x="1028700" y="3829050"/>
            <a:ext cx="2095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Total Sales: 4680.00</a:t>
            </a:r>
          </a:p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Order Count: 8</a:t>
            </a:r>
          </a:p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Average Order Value: 585.00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98A52B-0BAF-41DF-A961-CBB4BE1CBEAA}"/>
              </a:ext>
            </a:extLst>
          </p:cNvPr>
          <p:cNvSpPr>
            <a:spLocks noGrp="1"/>
          </p:cNvSpPr>
          <p:nvPr/>
        </p:nvSpPr>
        <p:spPr>
          <a:xfrm>
            <a:off x="4476750" y="3200400"/>
            <a:ext cx="3486150" cy="2381250"/>
          </a:xfrm>
          <a:prstGeom prst="roundRect">
            <a:avLst>
              <a:gd name="adj" fmla="val 3200"/>
            </a:avLst>
          </a:prstGeom>
          <a:solidFill>
            <a:srgbClr val="EEE8DD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6C9B28-6381-4A79-84EC-7F70A93744C2}"/>
              </a:ext>
            </a:extLst>
          </p:cNvPr>
          <p:cNvSpPr>
            <a:spLocks noGrp="1"/>
          </p:cNvSpPr>
          <p:nvPr/>
        </p:nvSpPr>
        <p:spPr>
          <a:xfrm>
            <a:off x="4476750" y="3200400"/>
            <a:ext cx="76200" cy="238125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F681DE-1EBC-4821-8E79-AF97F7334D05}"/>
              </a:ext>
            </a:extLst>
          </p:cNvPr>
          <p:cNvSpPr>
            <a:spLocks noGrp="1"/>
          </p:cNvSpPr>
          <p:nvPr/>
        </p:nvSpPr>
        <p:spPr>
          <a:xfrm>
            <a:off x="4724400" y="3409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Region totals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F2D0F-0BDF-401D-94E6-1CE52BC36259}"/>
              </a:ext>
            </a:extLst>
          </p:cNvPr>
          <p:cNvSpPr>
            <a:spLocks noGrp="1"/>
          </p:cNvSpPr>
          <p:nvPr/>
        </p:nvSpPr>
        <p:spPr>
          <a:xfrm>
            <a:off x="4724400" y="3829050"/>
            <a:ext cx="180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East: 1500.00</a:t>
            </a:r>
          </a:p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North: 1530.00</a:t>
            </a:r>
          </a:p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South: 90.00</a:t>
            </a:r>
          </a:p>
          <a:p>
            <a:pPr algn="l">
              <a:defRPr sz="165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West: 1560.00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B95D713-5542-4002-95C6-082E8809BD0E}"/>
              </a:ext>
            </a:extLst>
          </p:cNvPr>
          <p:cNvSpPr>
            <a:spLocks noGrp="1"/>
          </p:cNvSpPr>
          <p:nvPr/>
        </p:nvSpPr>
        <p:spPr>
          <a:xfrm>
            <a:off x="8229600" y="3200400"/>
            <a:ext cx="3181350" cy="238125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62709-A255-4735-969C-DC7CBE8BAC3A}"/>
              </a:ext>
            </a:extLst>
          </p:cNvPr>
          <p:cNvSpPr>
            <a:spLocks noGrp="1"/>
          </p:cNvSpPr>
          <p:nvPr/>
        </p:nvSpPr>
        <p:spPr>
          <a:xfrm>
            <a:off x="8229600" y="3200400"/>
            <a:ext cx="76200" cy="238125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7125DA-EE63-4BAB-9892-D1EC25A2FAB4}"/>
              </a:ext>
            </a:extLst>
          </p:cNvPr>
          <p:cNvSpPr>
            <a:spLocks noGrp="1"/>
          </p:cNvSpPr>
          <p:nvPr/>
        </p:nvSpPr>
        <p:spPr>
          <a:xfrm>
            <a:off x="8477250" y="34099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Role views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F95BF8-93A7-424D-B658-905B5899CBAB}"/>
              </a:ext>
            </a:extLst>
          </p:cNvPr>
          <p:cNvSpPr>
            <a:spLocks noGrp="1"/>
          </p:cNvSpPr>
          <p:nvPr/>
        </p:nvSpPr>
        <p:spPr>
          <a:xfrm>
            <a:off x="8477250" y="3829050"/>
            <a:ext cx="209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NorthRole: 1530.00</a:t>
            </a:r>
          </a:p>
          <a:p>
            <a:pPr algn="l">
              <a:defRPr sz="15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WestRole: 1560.00</a:t>
            </a:r>
          </a:p>
          <a:p>
            <a:pPr algn="l">
              <a:defRPr sz="15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No cross-region leakage allowed</a:t>
            </a:r>
          </a:p>
        </p:txBody>
      </p:sp>
    </p:spTree>
    <p:extLst>
      <p:ext uri="{BB962C8B-B14F-4D97-AF65-F5344CB8AC3E}">
        <p14:creationId xmlns:p14="http://schemas.microsoft.com/office/powerpoint/2010/main" val="204433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0643A81-9CA8-4C7A-824A-4A29AB86B4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13933B-5620-466B-946D-559A14F18A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B5C06C-D094-454C-955A-7AEB5438258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345245-CBB6-4D78-B3C4-9B79583EA2DD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AB22D4-FF5F-467F-AE94-6D599F0E99A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EB76AC-C9C8-4ABD-B819-D071316B5FF9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PITFALLS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AE31E-27C3-43FE-AA53-116A8F4029BD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C158AE-8E03-4B01-9D31-47BF7D73CAF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Common </a:t>
            </a: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Lab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 4 pitfalls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180484-4AE0-4CD5-B11E-84D6E723357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These are the issues most likely to confuse learners or create misleading test results.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F5E282A-3A1F-4854-A307-141EB84D2539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0591800" cy="3009900"/>
          </a:xfrm>
          <a:prstGeom prst="roundRect">
            <a:avLst>
              <a:gd name="adj" fmla="val 2532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675FB-B470-42AD-9813-06C7C27C12CB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76200" cy="30099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86162C-8167-445C-9A24-B2D4B8923A8D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F603F9-E061-4DDE-ACCD-DB58C45071D7}"/>
              </a:ext>
            </a:extLst>
          </p:cNvPr>
          <p:cNvSpPr>
            <a:spLocks noGrp="1"/>
          </p:cNvSpPr>
          <p:nvPr/>
        </p:nvSpPr>
        <p:spPr>
          <a:xfrm>
            <a:off x="1200150" y="35433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9734F2-4FC1-4136-B71A-F9AC4D96E248}"/>
              </a:ext>
            </a:extLst>
          </p:cNvPr>
          <p:cNvSpPr>
            <a:spLocks noGrp="1"/>
          </p:cNvSpPr>
          <p:nvPr/>
        </p:nvSpPr>
        <p:spPr>
          <a:xfrm>
            <a:off x="1714500" y="34861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Treating a failed pipeline as a full failure when useful outputs were already produced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12A91E-4B31-4817-899B-8FF242482A91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E28DB-6876-4D2E-AFF3-4E9A1BD2BD1D}"/>
              </a:ext>
            </a:extLst>
          </p:cNvPr>
          <p:cNvSpPr>
            <a:spLocks noGrp="1"/>
          </p:cNvSpPr>
          <p:nvPr/>
        </p:nvSpPr>
        <p:spPr>
          <a:xfrm>
            <a:off x="1200150" y="39433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457A17-F3DF-480C-8ED9-B0361451B702}"/>
              </a:ext>
            </a:extLst>
          </p:cNvPr>
          <p:cNvSpPr>
            <a:spLocks noGrp="1"/>
          </p:cNvSpPr>
          <p:nvPr/>
        </p:nvSpPr>
        <p:spPr>
          <a:xfrm>
            <a:off x="1714500" y="38862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Comparing report totals without validating the semantic model relationships first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BA114F-6368-4B2F-8E77-4D6C3195C887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CE844C-C8B9-4E90-B8D4-2709DE7FAAC5}"/>
              </a:ext>
            </a:extLst>
          </p:cNvPr>
          <p:cNvSpPr>
            <a:spLocks noGrp="1"/>
          </p:cNvSpPr>
          <p:nvPr/>
        </p:nvSpPr>
        <p:spPr>
          <a:xfrm>
            <a:off x="1200150" y="4343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947203-7408-45EF-9176-08D0E8074BBE}"/>
              </a:ext>
            </a:extLst>
          </p:cNvPr>
          <p:cNvSpPr>
            <a:spLocks noGrp="1"/>
          </p:cNvSpPr>
          <p:nvPr/>
        </p:nvSpPr>
        <p:spPr>
          <a:xfrm>
            <a:off x="1714500" y="42862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Testing only positive RLS outcomes and skipping negative isolation checks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F369B2A-DCEF-49B0-BC31-57EB8D59A742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240BEE-2F1E-4E2C-A439-A195E20341B3}"/>
              </a:ext>
            </a:extLst>
          </p:cNvPr>
          <p:cNvSpPr>
            <a:spLocks noGrp="1"/>
          </p:cNvSpPr>
          <p:nvPr/>
        </p:nvSpPr>
        <p:spPr>
          <a:xfrm>
            <a:off x="1200150" y="4743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AF5CA-A563-4063-AFD2-802980A34CBE}"/>
              </a:ext>
            </a:extLst>
          </p:cNvPr>
          <p:cNvSpPr>
            <a:spLocks noGrp="1"/>
          </p:cNvSpPr>
          <p:nvPr/>
        </p:nvSpPr>
        <p:spPr>
          <a:xfrm>
            <a:off x="1714500" y="46863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Forgetting to clear View as before validating unrestricted totals again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256C6E2-2F44-46FF-9E8F-5D37BD6EF185}"/>
              </a:ext>
            </a:extLst>
          </p:cNvPr>
          <p:cNvSpPr>
            <a:spLocks noGrp="1"/>
          </p:cNvSpPr>
          <p:nvPr/>
        </p:nvSpPr>
        <p:spPr>
          <a:xfrm>
            <a:off x="1066800" y="5067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FBC0A0-DC97-4C73-B0CA-AFEA61F816EB}"/>
              </a:ext>
            </a:extLst>
          </p:cNvPr>
          <p:cNvSpPr>
            <a:spLocks noGrp="1"/>
          </p:cNvSpPr>
          <p:nvPr/>
        </p:nvSpPr>
        <p:spPr>
          <a:xfrm>
            <a:off x="1200150" y="5143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2DC3BC-9B80-411D-AE01-F01193A17186}"/>
              </a:ext>
            </a:extLst>
          </p:cNvPr>
          <p:cNvSpPr>
            <a:spLocks noGrp="1"/>
          </p:cNvSpPr>
          <p:nvPr/>
        </p:nvSpPr>
        <p:spPr>
          <a:xfrm>
            <a:off x="1714500" y="50863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Mixing SQL truth-set values with outdated report values after a refresh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4D4CDC-2BE6-4764-922D-ED10A6692E93}"/>
              </a:ext>
            </a:extLst>
          </p:cNvPr>
          <p:cNvSpPr>
            <a:spLocks noGrp="1"/>
          </p:cNvSpPr>
          <p:nvPr/>
        </p:nvSpPr>
        <p:spPr>
          <a:xfrm>
            <a:off x="1066800" y="5467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1413FC-0299-43FD-80A1-EF294F15E700}"/>
              </a:ext>
            </a:extLst>
          </p:cNvPr>
          <p:cNvSpPr>
            <a:spLocks noGrp="1"/>
          </p:cNvSpPr>
          <p:nvPr/>
        </p:nvSpPr>
        <p:spPr>
          <a:xfrm>
            <a:off x="1200150" y="5543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6756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A6C952-FDC8-46F6-8281-25DB8FC041DD}"/>
              </a:ext>
            </a:extLst>
          </p:cNvPr>
          <p:cNvSpPr>
            <a:spLocks noGrp="1"/>
          </p:cNvSpPr>
          <p:nvPr/>
        </p:nvSpPr>
        <p:spPr>
          <a:xfrm>
            <a:off x="1714500" y="54864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Assuming workspace access means unrestricted report visibility</a:t>
            </a:r>
          </a:p>
        </p:txBody>
      </p:sp>
    </p:spTree>
    <p:extLst>
      <p:ext uri="{BB962C8B-B14F-4D97-AF65-F5344CB8AC3E}">
        <p14:creationId xmlns:p14="http://schemas.microsoft.com/office/powerpoint/2010/main" val="135227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793309C-A0FB-4E6A-B5E6-18B9B0224A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886164-8C36-4193-941F-5959879B3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701E45-6665-4577-ADFA-9F6D3225C766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CB69FC5-E6A8-468A-ACFB-40A2FE50CBD0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177E2C-CC46-4CBC-B6EE-23BC9A200A8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CDDC2-85DB-4FE6-B42E-AA5C649A0945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CHECKLIST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9E562-4AF3-4E04-B454-40A489DD76DA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FE0B55-EB1A-425B-BC65-4B0B4394E93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Lab</a:t>
            </a:r>
            <a:r>
              <a:rPr sz="2400" b="1" dirty="0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 4 validation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223A14-7A3B-4A97-B34D-13C8CC5AF54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B6774"/>
                </a:solidFill>
                <a:latin typeface="Lato"/>
                <a:ea typeface="Lato"/>
                <a:cs typeface="Lato"/>
              </a:rPr>
              <a:t>This is the summary slide learners can carry into their own Fabric projects.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3DE834-235C-4AAA-8D15-1D49968A5C9E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0591800" cy="2990850"/>
          </a:xfrm>
          <a:prstGeom prst="roundRect">
            <a:avLst>
              <a:gd name="adj" fmla="val 2548"/>
            </a:avLst>
          </a:prstGeom>
          <a:solidFill>
            <a:srgbClr val="FFFCF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41F07-B886-4295-85F0-402FDB483ADC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76200" cy="299085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76D347-D6BB-4A01-9D2C-63088F43A33B}"/>
              </a:ext>
            </a:extLst>
          </p:cNvPr>
          <p:cNvSpPr>
            <a:spLocks noGrp="1"/>
          </p:cNvSpPr>
          <p:nvPr/>
        </p:nvSpPr>
        <p:spPr>
          <a:xfrm>
            <a:off x="1066800" y="3505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86DF5-89EC-4AD7-A2F4-51A396A18EE5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C53C0F-9D52-4731-9150-EB4ED9E047B2}"/>
              </a:ext>
            </a:extLst>
          </p:cNvPr>
          <p:cNvSpPr>
            <a:spLocks noGrp="1"/>
          </p:cNvSpPr>
          <p:nvPr/>
        </p:nvSpPr>
        <p:spPr>
          <a:xfrm>
            <a:off x="1714500" y="35242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Confirm the pipeline activity order and expected statuses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1581F3A-919D-4516-9464-0A15CD9A4AEF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70E6B-B56D-4F51-B9D4-DD8BA7A4BAE4}"/>
              </a:ext>
            </a:extLst>
          </p:cNvPr>
          <p:cNvSpPr>
            <a:spLocks noGrp="1"/>
          </p:cNvSpPr>
          <p:nvPr/>
        </p:nvSpPr>
        <p:spPr>
          <a:xfrm>
            <a:off x="1200150" y="3981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B39C66-A934-46F2-AD53-3C57EC197960}"/>
              </a:ext>
            </a:extLst>
          </p:cNvPr>
          <p:cNvSpPr>
            <a:spLocks noGrp="1"/>
          </p:cNvSpPr>
          <p:nvPr/>
        </p:nvSpPr>
        <p:spPr>
          <a:xfrm>
            <a:off x="1714500" y="39243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Capture the failure details and the later successful rerun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4EB462D-927D-46BC-B56B-97A33A9E3975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0204A-0FA4-4D0A-AE1E-F0753AD011DD}"/>
              </a:ext>
            </a:extLst>
          </p:cNvPr>
          <p:cNvSpPr>
            <a:spLocks noGrp="1"/>
          </p:cNvSpPr>
          <p:nvPr/>
        </p:nvSpPr>
        <p:spPr>
          <a:xfrm>
            <a:off x="1200150" y="4381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7E4222-B08A-48B9-AECE-5AADCD9D2985}"/>
              </a:ext>
            </a:extLst>
          </p:cNvPr>
          <p:cNvSpPr>
            <a:spLocks noGrp="1"/>
          </p:cNvSpPr>
          <p:nvPr/>
        </p:nvSpPr>
        <p:spPr>
          <a:xfrm>
            <a:off x="1714500" y="43243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Confirm curated Lakehouse outputs exist after the first activity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ABDC459-6FAA-4CE5-8503-FFAEF0E72501}"/>
              </a:ext>
            </a:extLst>
          </p:cNvPr>
          <p:cNvSpPr>
            <a:spLocks noGrp="1"/>
          </p:cNvSpPr>
          <p:nvPr/>
        </p:nvSpPr>
        <p:spPr>
          <a:xfrm>
            <a:off x="1066800" y="4705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7F5871-089B-492D-8E0A-C3857B0EB8E7}"/>
              </a:ext>
            </a:extLst>
          </p:cNvPr>
          <p:cNvSpPr>
            <a:spLocks noGrp="1"/>
          </p:cNvSpPr>
          <p:nvPr/>
        </p:nvSpPr>
        <p:spPr>
          <a:xfrm>
            <a:off x="1200150" y="4781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A498FB-5A5A-4709-AA54-290E05CF10ED}"/>
              </a:ext>
            </a:extLst>
          </p:cNvPr>
          <p:cNvSpPr>
            <a:spLocks noGrp="1"/>
          </p:cNvSpPr>
          <p:nvPr/>
        </p:nvSpPr>
        <p:spPr>
          <a:xfrm>
            <a:off x="1714500" y="47244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Validate semantic model relationships and measures against SQL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311F6D1-E8D2-4601-B8F2-D07D3B8B9F53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6CC0EA-856F-47F6-A10E-2EDA59DA9775}"/>
              </a:ext>
            </a:extLst>
          </p:cNvPr>
          <p:cNvSpPr>
            <a:spLocks noGrp="1"/>
          </p:cNvSpPr>
          <p:nvPr/>
        </p:nvSpPr>
        <p:spPr>
          <a:xfrm>
            <a:off x="1200150" y="51816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88AD55-EBE5-47E7-9B96-98B5736D882E}"/>
              </a:ext>
            </a:extLst>
          </p:cNvPr>
          <p:cNvSpPr>
            <a:spLocks noGrp="1"/>
          </p:cNvSpPr>
          <p:nvPr/>
        </p:nvSpPr>
        <p:spPr>
          <a:xfrm>
            <a:off x="1714500" y="51244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Validate report KPI cards, matrix totals, and refresh behavior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F3D1975-ED7D-4D32-92F0-F6C00DF661EC}"/>
              </a:ext>
            </a:extLst>
          </p:cNvPr>
          <p:cNvSpPr>
            <a:spLocks noGrp="1"/>
          </p:cNvSpPr>
          <p:nvPr/>
        </p:nvSpPr>
        <p:spPr>
          <a:xfrm>
            <a:off x="1066800" y="55054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3E5C9B-09D8-4304-8034-D2FE8F47AF3E}"/>
              </a:ext>
            </a:extLst>
          </p:cNvPr>
          <p:cNvSpPr>
            <a:spLocks noGrp="1"/>
          </p:cNvSpPr>
          <p:nvPr/>
        </p:nvSpPr>
        <p:spPr>
          <a:xfrm>
            <a:off x="1200150" y="55816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0E9A53-A28B-4625-99CC-DC2D03B79919}"/>
              </a:ext>
            </a:extLst>
          </p:cNvPr>
          <p:cNvSpPr>
            <a:spLocks noGrp="1"/>
          </p:cNvSpPr>
          <p:nvPr/>
        </p:nvSpPr>
        <p:spPr>
          <a:xfrm>
            <a:off x="1714500" y="55245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3"/>
                </a:solidFill>
                <a:latin typeface="Lato"/>
                <a:ea typeface="Lato"/>
                <a:cs typeface="Lato"/>
              </a:rPr>
              <a:t>Validate RLS with both positive views and blocked cross-region access</a:t>
            </a:r>
          </a:p>
        </p:txBody>
      </p:sp>
    </p:spTree>
    <p:extLst>
      <p:ext uri="{BB962C8B-B14F-4D97-AF65-F5344CB8AC3E}">
        <p14:creationId xmlns:p14="http://schemas.microsoft.com/office/powerpoint/2010/main" val="1615421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F5BE9F3-B88B-4ACB-AE6C-5F85CE5A54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solidFill>
              <a:srgbClr val="F5F1E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DFD7E6-EABF-4C15-8947-F06B05836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02033"/>
          </a:solidFill>
          <a:ln w="0">
            <a:solidFill>
              <a:srgbClr val="102033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C8D399-4C98-4F76-861E-ECBE60720A64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5CC628-0108-4F0B-83B7-CC33140146ED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8031A0-A189-421A-84F3-7FEA62FF572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2479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4CA42-9EC6-4139-AF97-11F223C5EF57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981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D7A86"/>
                </a:solidFill>
                <a:latin typeface="Aptos Mono"/>
                <a:ea typeface="Aptos Mono"/>
                <a:cs typeface="Aptos Mono"/>
              </a:rPr>
              <a:t>RECAP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B53C34-150E-4802-A664-5F797C706DF2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95C059-54EA-4397-B769-04E794065B6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Recap and transition to Module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0374E-8F32-42BE-8729-1380FCF9D53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Module</a:t>
            </a:r>
            <a:r>
              <a:rPr sz="1275" b="0" dirty="0">
                <a:solidFill>
                  <a:srgbClr val="5B6774"/>
                </a:solidFill>
                <a:latin typeface="Lato"/>
                <a:ea typeface="Lato"/>
                <a:cs typeface="Lato"/>
              </a:rPr>
              <a:t> 4 proves that correct data is not enough unless it is orchestrated, consumable, and secure.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175DBD-9444-4A57-92E5-ECB7E329B300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D8EFF1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C5EC1A-2175-4A46-96DB-0D84CD3D2730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6200" cy="1181100"/>
          </a:xfrm>
          <a:prstGeom prst="rect">
            <a:avLst/>
          </a:prstGeom>
          <a:solidFill>
            <a:srgbClr val="0D7A86"/>
          </a:solidFill>
          <a:ln w="0">
            <a:solidFill>
              <a:srgbClr val="0D7A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66AC9-F6D8-4A40-A32E-04CB372E20D3}"/>
              </a:ext>
            </a:extLst>
          </p:cNvPr>
          <p:cNvSpPr>
            <a:spLocks noGrp="1"/>
          </p:cNvSpPr>
          <p:nvPr/>
        </p:nvSpPr>
        <p:spPr>
          <a:xfrm>
            <a:off x="1009650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Pipeline evidence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DAD58B-4FAE-436C-964D-AC832FCF77D1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QA should prove activity flow, failure details, and retest results.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8006A5-E602-4EC1-86CE-C4C8529B1061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5E7C4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B0F932-E283-4B60-AECF-17AB3D3533C9}"/>
              </a:ext>
            </a:extLst>
          </p:cNvPr>
          <p:cNvSpPr>
            <a:spLocks noGrp="1"/>
          </p:cNvSpPr>
          <p:nvPr/>
        </p:nvSpPr>
        <p:spPr>
          <a:xfrm>
            <a:off x="6200775" y="3200400"/>
            <a:ext cx="76200" cy="1181100"/>
          </a:xfrm>
          <a:prstGeom prst="rect">
            <a:avLst/>
          </a:prstGeom>
          <a:solidFill>
            <a:srgbClr val="CF982D"/>
          </a:solidFill>
          <a:ln w="0">
            <a:solidFill>
              <a:srgbClr val="CF982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C52062-B5CC-41AB-8003-95E3F6E57084}"/>
              </a:ext>
            </a:extLst>
          </p:cNvPr>
          <p:cNvSpPr>
            <a:spLocks noGrp="1"/>
          </p:cNvSpPr>
          <p:nvPr/>
        </p:nvSpPr>
        <p:spPr>
          <a:xfrm>
            <a:off x="6410325" y="33718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Models shape trust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AF75CE-CA51-4B72-B847-62281D3305AD}"/>
              </a:ext>
            </a:extLst>
          </p:cNvPr>
          <p:cNvSpPr>
            <a:spLocks noGrp="1"/>
          </p:cNvSpPr>
          <p:nvPr/>
        </p:nvSpPr>
        <p:spPr>
          <a:xfrm>
            <a:off x="6410325" y="371475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Relationships and measures decide whether reports tell the truth.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D2FB3C-00D7-4B1B-A0CA-D143D2E40E1F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6DED8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58E8A1-0683-4E62-80C0-0A9A7255AC25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81100"/>
          </a:xfrm>
          <a:prstGeom prst="rect">
            <a:avLst/>
          </a:prstGeom>
          <a:solidFill>
            <a:srgbClr val="D86756"/>
          </a:solidFill>
          <a:ln w="0">
            <a:solidFill>
              <a:srgbClr val="D867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61615A-B4B8-486D-ABF8-86AA989405F9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Security needs proof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2A146D-773F-4EC1-BE2A-C243111F0CBB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RLS validation must show both visible and blocked outcomes.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E2A19E7-9F06-4440-B02D-4936A5FE0C56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E4EAF2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A4AD60-7E14-4F6B-97C6-D90943ED4A45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81100"/>
          </a:xfrm>
          <a:prstGeom prst="rect">
            <a:avLst/>
          </a:prstGeom>
          <a:solidFill>
            <a:srgbClr val="5C7292"/>
          </a:solidFill>
          <a:ln w="0">
            <a:solidFill>
              <a:srgbClr val="5C729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226943-0A2C-4B1C-87FE-6837A039DB94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3"/>
                </a:solidFill>
                <a:latin typeface="Caladea"/>
                <a:ea typeface="Caladea"/>
                <a:cs typeface="Caladea"/>
              </a:rPr>
              <a:t>Next up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2B09A0-327C-4B14-ADFE-1C1BF251FB0A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B6774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B6774"/>
                </a:solidFill>
                <a:latin typeface="Lato"/>
                <a:ea typeface="Lato"/>
                <a:cs typeface="Lato"/>
              </a:rPr>
              <a:t>Module 5 adds performance, monitoring, and automation fundamentals to complete the QA story.</a:t>
            </a:r>
          </a:p>
        </p:txBody>
      </p:sp>
    </p:spTree>
    <p:extLst>
      <p:ext uri="{BB962C8B-B14F-4D97-AF65-F5344CB8AC3E}">
        <p14:creationId xmlns:p14="http://schemas.microsoft.com/office/powerpoint/2010/main" val="12975892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5650</Words>
  <Application>Microsoft Macintosh PowerPoint</Application>
  <DocSecurity>0</DocSecurity>
  <PresentationFormat>Widescreen</PresentationFormat>
  <Paragraphs>916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Mono</vt:lpstr>
      <vt:lpstr>Caladea</vt:lpstr>
      <vt:lpstr>Calibri</vt:lpstr>
      <vt:lpstr>Lato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Kishore Chowdary</cp:lastModifiedBy>
  <cp:revision>1</cp:revision>
  <dcterms:created xsi:type="dcterms:W3CDTF">2026-04-28T12:38:02Z</dcterms:created>
  <dcterms:modified xsi:type="dcterms:W3CDTF">2026-05-09T05:11:04Z</dcterms:modified>
</cp:coreProperties>
</file>