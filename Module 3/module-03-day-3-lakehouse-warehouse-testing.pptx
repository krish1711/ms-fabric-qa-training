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78213"/>
  </p:normalViewPr>
  <p:slideViewPr>
    <p:cSldViewPr snapToGrid="0">
      <p:cViewPr varScale="1">
        <p:scale>
          <a:sx n="110" d="100"/>
          <a:sy n="110" d="100"/>
        </p:scale>
        <p:origin x="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3: Lakehouse &amp; Warehouse Testing"</a:t>
            </a:r>
          </a:p>
          <a:p>
            <a:r>
              <a:rPr lang="en-IN" dirty="0"/>
              <a:t>This slide is answering the Day 3 kickoff question:</a:t>
            </a:r>
          </a:p>
          <a:p>
            <a:r>
              <a:rPr lang="en-IN" dirty="0"/>
              <a:t>❓ "What does QA learn after platform basics and data-quality thinking are already in place?"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Module 1 gave learners navigation.</a:t>
            </a:r>
          </a:p>
          <a:p>
            <a:r>
              <a:rPr lang="en-IN" dirty="0"/>
              <a:t>Module 2 gave them data-quality thinking.</a:t>
            </a:r>
          </a:p>
          <a:p>
            <a:r>
              <a:rPr lang="en-IN" dirty="0"/>
              <a:t>Day 3 moves into deeper validation surfaces where evidence becomes more SQL-heavy and table-state focused.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1. The Focus Shifts to Deeper Validation Surfaces</a:t>
            </a:r>
          </a:p>
          <a:p>
            <a:r>
              <a:rPr lang="en-IN" dirty="0"/>
              <a:t>Today QA starts working with:</a:t>
            </a:r>
          </a:p>
          <a:p>
            <a:r>
              <a:rPr lang="en-IN" dirty="0"/>
              <a:t>Delta-table evidence</a:t>
            </a:r>
          </a:p>
          <a:p>
            <a:r>
              <a:rPr lang="en-IN" dirty="0"/>
              <a:t>Warehouse SQL validation</a:t>
            </a:r>
          </a:p>
          <a:p>
            <a:r>
              <a:rPr lang="en-IN" dirty="0"/>
              <a:t>CTAS behavior</a:t>
            </a:r>
          </a:p>
          <a:p>
            <a:r>
              <a:rPr lang="en-IN" dirty="0"/>
              <a:t>MERGE behavior</a:t>
            </a:r>
          </a:p>
          <a:p>
            <a:r>
              <a:rPr lang="en-IN" dirty="0"/>
              <a:t>Cross-surface reconciliation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where learners start proving not only that data exists, but how it changed and whether both surfaces stayed aligned.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2. The Module Is Still QA-First</a:t>
            </a:r>
          </a:p>
          <a:p>
            <a:r>
              <a:rPr lang="en-IN" dirty="0"/>
              <a:t>The subtitle makes that clear:</a:t>
            </a:r>
          </a:p>
          <a:p>
            <a:r>
              <a:rPr lang="en-IN" dirty="0"/>
              <a:t>This is not a general Spark or SQL lesson.</a:t>
            </a:r>
          </a:p>
          <a:p>
            <a:r>
              <a:rPr lang="en-IN" dirty="0"/>
              <a:t>It is a QA-first walkthrough of how to inspect Lakehouse and Warehouse behavior as test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3. The Outcomes Tell the Story</a:t>
            </a:r>
          </a:p>
          <a:p>
            <a:r>
              <a:rPr lang="en-IN" dirty="0"/>
              <a:t>By the end of the module, learners should be able to:</a:t>
            </a:r>
          </a:p>
          <a:p>
            <a:r>
              <a:rPr lang="en-IN" dirty="0"/>
              <a:t>Inspect Delta tables and use history as evidence</a:t>
            </a:r>
          </a:p>
          <a:p>
            <a:r>
              <a:rPr lang="en-IN" dirty="0"/>
              <a:t>Validate Warehouse outputs with SQL assertions</a:t>
            </a:r>
          </a:p>
          <a:p>
            <a:r>
              <a:rPr lang="en-IN" dirty="0"/>
              <a:t>Explain how CTAS and MERGE should be tested</a:t>
            </a:r>
          </a:p>
          <a:p>
            <a:r>
              <a:rPr lang="en-IN" dirty="0"/>
              <a:t>Reconcile Lakehouse and Warehouse results with confidence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3 teaches learners how to prove table behavior, change behavior, and cross-surface consistency in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"What we will cover in 30 minutes"</a:t>
            </a:r>
          </a:p>
          <a:p>
            <a:r>
              <a:rPr lang="en-IN" dirty="0"/>
              <a:t>This slide is answering one pacing question:</a:t>
            </a:r>
          </a:p>
          <a:p>
            <a:r>
              <a:rPr lang="en-IN" dirty="0"/>
              <a:t>❓ "How does this session move from Lakehouse evidence into practical SQL-based validation?"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roadmap keeps the session practical and predictable.</a:t>
            </a:r>
          </a:p>
          <a:p>
            <a:r>
              <a:rPr lang="en-IN" dirty="0"/>
              <a:t>The goal is not to teach every Delta or SQL feature.</a:t>
            </a:r>
          </a:p>
          <a:p>
            <a:r>
              <a:rPr lang="en-IN" dirty="0"/>
              <a:t>The goal is to show what QA should inspect and how to prove behavior.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🏞️ 1. Lakehouse Evidence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Delta tables expose schema, counts, and history for QA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Learners should understand that Lakehouse validation is not only row-count checking. It also includes metadata, state, and change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2. Warehouse SQL Checks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to validate outputs, summaries, and behavior with SQL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SQL becomes a way to express repeatable assertions, not just one-time exploration.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3. Change Scenarios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CTAS and MERGE become test cases instead of assumptions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Example:</a:t>
            </a:r>
          </a:p>
          <a:p>
            <a:r>
              <a:rPr lang="en-IN" dirty="0"/>
              <a:t>A MERGE can look successful in the final table while still updating the wrong rows.</a:t>
            </a:r>
          </a:p>
          <a:p>
            <a:r>
              <a:rPr lang="en-IN" dirty="0"/>
              <a:t>QA has to prove change behavior, not just the endpoint.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🛠️ 4. Day 3 Lab</a:t>
            </a:r>
          </a:p>
          <a:p>
            <a:r>
              <a:rPr lang="en-IN" dirty="0"/>
              <a:t>The module ends by showing how learners will create both surfaces and reconcile the results.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session moves from "what evidence exists" into "how QA proves it with queries, history, and reconciliation."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"Why Lakehouse and Warehouse testing matters"</a:t>
            </a:r>
          </a:p>
          <a:p>
            <a:r>
              <a:rPr lang="en-IN" dirty="0"/>
              <a:t>This slide is answering one central QA question:</a:t>
            </a:r>
          </a:p>
          <a:p>
            <a:r>
              <a:rPr lang="en-IN" dirty="0"/>
              <a:t>❓ "Why does QA need to validate both surfaces instead of trusting one of them?"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subtitle gives the whole message:</a:t>
            </a:r>
          </a:p>
          <a:p>
            <a:r>
              <a:rPr lang="en-IN" dirty="0"/>
              <a:t>The same business data can look correct in one surface and still fail in another.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🧩 1. Different Evidence Types</a:t>
            </a:r>
          </a:p>
          <a:p>
            <a:r>
              <a:rPr lang="en-IN" dirty="0"/>
              <a:t>The slide contrasts:</a:t>
            </a:r>
          </a:p>
          <a:p>
            <a:r>
              <a:rPr lang="en-IN" dirty="0"/>
              <a:t>Lakehouse evidence = table structure and history</a:t>
            </a:r>
          </a:p>
          <a:p>
            <a:r>
              <a:rPr lang="en-IN" dirty="0"/>
              <a:t>Warehouse evidence = SQL outputs and relational logic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should expect different proof mechanisms in each surface.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2. Change Behavior Matters</a:t>
            </a:r>
          </a:p>
          <a:p>
            <a:r>
              <a:rPr lang="en-IN" dirty="0"/>
              <a:t>The slide calls out:</a:t>
            </a:r>
          </a:p>
          <a:p>
            <a:r>
              <a:rPr lang="en-IN" dirty="0"/>
              <a:t>Updates</a:t>
            </a:r>
          </a:p>
          <a:p>
            <a:r>
              <a:rPr lang="en-IN" dirty="0"/>
              <a:t>Inserts</a:t>
            </a:r>
          </a:p>
          <a:p>
            <a:r>
              <a:rPr lang="en-IN" dirty="0"/>
              <a:t>Derived tables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These create before-and-after states that QA should validate explicitly.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A derived Warehouse table may look correct on its own while still being out of sync with the Lakehouse source it was built from.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🤝 3. Reconciliation Builds Trust</a:t>
            </a:r>
          </a:p>
          <a:p>
            <a:r>
              <a:rPr lang="en-IN" dirty="0"/>
              <a:t>Cross-checking Lakehouse and Warehouse outputs helps confirm transformation logic remained aligned.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Do both surfaces reflect the same accepted rows?</a:t>
            </a:r>
          </a:p>
          <a:p>
            <a:r>
              <a:rPr lang="en-IN" dirty="0"/>
              <a:t>Do totals match?</a:t>
            </a:r>
          </a:p>
          <a:p>
            <a:r>
              <a:rPr lang="en-IN" dirty="0"/>
              <a:t>Did change scenarios land correctly in both places?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3 is where learners start validating not just data quality, but also table state, change history, and consistency across surfaces.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3 learning objectives"</a:t>
            </a:r>
          </a:p>
          <a:p>
            <a:r>
              <a:rPr lang="en-IN" dirty="0"/>
              <a:t>This slide is answering one expectation-setting question:</a:t>
            </a:r>
          </a:p>
          <a:p>
            <a:r>
              <a:rPr lang="en-IN" dirty="0"/>
              <a:t>❓ "What should learners be able to inspect and prove by the end of this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contract slide for Day 3.</a:t>
            </a:r>
          </a:p>
          <a:p>
            <a:r>
              <a:rPr lang="en-IN" dirty="0"/>
              <a:t>It shows that learners are picking up both platform-specific and QA-specific skills.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📘 1. Explain Delta-Table QA Checks</a:t>
            </a:r>
          </a:p>
          <a:p>
            <a:r>
              <a:rPr lang="en-IN" dirty="0"/>
              <a:t>Learners should know what to inspect in a Delta-backed Lakehouse table:</a:t>
            </a:r>
          </a:p>
          <a:p>
            <a:r>
              <a:rPr lang="en-IN" dirty="0"/>
              <a:t>Schema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History</a:t>
            </a:r>
          </a:p>
          <a:p>
            <a:r>
              <a:rPr lang="en-IN" dirty="0"/>
              <a:t>Table state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🕘 2. Inspect History and Table-State Changes</a:t>
            </a:r>
          </a:p>
          <a:p>
            <a:r>
              <a:rPr lang="en-IN" dirty="0"/>
              <a:t>Learners should understand why history is strong QA evidence for controlled updates.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3. Validate Warehouse Outputs with SQL</a:t>
            </a:r>
          </a:p>
          <a:p>
            <a:r>
              <a:rPr lang="en-IN" dirty="0"/>
              <a:t>The goal is not just to run queries.</a:t>
            </a:r>
          </a:p>
          <a:p>
            <a:r>
              <a:rPr lang="en-IN" dirty="0"/>
              <a:t>The goal is to express technical and business expectations as repeatable SQL assertions.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🔁 4. Test CTAS and MERGE Behavior</a:t>
            </a:r>
          </a:p>
          <a:p>
            <a:r>
              <a:rPr lang="en-IN" dirty="0"/>
              <a:t>These are not just engineering steps.</a:t>
            </a:r>
          </a:p>
          <a:p>
            <a:r>
              <a:rPr lang="en-IN" dirty="0"/>
              <a:t>They are testable scenarios with before-state, operation logic, and after-state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⚖️ 5. Reconcile Lakehouse and Warehouse Results</a:t>
            </a:r>
          </a:p>
          <a:p>
            <a:r>
              <a:rPr lang="en-IN" dirty="0"/>
              <a:t>Learners should be able to compare the same business data across both surfaces and decide whether they stay aligned.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By the end of Day 3, learners should know what to inspect, how to prove it, and how to compare both Fabric surfaces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"Lakehouse vs. Warehouse from a QA perspective"</a:t>
            </a:r>
          </a:p>
          <a:p>
            <a:r>
              <a:rPr lang="en-IN" dirty="0"/>
              <a:t>This slide is answering one strategy question:</a:t>
            </a:r>
          </a:p>
          <a:p>
            <a:r>
              <a:rPr lang="en-IN" dirty="0"/>
              <a:t>❓ "How does QA choose the right validation approach for the right Fabric surface?"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comparison is important because learners should not treat Fabric as one uniform testing area.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🏞️ 1. Lakehouse Evidence</a:t>
            </a:r>
          </a:p>
          <a:p>
            <a:r>
              <a:rPr lang="en-IN" dirty="0"/>
              <a:t>The slide says Lakehouse evidence includes:</a:t>
            </a:r>
          </a:p>
          <a:p>
            <a:r>
              <a:rPr lang="en-IN" dirty="0"/>
              <a:t>Delta tables</a:t>
            </a:r>
          </a:p>
          <a:p>
            <a:r>
              <a:rPr lang="en-IN" dirty="0"/>
              <a:t>Metadata</a:t>
            </a:r>
          </a:p>
          <a:p>
            <a:r>
              <a:rPr lang="en-IN" dirty="0"/>
              <a:t>History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Typical QA checks:</a:t>
            </a:r>
          </a:p>
          <a:p>
            <a:r>
              <a:rPr lang="en-IN" dirty="0"/>
              <a:t>Schema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Partitions or storage behavior</a:t>
            </a:r>
          </a:p>
          <a:p>
            <a:r>
              <a:rPr lang="en-IN" dirty="0"/>
              <a:t>Time-travel or history evidence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2. Warehouse Evidence</a:t>
            </a:r>
          </a:p>
          <a:p>
            <a:r>
              <a:rPr lang="en-IN" dirty="0"/>
              <a:t>The slide says Warehouse evidence includes:</a:t>
            </a:r>
          </a:p>
          <a:p>
            <a:r>
              <a:rPr lang="en-IN" dirty="0"/>
              <a:t>SQL results</a:t>
            </a:r>
          </a:p>
          <a:p>
            <a:r>
              <a:rPr lang="en-IN" dirty="0"/>
              <a:t>Relational structures</a:t>
            </a:r>
          </a:p>
          <a:p>
            <a:r>
              <a:rPr lang="en-IN" dirty="0"/>
              <a:t>Derived outputs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Typical QA checks:</a:t>
            </a:r>
          </a:p>
          <a:p>
            <a:r>
              <a:rPr lang="en-IN" dirty="0"/>
              <a:t>Joins</a:t>
            </a:r>
          </a:p>
          <a:p>
            <a:r>
              <a:rPr lang="en-IN" dirty="0"/>
              <a:t>Aggregations</a:t>
            </a:r>
          </a:p>
          <a:p>
            <a:r>
              <a:rPr lang="en-IN" dirty="0"/>
              <a:t>CTAS behavior</a:t>
            </a:r>
          </a:p>
          <a:p>
            <a:r>
              <a:rPr lang="en-IN" dirty="0"/>
              <a:t>MERGE behavior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🛠️ 3. Best Tool Changes by Surface</a:t>
            </a:r>
          </a:p>
          <a:p>
            <a:r>
              <a:rPr lang="en-IN" dirty="0"/>
              <a:t>Lakehouse:</a:t>
            </a:r>
          </a:p>
          <a:p>
            <a:r>
              <a:rPr lang="en-IN" dirty="0"/>
              <a:t>Notebook or SQL endpoint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Warehouse:</a:t>
            </a:r>
          </a:p>
          <a:p>
            <a:r>
              <a:rPr lang="en-IN" dirty="0"/>
              <a:t>Warehouse SQL editor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should choose the validation surface and tool based on the kind of evidence needed.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4. Common QA Use</a:t>
            </a:r>
          </a:p>
          <a:p>
            <a:r>
              <a:rPr lang="en-IN" dirty="0"/>
              <a:t>Lakehouse is best for validating:</a:t>
            </a:r>
          </a:p>
          <a:p>
            <a:r>
              <a:rPr lang="en-IN" dirty="0"/>
              <a:t>Table state and change history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Warehouse is best for validating:</a:t>
            </a:r>
          </a:p>
          <a:p>
            <a:r>
              <a:rPr lang="en-IN" dirty="0"/>
              <a:t>Business-ready outputs and transformations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Both surfaces matter, but they answer different QA questions and need different validation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"Delta tables: what QA should know"</a:t>
            </a:r>
          </a:p>
          <a:p>
            <a:r>
              <a:rPr lang="en-IN" dirty="0"/>
              <a:t>This slide is answering one platform-specific QA question:</a:t>
            </a:r>
          </a:p>
          <a:p>
            <a:r>
              <a:rPr lang="en-IN" dirty="0"/>
              <a:t>❓ "Why are Delta tables more useful to QA than raw files alone?"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goal is not deep Delta internals.</a:t>
            </a:r>
          </a:p>
          <a:p>
            <a:r>
              <a:rPr lang="en-IN" dirty="0"/>
              <a:t>The goal is to show why Delta tables give QA stronger evidence than raw files by themselves.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🗂️ 1. Managed Tables</a:t>
            </a:r>
          </a:p>
          <a:p>
            <a:r>
              <a:rPr lang="en-IN" dirty="0"/>
              <a:t>The slide explains that Lakehouse tables behave as queryable Delta-backed objects in Fabric.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For QA, this means the data is not just sitting in files. It is exposed in a structured way that supports inspection and validation.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🔒 2. ACID-Style Behavior</a:t>
            </a:r>
          </a:p>
          <a:p>
            <a:r>
              <a:rPr lang="en-IN" dirty="0"/>
              <a:t>Updates and inserts leave a trace in transaction history.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understand:</a:t>
            </a:r>
          </a:p>
          <a:p>
            <a:r>
              <a:rPr lang="en-IN" dirty="0"/>
              <a:t>Controlled change leaves evidence.</a:t>
            </a:r>
          </a:p>
          <a:p>
            <a:r>
              <a:rPr lang="en-IN" dirty="0"/>
              <a:t>That makes testing updates much stronger than guessing what happened from the final table only.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🕘 3. History and Time Travel</a:t>
            </a:r>
          </a:p>
          <a:p>
            <a:r>
              <a:rPr lang="en-IN" dirty="0"/>
              <a:t>QA can inspect previous table versions to prove what changed.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a controlled update modifies 10 rows, QA can compare the prior and current versions instead of only trusting the latest table snapshot.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Delta Lake gives QA something valuable: table history, visible change behavior, and stronger proof than raw files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"Lakehouse checks: schema, counts, partitions, history"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"What should a strong Lakehouse validation checklist include?"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message is clear:</a:t>
            </a:r>
          </a:p>
          <a:p>
            <a:r>
              <a:rPr lang="en-IN" dirty="0"/>
              <a:t>A strong Lakehouse test is more than a single row count.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🧱 1. Schema Checks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the table names, columns, and types match the design?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confirms that the Lakehouse surface is structurally usable.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🔢 2. Row Counts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Did the expected records land and change as expected?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reminder:</a:t>
            </a:r>
          </a:p>
          <a:p>
            <a:r>
              <a:rPr lang="en-IN" dirty="0"/>
              <a:t>Counts are useful, but they are not enough by themselves.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🗄️ 3. Storage Behavior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Does the table reflect the right managed location or partition strategy?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helps QA notice when a table is technically present but not behaving in the expected managed structure.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🕘 4. History Checks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Can QA prove what changed between table versions?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If row counts changed, QA should ask why.</a:t>
            </a:r>
          </a:p>
          <a:p>
            <a:r>
              <a:rPr lang="en-IN" dirty="0"/>
              <a:t>History helps answer that question with evidence instead of assumption.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3 expands the Lakehouse testing lens from simple presence checks into table state and change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"Delta history and time travel as evidence"</a:t>
            </a:r>
          </a:p>
          <a:p>
            <a:r>
              <a:rPr lang="en-IN" dirty="0"/>
              <a:t>This slide is answering one very QA-specific question:</a:t>
            </a:r>
          </a:p>
          <a:p>
            <a:r>
              <a:rPr lang="en-IN" dirty="0"/>
              <a:t>❓ "Why is Delta history valuable evidence instead of just an engineering curiosity?"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one of the most QA-specific parts of Day 3.</a:t>
            </a:r>
          </a:p>
          <a:p>
            <a:r>
              <a:rPr lang="en-IN" dirty="0"/>
              <a:t>It teaches learners that history proves how the current table state came to exist.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📜 1. What History Proves</a:t>
            </a:r>
          </a:p>
          <a:p>
            <a:r>
              <a:rPr lang="en-IN" dirty="0"/>
              <a:t>The slide says history can prove:</a:t>
            </a:r>
          </a:p>
          <a:p>
            <a:r>
              <a:rPr lang="en-IN" dirty="0"/>
              <a:t>A write or update really occurred</a:t>
            </a:r>
          </a:p>
          <a:p>
            <a:r>
              <a:rPr lang="en-IN" dirty="0"/>
              <a:t>The table changed in the expected order</a:t>
            </a:r>
          </a:p>
          <a:p>
            <a:r>
              <a:rPr lang="en-IN" dirty="0"/>
              <a:t>The current state came from a visible operation history</a:t>
            </a:r>
          </a:p>
          <a:p>
            <a:r>
              <a:rPr lang="en-IN" dirty="0"/>
              <a:t>Unexpected updates can be investigated instead of guessed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turns change validation into something testable.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Typical QA Checks</a:t>
            </a:r>
          </a:p>
          <a:p>
            <a:r>
              <a:rPr lang="en-IN" dirty="0"/>
              <a:t>The slide suggests checks such as:</a:t>
            </a:r>
          </a:p>
          <a:p>
            <a:r>
              <a:rPr lang="en-IN" dirty="0"/>
              <a:t>Run a DESCRIBE HISTORY style query or notebook equivalent</a:t>
            </a:r>
          </a:p>
          <a:p>
            <a:r>
              <a:rPr lang="en-IN" dirty="0"/>
              <a:t>Confirm the number and order of table versions</a:t>
            </a:r>
          </a:p>
          <a:p>
            <a:r>
              <a:rPr lang="en-IN" dirty="0"/>
              <a:t>Inspect the operation type tied to the latest version</a:t>
            </a:r>
          </a:p>
          <a:p>
            <a:r>
              <a:rPr lang="en-IN" dirty="0"/>
              <a:t>Compare current and prior state in a controlled update test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the latest version says overwrite when the test expected merge-style behavior, QA has learned something important even before checking the rows.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Delta history helps QA validate not only the current state, but also the change sequence that produced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"Warehouse checks: schemas, tables, and query behavior"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"What makes Warehouse validation a natural SQL-driven testing surface?"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Warehouse gives QA a very clean place for assertions.</a:t>
            </a:r>
          </a:p>
          <a:p>
            <a:r>
              <a:rPr lang="en-IN" dirty="0"/>
              <a:t>The value is not only querying data. The value is turning queries into repeatable checks.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🗂️ 1. Structure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schemas, tables, and column shapes match the intended Warehouse design?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the structural checkpoint before deeper SQL validation begins.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2. Behavior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query results behave as expected under joins, aggregates, and filters?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test:</a:t>
            </a:r>
          </a:p>
          <a:p>
            <a:r>
              <a:rPr lang="en-IN" dirty="0"/>
              <a:t>Join results</a:t>
            </a:r>
          </a:p>
          <a:p>
            <a:r>
              <a:rPr lang="en-IN" dirty="0"/>
              <a:t>Filtered outputs</a:t>
            </a:r>
          </a:p>
          <a:p>
            <a:r>
              <a:rPr lang="en-IN" dirty="0"/>
              <a:t>Grouped totals</a:t>
            </a:r>
          </a:p>
          <a:p>
            <a:r>
              <a:rPr lang="en-IN" dirty="0"/>
              <a:t>Expected inclusions and exclusions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3. Evidence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Can QA save or rerun the query that proves the result?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critical.</a:t>
            </a:r>
          </a:p>
          <a:p>
            <a:r>
              <a:rPr lang="en-IN" dirty="0"/>
              <a:t>If a result cannot be reproduced with the same SQL, it is much harder to treat it as strong QA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Warehouse validation becomes strongest when expressed as clear SQL questions with repeatable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"SQL assertions for Warehouse validation"</a:t>
            </a:r>
          </a:p>
          <a:p>
            <a:r>
              <a:rPr lang="en-IN" dirty="0"/>
              <a:t>This slide is answering one QA process question:</a:t>
            </a:r>
          </a:p>
          <a:p>
            <a:r>
              <a:rPr lang="en-IN" dirty="0"/>
              <a:t>❓ "How does a normal SQL query become a formal validation assertion?"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bridge from warehouse theory into practical test scripts.</a:t>
            </a:r>
          </a:p>
          <a:p>
            <a:r>
              <a:rPr lang="en-IN" dirty="0"/>
              <a:t>Learners should think of a validation query as a formal assertion, not just exploration.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🔢 1. Count Assertion</a:t>
            </a:r>
          </a:p>
          <a:p>
            <a:r>
              <a:rPr lang="en-IN" dirty="0"/>
              <a:t>Use SQL to prove:</a:t>
            </a:r>
          </a:p>
          <a:p>
            <a:r>
              <a:rPr lang="en-IN" dirty="0"/>
              <a:t>Expected row counts</a:t>
            </a:r>
          </a:p>
          <a:p>
            <a:r>
              <a:rPr lang="en-IN" dirty="0"/>
              <a:t>Distinct counts</a:t>
            </a:r>
          </a:p>
          <a:p>
            <a:r>
              <a:rPr lang="en-IN" dirty="0"/>
              <a:t>Subset counts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2. Aggregate Assertion</a:t>
            </a:r>
          </a:p>
          <a:p>
            <a:r>
              <a:rPr lang="en-IN" dirty="0"/>
              <a:t>Use SQL to prove:</a:t>
            </a:r>
          </a:p>
          <a:p>
            <a:r>
              <a:rPr lang="en-IN" dirty="0"/>
              <a:t>Totals</a:t>
            </a:r>
          </a:p>
          <a:p>
            <a:r>
              <a:rPr lang="en-IN" dirty="0"/>
              <a:t>Averages</a:t>
            </a:r>
          </a:p>
          <a:p>
            <a:r>
              <a:rPr lang="en-IN" dirty="0"/>
              <a:t>Grouped summaries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3. Join Assertion</a:t>
            </a:r>
          </a:p>
          <a:p>
            <a:r>
              <a:rPr lang="en-IN" dirty="0"/>
              <a:t>Use SQL to prove:</a:t>
            </a:r>
          </a:p>
          <a:p>
            <a:r>
              <a:rPr lang="en-IN" dirty="0"/>
              <a:t>Expected relationship behavior across tables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Example:</a:t>
            </a:r>
          </a:p>
          <a:p>
            <a:r>
              <a:rPr lang="en-IN" dirty="0"/>
              <a:t>Every order joins to a known customer.</a:t>
            </a:r>
          </a:p>
          <a:p>
            <a:r>
              <a:rPr lang="en-IN" dirty="0"/>
              <a:t>If the join produces unmatched rows, that is evidence of a data integrity issue.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🎯 4. Filter Assertion</a:t>
            </a:r>
          </a:p>
          <a:p>
            <a:r>
              <a:rPr lang="en-IN" dirty="0"/>
              <a:t>Use SQL to prove:</a:t>
            </a:r>
          </a:p>
          <a:p>
            <a:r>
              <a:rPr lang="en-IN" dirty="0"/>
              <a:t>Expected inclusion or exclusion under conditions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⚖️ 5. Reconciliation Assertion</a:t>
            </a:r>
          </a:p>
          <a:p>
            <a:r>
              <a:rPr lang="en-IN" dirty="0"/>
              <a:t>Use SQL to prove:</a:t>
            </a:r>
          </a:p>
          <a:p>
            <a:r>
              <a:rPr lang="en-IN" dirty="0"/>
              <a:t>Expected alignment with another surface or prior state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good SQL test clearly proves a business or technical expectation and can be rerun whenever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"CTAS validation"</a:t>
            </a:r>
          </a:p>
          <a:p>
            <a:r>
              <a:rPr lang="en-IN" dirty="0"/>
              <a:t>This slide is answering one scenario-based QA question:</a:t>
            </a:r>
          </a:p>
          <a:p>
            <a:r>
              <a:rPr lang="en-IN" dirty="0"/>
              <a:t>❓ "How should QA test a table that is created from a query result?"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CTAS is useful because it creates a visible before-and-after artifact.</a:t>
            </a:r>
          </a:p>
          <a:p>
            <a:r>
              <a:rPr lang="en-IN" dirty="0"/>
              <a:t>QA can validate the derived table independently from the original query logic.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🆕 1. What CTAS Creates</a:t>
            </a:r>
          </a:p>
          <a:p>
            <a:r>
              <a:rPr lang="en-IN" dirty="0"/>
              <a:t>A CTAS statement creates a new table from a query result.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That means QA must validate both:</a:t>
            </a:r>
          </a:p>
          <a:p>
            <a:r>
              <a:rPr lang="en-IN" dirty="0"/>
              <a:t>The creation behavior</a:t>
            </a:r>
          </a:p>
          <a:p>
            <a:r>
              <a:rPr lang="en-IN" dirty="0"/>
              <a:t>The content of the created table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What to Verify</a:t>
            </a:r>
          </a:p>
          <a:p>
            <a:r>
              <a:rPr lang="en-IN" dirty="0"/>
              <a:t>The slide highlights checks such as:</a:t>
            </a:r>
          </a:p>
          <a:p>
            <a:r>
              <a:rPr lang="en-IN" dirty="0"/>
              <a:t>Was the target table created successfully?</a:t>
            </a:r>
          </a:p>
          <a:p>
            <a:r>
              <a:rPr lang="en-IN" dirty="0"/>
              <a:t>Does it contain the expected number of rows?</a:t>
            </a:r>
          </a:p>
          <a:p>
            <a:r>
              <a:rPr lang="en-IN" dirty="0"/>
              <a:t>Do derived columns and aggregates match expectations?</a:t>
            </a:r>
          </a:p>
          <a:p>
            <a:r>
              <a:rPr lang="en-IN" dirty="0"/>
              <a:t>Does the output reflect the source logic accurately?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3. Typical QA Evidence</a:t>
            </a:r>
          </a:p>
          <a:p>
            <a:r>
              <a:rPr lang="en-IN" dirty="0"/>
              <a:t>Useful evidence includes:</a:t>
            </a:r>
          </a:p>
          <a:p>
            <a:r>
              <a:rPr lang="en-IN" dirty="0"/>
              <a:t>The source query used for CTAS</a:t>
            </a:r>
          </a:p>
          <a:p>
            <a:r>
              <a:rPr lang="en-IN" dirty="0"/>
              <a:t>The row count of the new table</a:t>
            </a:r>
          </a:p>
          <a:p>
            <a:r>
              <a:rPr lang="en-IN" dirty="0"/>
              <a:t>A grouped or summary query proving the table content</a:t>
            </a:r>
          </a:p>
          <a:p>
            <a:r>
              <a:rPr lang="en-IN" dirty="0"/>
              <a:t>A comparison between the derived table and the source data it summarizes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A CTAS can succeed technically while still producing the wrong derived result.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CTAS should be tested as both a creation event and a derived-output validation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"MERGE validation"</a:t>
            </a:r>
          </a:p>
          <a:p>
            <a:r>
              <a:rPr lang="en-IN" dirty="0"/>
              <a:t>This slide is answering one change-behavior question:</a:t>
            </a:r>
          </a:p>
          <a:p>
            <a:r>
              <a:rPr lang="en-IN" dirty="0"/>
              <a:t>❓ "How should QA test a MERGE operation without trusting the final table blindly?"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MERGE testing is about change behavior.</a:t>
            </a:r>
          </a:p>
          <a:p>
            <a:r>
              <a:rPr lang="en-IN" dirty="0"/>
              <a:t>Learners should check not only the final table, but also whether the right rows changed for the right reasons.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📍 1. Before State</a:t>
            </a:r>
          </a:p>
          <a:p>
            <a:r>
              <a:rPr lang="en-IN" dirty="0"/>
              <a:t>QA should know:</a:t>
            </a:r>
          </a:p>
          <a:p>
            <a:r>
              <a:rPr lang="en-IN" dirty="0"/>
              <a:t>Which rows exist</a:t>
            </a:r>
          </a:p>
          <a:p>
            <a:r>
              <a:rPr lang="en-IN" dirty="0"/>
              <a:t>What their original values are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Without a before-state snapshot, it is hard to prove whether MERGE changed the correct records.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2. Operation Logic</a:t>
            </a:r>
          </a:p>
          <a:p>
            <a:r>
              <a:rPr lang="en-IN" dirty="0"/>
              <a:t>QA should understand:</a:t>
            </a:r>
          </a:p>
          <a:p>
            <a:r>
              <a:rPr lang="en-IN" dirty="0"/>
              <a:t>Which rows should update</a:t>
            </a:r>
          </a:p>
          <a:p>
            <a:r>
              <a:rPr lang="en-IN" dirty="0"/>
              <a:t>Which should insert</a:t>
            </a:r>
          </a:p>
          <a:p>
            <a:r>
              <a:rPr lang="en-IN" dirty="0"/>
              <a:t>Which should stay unchanged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This is the expectation model.</a:t>
            </a:r>
          </a:p>
          <a:p>
            <a:r>
              <a:rPr lang="en-IN" dirty="0"/>
              <a:t>If it is not clear, the test is weak before it even runs.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📈 3. After State</a:t>
            </a:r>
          </a:p>
          <a:p>
            <a:r>
              <a:rPr lang="en-IN" dirty="0"/>
              <a:t>QA should validate:</a:t>
            </a:r>
          </a:p>
          <a:p>
            <a:r>
              <a:rPr lang="en-IN" dirty="0"/>
              <a:t>The final table contents</a:t>
            </a:r>
          </a:p>
          <a:p>
            <a:r>
              <a:rPr lang="en-IN" dirty="0"/>
              <a:t>The updated rows</a:t>
            </a:r>
          </a:p>
          <a:p>
            <a:r>
              <a:rPr lang="en-IN" dirty="0"/>
              <a:t>The inserted rows</a:t>
            </a:r>
          </a:p>
          <a:p>
            <a:r>
              <a:rPr lang="en-IN" dirty="0"/>
              <a:t>The unchanged rows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📎 4. Evidence</a:t>
            </a:r>
          </a:p>
          <a:p>
            <a:r>
              <a:rPr lang="en-IN" dirty="0"/>
              <a:t>The slide reminds learners to record:</a:t>
            </a:r>
          </a:p>
          <a:p>
            <a:r>
              <a:rPr lang="en-IN" dirty="0"/>
              <a:t>The SQL script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Before-and-after comparisons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MERGE validation is not just "did the table look okay afterward?" It is "did each expected state change happen correctly?"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"Aggregate and statistics checks"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"Why are simple aggregate checks such powerful validation tools?"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normalizes aggregate checks as standard QA tools, not advanced extras.</a:t>
            </a:r>
          </a:p>
          <a:p>
            <a:r>
              <a:rPr lang="en-IN" dirty="0"/>
              <a:t>They are quick to run and often reveal reconciliation problems early.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🔢 1. Count Checks</a:t>
            </a:r>
          </a:p>
          <a:p>
            <a:r>
              <a:rPr lang="en-IN" dirty="0"/>
              <a:t>Use counts to confirm:</a:t>
            </a:r>
          </a:p>
          <a:p>
            <a:r>
              <a:rPr lang="en-IN" dirty="0"/>
              <a:t>Total rows</a:t>
            </a:r>
          </a:p>
          <a:p>
            <a:r>
              <a:rPr lang="en-IN" dirty="0"/>
              <a:t>Distinct keys</a:t>
            </a:r>
          </a:p>
          <a:p>
            <a:r>
              <a:rPr lang="en-IN" dirty="0"/>
              <a:t>Filtered subsets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💰 2. Amount Checks</a:t>
            </a:r>
          </a:p>
          <a:p>
            <a:r>
              <a:rPr lang="en-IN" dirty="0"/>
              <a:t>Use aggregates to validate:</a:t>
            </a:r>
          </a:p>
          <a:p>
            <a:r>
              <a:rPr lang="en-IN" dirty="0"/>
              <a:t>Totals</a:t>
            </a:r>
          </a:p>
          <a:p>
            <a:r>
              <a:rPr lang="en-IN" dirty="0"/>
              <a:t>Averages</a:t>
            </a:r>
          </a:p>
          <a:p>
            <a:r>
              <a:rPr lang="en-IN" dirty="0"/>
              <a:t>Minimums</a:t>
            </a:r>
          </a:p>
          <a:p>
            <a:r>
              <a:rPr lang="en-IN" dirty="0"/>
              <a:t>Maximums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If totals or ranges are wrong, QA may spot a problem long before row-by-row inspection would reveal it.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3. Grouped Checks</a:t>
            </a:r>
          </a:p>
          <a:p>
            <a:r>
              <a:rPr lang="en-IN" dirty="0"/>
              <a:t>Use grouped summaries to validate:</a:t>
            </a:r>
          </a:p>
          <a:p>
            <a:r>
              <a:rPr lang="en-IN" dirty="0"/>
              <a:t>Region</a:t>
            </a:r>
          </a:p>
          <a:p>
            <a:r>
              <a:rPr lang="en-IN" dirty="0"/>
              <a:t>Product</a:t>
            </a:r>
          </a:p>
          <a:p>
            <a:r>
              <a:rPr lang="en-IN" dirty="0"/>
              <a:t>Status</a:t>
            </a:r>
          </a:p>
          <a:p>
            <a:r>
              <a:rPr lang="en-IN" dirty="0"/>
              <a:t>Period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region totals in the Warehouse do not match grouped output from the Lakehouse source, that mismatch becomes strong evidence of drift or transformation error.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Simple statistics often reveal problems faster than row-by-row inspection and should be part of normal QA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"Cross-checking Lakehouse vs. Warehouse"</a:t>
            </a:r>
          </a:p>
          <a:p>
            <a:r>
              <a:rPr lang="en-IN" dirty="0"/>
              <a:t>This slide is answering one trust-building question:</a:t>
            </a:r>
          </a:p>
          <a:p>
            <a:r>
              <a:rPr lang="en-IN" dirty="0"/>
              <a:t>❓ "When the same business data appears in two places, how should QA compare them?"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makes reconciliation feel like a standard QA move rather than an advanced option.</a:t>
            </a:r>
          </a:p>
          <a:p>
            <a:r>
              <a:rPr lang="en-IN" dirty="0"/>
              <a:t>When two trusted surfaces disagree, QA has learned something important.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🔢 1. Counts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both surfaces contain the expected number of accepted rows?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💰 2. Totals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Lakehouse and Warehouse aggregates match?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3. Derived Outputs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Do summarized CTAS results align with Lakehouse-based summaries?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4. Change Behavior</a:t>
            </a:r>
          </a:p>
          <a:p>
            <a:r>
              <a:rPr lang="en-IN" dirty="0"/>
              <a:t>Question:</a:t>
            </a:r>
          </a:p>
          <a:p>
            <a:r>
              <a:rPr lang="en-IN" dirty="0"/>
              <a:t>Did updates land in both surfaces as expected where applicable?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understand:</a:t>
            </a:r>
          </a:p>
          <a:p>
            <a:r>
              <a:rPr lang="en-IN" dirty="0"/>
              <a:t>Reconciliation is not only about matching numbers.</a:t>
            </a:r>
          </a:p>
          <a:p>
            <a:r>
              <a:rPr lang="en-IN" dirty="0"/>
              <a:t>It is also about explaining acceptable differences and identifying unexpected drift.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Gold-like Warehouse totals differ from Lakehouse-derived totals after the same business rules should have been applied, QA has a concrete investigation path.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Comparing Lakehouse and Warehouse outputs is one of QA's strongest trust signals in Fabric.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3 scenario"</a:t>
            </a:r>
          </a:p>
          <a:p>
            <a:r>
              <a:rPr lang="en-IN" dirty="0"/>
              <a:t>This slide is answering one practical learner question:</a:t>
            </a:r>
          </a:p>
          <a:p>
            <a:r>
              <a:rPr lang="en-IN" dirty="0"/>
              <a:t>❓ "What business setup are we using to practice Lakehouse and Warehouse validation together?"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Day 3 lab gives learners both a Lakehouse and a Warehouse view of the same business data.</a:t>
            </a:r>
          </a:p>
          <a:p>
            <a:r>
              <a:rPr lang="en-IN" dirty="0"/>
              <a:t>That makes the scenario perfect for reconciliation and change-behavior testing.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📥 1. Inputs</a:t>
            </a:r>
          </a:p>
          <a:p>
            <a:r>
              <a:rPr lang="en-IN" dirty="0"/>
              <a:t>The scenario includes:</a:t>
            </a:r>
          </a:p>
          <a:p>
            <a:r>
              <a:rPr lang="en-IN" dirty="0"/>
              <a:t>Customer, product, and order files</a:t>
            </a:r>
          </a:p>
          <a:p>
            <a:r>
              <a:rPr lang="en-IN" dirty="0"/>
              <a:t>A Lakehouse notebook that creates Delta tables</a:t>
            </a:r>
          </a:p>
          <a:p>
            <a:r>
              <a:rPr lang="en-IN" dirty="0"/>
              <a:t>A controlled update that creates a new Delta table version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gives QA both initial state and change state to inspect.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📤 2. Outputs</a:t>
            </a:r>
          </a:p>
          <a:p>
            <a:r>
              <a:rPr lang="en-IN" dirty="0"/>
              <a:t>The scenario also creates:</a:t>
            </a:r>
          </a:p>
          <a:p>
            <a:r>
              <a:rPr lang="en-IN" dirty="0"/>
              <a:t>Warehouse tables loaded with the same business data</a:t>
            </a:r>
          </a:p>
          <a:p>
            <a:r>
              <a:rPr lang="en-IN" dirty="0"/>
              <a:t>A CTAS summary table</a:t>
            </a:r>
          </a:p>
          <a:p>
            <a:r>
              <a:rPr lang="en-IN" dirty="0"/>
              <a:t>A MERGE scenario with updates and inserts</a:t>
            </a:r>
          </a:p>
          <a:p>
            <a:r>
              <a:rPr lang="en-IN" dirty="0"/>
              <a:t>Validation queries that reconcile both surfaces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meaning:</a:t>
            </a:r>
          </a:p>
          <a:p>
            <a:r>
              <a:rPr lang="en-IN" dirty="0"/>
              <a:t>The same business entities show up in both surfaces, and Day 3 asks learners to prove that the outputs are aligned.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scenario is designed to create visible artifacts for structure checks, SQL checks, change checks, and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3 lab flow"</a:t>
            </a:r>
          </a:p>
          <a:p>
            <a:r>
              <a:rPr lang="en-IN" dirty="0"/>
              <a:t>This slide is answering one practical lab question:</a:t>
            </a:r>
          </a:p>
          <a:p>
            <a:r>
              <a:rPr lang="en-IN" dirty="0"/>
              <a:t>❓ "What sequence should learners follow so the Day 3 exercise feels manageable?"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flow makes the lab predictable and manageable.</a:t>
            </a:r>
          </a:p>
          <a:p>
            <a:r>
              <a:rPr lang="en-IN" dirty="0"/>
              <a:t>Learners should know exactly what they are building and when the SQL-heavy parts begin.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Create the Day 3 workspace, Lakehouse, and support files</a:t>
            </a:r>
          </a:p>
          <a:p>
            <a:r>
              <a:rPr lang="en-IN" dirty="0"/>
              <a:t>👉 Build the environment first.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Build Delta tables and generate table history</a:t>
            </a:r>
          </a:p>
          <a:p>
            <a:r>
              <a:rPr lang="en-IN" dirty="0"/>
              <a:t>👉 Create the Lakehouse evidence surface and controlled change history.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Create and load the Warehouse</a:t>
            </a:r>
          </a:p>
          <a:p>
            <a:r>
              <a:rPr lang="en-IN" dirty="0"/>
              <a:t>👉 Build the SQL validation surface.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Run CTAS and MERGE scripts</a:t>
            </a:r>
          </a:p>
          <a:p>
            <a:r>
              <a:rPr lang="en-IN" dirty="0"/>
              <a:t>👉 This is where change behavior and derived-output validation begin.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5. Reconcile Lakehouse and Warehouse outputs</a:t>
            </a:r>
          </a:p>
          <a:p>
            <a:r>
              <a:rPr lang="en-IN" dirty="0"/>
              <a:t>👉 Finish by comparing both surfaces intentionally.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remember:</a:t>
            </a:r>
          </a:p>
          <a:p>
            <a:r>
              <a:rPr lang="en-IN" dirty="0"/>
              <a:t>The lab is not complete when the environment exists.</a:t>
            </a:r>
          </a:p>
          <a:p>
            <a:r>
              <a:rPr lang="en-IN" dirty="0"/>
              <a:t>It is complete when learners can show repeatable SQL-driven validation and explain the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lab sequence is designed to reduce confusion so learners can focus on proof, not on guessing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"Expected outputs and QA evidence"</a:t>
            </a:r>
          </a:p>
          <a:p>
            <a:r>
              <a:rPr lang="en-IN" dirty="0"/>
              <a:t>This slide is answering one proof question:</a:t>
            </a:r>
          </a:p>
          <a:p>
            <a:r>
              <a:rPr lang="en-IN" dirty="0"/>
              <a:t>❓ "What should Day 3 produce if learners complete the lab correctly?"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Day 3 should produce SQL scripts, table states, and reconciliation evidence that can be reviewed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🏞️ 1. Lakehouse Evidence</a:t>
            </a:r>
          </a:p>
          <a:p>
            <a:r>
              <a:rPr lang="en-IN" dirty="0"/>
              <a:t>Expected proof includes:</a:t>
            </a:r>
          </a:p>
          <a:p>
            <a:r>
              <a:rPr lang="en-IN" dirty="0"/>
              <a:t>Delta table counts</a:t>
            </a:r>
          </a:p>
          <a:p>
            <a:r>
              <a:rPr lang="en-IN" dirty="0"/>
              <a:t>Table previews</a:t>
            </a:r>
          </a:p>
          <a:p>
            <a:r>
              <a:rPr lang="en-IN" dirty="0"/>
              <a:t>History outputs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2. Warehouse Evidence</a:t>
            </a:r>
          </a:p>
          <a:p>
            <a:r>
              <a:rPr lang="en-IN" dirty="0"/>
              <a:t>Expected proof includes:</a:t>
            </a:r>
          </a:p>
          <a:p>
            <a:r>
              <a:rPr lang="en-IN" dirty="0"/>
              <a:t>Base tables</a:t>
            </a:r>
          </a:p>
          <a:p>
            <a:r>
              <a:rPr lang="en-IN" dirty="0"/>
              <a:t>CTAS output</a:t>
            </a:r>
          </a:p>
          <a:p>
            <a:r>
              <a:rPr lang="en-IN" dirty="0"/>
              <a:t>MERGE result</a:t>
            </a:r>
          </a:p>
          <a:p>
            <a:r>
              <a:rPr lang="en-IN" dirty="0"/>
              <a:t>SQL assertions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⚖️ 3. Reconciliation Evidence</a:t>
            </a:r>
          </a:p>
          <a:p>
            <a:r>
              <a:rPr lang="en-IN" dirty="0"/>
              <a:t>Expected proof includes:</a:t>
            </a:r>
          </a:p>
          <a:p>
            <a:r>
              <a:rPr lang="en-IN" dirty="0"/>
              <a:t>Matching counts</a:t>
            </a:r>
          </a:p>
          <a:p>
            <a:r>
              <a:rPr lang="en-IN" dirty="0"/>
              <a:t>Matching totals</a:t>
            </a:r>
          </a:p>
          <a:p>
            <a:r>
              <a:rPr lang="en-IN" dirty="0"/>
              <a:t>Summary-output alignment across both surfaces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4. QA Evidence</a:t>
            </a:r>
          </a:p>
          <a:p>
            <a:r>
              <a:rPr lang="en-IN" dirty="0"/>
              <a:t>Expected learner evidence includes:</a:t>
            </a:r>
          </a:p>
          <a:p>
            <a:r>
              <a:rPr lang="en-IN" dirty="0"/>
              <a:t>Worksheet notes</a:t>
            </a:r>
          </a:p>
          <a:p>
            <a:r>
              <a:rPr lang="en-IN" dirty="0"/>
              <a:t>Saved queries</a:t>
            </a:r>
          </a:p>
          <a:p>
            <a:r>
              <a:rPr lang="en-IN" dirty="0"/>
              <a:t>Before-and-after comparisons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 goal is not only to observe behavior once.</a:t>
            </a:r>
          </a:p>
          <a:p>
            <a:r>
              <a:rPr lang="en-IN" dirty="0"/>
              <a:t>The goal is to create reusable assets that prove what was checked and what happened.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3 creates test evidence that should still be useful after the live lab is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"Common Day 3 pitfalls"</a:t>
            </a:r>
          </a:p>
          <a:p>
            <a:r>
              <a:rPr lang="en-IN" dirty="0"/>
              <a:t>This slide is answering one coaching question:</a:t>
            </a:r>
          </a:p>
          <a:p>
            <a:r>
              <a:rPr lang="en-IN" dirty="0"/>
              <a:t>❓ "What usually goes wrong when teams validate Lakehouse and Warehouse behavior too loosely?"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tone here should stay constructive.</a:t>
            </a:r>
          </a:p>
          <a:p>
            <a:r>
              <a:rPr lang="en-IN" dirty="0"/>
              <a:t>The point is to show how QA becomes stronger when evidence is deliberate and repeatable.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1. Common Mistakes</a:t>
            </a:r>
          </a:p>
          <a:p>
            <a:r>
              <a:rPr lang="en-IN" dirty="0"/>
              <a:t>The slide warns against:</a:t>
            </a:r>
          </a:p>
          <a:p>
            <a:r>
              <a:rPr lang="en-IN" dirty="0"/>
              <a:t>Checking only final row counts and ignoring history or changes</a:t>
            </a:r>
          </a:p>
          <a:p>
            <a:r>
              <a:rPr lang="en-IN" dirty="0"/>
              <a:t>Treating CTAS or MERGE as successful without proving the output</a:t>
            </a:r>
          </a:p>
          <a:p>
            <a:r>
              <a:rPr lang="en-IN" dirty="0"/>
              <a:t>Validating Warehouse results without reconciling Lakehouse outputs</a:t>
            </a:r>
          </a:p>
          <a:p>
            <a:r>
              <a:rPr lang="en-IN" dirty="0"/>
              <a:t>Running exploratory queries without turning them into repeatable assertions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These mistakes usually happen when teams validate only one surface or skip before-and-after checks.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Better Habits</a:t>
            </a:r>
          </a:p>
          <a:p>
            <a:r>
              <a:rPr lang="en-IN" dirty="0"/>
              <a:t>The slide recommends:</a:t>
            </a:r>
          </a:p>
          <a:p>
            <a:r>
              <a:rPr lang="en-IN" dirty="0"/>
              <a:t>Inspect both current state and change evidence</a:t>
            </a:r>
          </a:p>
          <a:p>
            <a:r>
              <a:rPr lang="en-IN" dirty="0"/>
              <a:t>Capture the SQL or notebook logic behind each validation</a:t>
            </a:r>
          </a:p>
          <a:p>
            <a:r>
              <a:rPr lang="en-IN" dirty="0"/>
              <a:t>Compare Lakehouse and Warehouse outputs intentionally</a:t>
            </a:r>
          </a:p>
          <a:p>
            <a:r>
              <a:rPr lang="en-IN" dirty="0"/>
              <a:t>Use before-and-after expectations for CTAS and MERGE scenarios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strongest Day 3 QA habit is simple: prove behavior deliberately, and make the proof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3 validation checklist"</a:t>
            </a:r>
          </a:p>
          <a:p>
            <a:r>
              <a:rPr lang="en-IN" dirty="0"/>
              <a:t>This slide is answering one practical takeaway question:</a:t>
            </a:r>
          </a:p>
          <a:p>
            <a:r>
              <a:rPr lang="en-IN" dirty="0"/>
              <a:t>❓ "What reusable checklist should learners carry into their own projects after this session?"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practical takeaway slide.</a:t>
            </a:r>
          </a:p>
          <a:p>
            <a:r>
              <a:rPr lang="en-IN" dirty="0"/>
              <a:t>It should feel like something learners can reuse after the session.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1. Confirm Lakehouse table structure and counts</a:t>
            </a:r>
          </a:p>
          <a:p>
            <a:r>
              <a:rPr lang="en-IN" dirty="0"/>
              <a:t>Start with basic structural confidence.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Inspect Delta history for controlled updates</a:t>
            </a:r>
          </a:p>
          <a:p>
            <a:r>
              <a:rPr lang="en-IN" dirty="0"/>
              <a:t>Do not stop at the current table snapshot.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3. Validate Warehouse base tables with SQL</a:t>
            </a:r>
          </a:p>
          <a:p>
            <a:r>
              <a:rPr lang="en-IN" dirty="0"/>
              <a:t>Turn checks into clear assertions.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4. Validate CTAS outputs against their source logic</a:t>
            </a:r>
          </a:p>
          <a:p>
            <a:r>
              <a:rPr lang="en-IN" dirty="0"/>
              <a:t>Test the derived table, not just the source query.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5. Validate MERGE before state, operation, and after state</a:t>
            </a:r>
          </a:p>
          <a:p>
            <a:r>
              <a:rPr lang="en-IN" dirty="0"/>
              <a:t>Prove each expected change.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6. Reconcile Lakehouse and Warehouse aggregates</a:t>
            </a:r>
          </a:p>
          <a:p>
            <a:r>
              <a:rPr lang="en-IN" dirty="0"/>
              <a:t>Use comparison as a trust check across both surfaces.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This checklist is the Day 3 habit set learners should be able to apply on real Fabric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"Recap and transition to Module 4"</a:t>
            </a:r>
          </a:p>
          <a:p>
            <a:r>
              <a:rPr lang="en-IN" dirty="0"/>
              <a:t>This slide is answering the closeout question:</a:t>
            </a:r>
          </a:p>
          <a:p>
            <a:r>
              <a:rPr lang="en-IN" dirty="0"/>
              <a:t>❓ "What should learners now understand after Day 3, and how does that prepare them for the next module?"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🔍 1. Delta History Matters</a:t>
            </a:r>
          </a:p>
          <a:p>
            <a:r>
              <a:rPr lang="en-IN" dirty="0"/>
              <a:t>Lakehouse history is strong QA evidence for controlled change scenarios.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now understands that current state is useful, but change history is often even more valuable.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2. SQL Is a Validation Asset</a:t>
            </a:r>
          </a:p>
          <a:p>
            <a:r>
              <a:rPr lang="en-IN" dirty="0"/>
              <a:t>Warehouse SQL can become repeatable assertions, not just exploratory queries.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3. CTAS and MERGE Are Testable</a:t>
            </a:r>
          </a:p>
          <a:p>
            <a:r>
              <a:rPr lang="en-IN" dirty="0"/>
              <a:t>Derived tables and mixed insert/update logic should be validated explicitly.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⚖️ 4. Reconciliation Builds Trust</a:t>
            </a:r>
          </a:p>
          <a:p>
            <a:r>
              <a:rPr lang="en-IN" dirty="0"/>
              <a:t>Comparing Lakehouse and Warehouse outputs is one of QA's strongest checks.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➡️ 5. Transition to Module 4</a:t>
            </a:r>
          </a:p>
          <a:p>
            <a:r>
              <a:rPr lang="en-IN" dirty="0"/>
              <a:t>The next module focuses on:</a:t>
            </a:r>
          </a:p>
          <a:p>
            <a:r>
              <a:rPr lang="en-IN" dirty="0"/>
              <a:t>Pipelines</a:t>
            </a:r>
          </a:p>
          <a:p>
            <a:r>
              <a:rPr lang="en-IN" dirty="0"/>
              <a:t>Semantic models</a:t>
            </a:r>
          </a:p>
          <a:p>
            <a:r>
              <a:rPr lang="en-IN" dirty="0"/>
              <a:t>Reports</a:t>
            </a:r>
          </a:p>
          <a:p>
            <a:r>
              <a:rPr lang="en-IN" dirty="0"/>
              <a:t>Security testing</a:t>
            </a:r>
          </a:p>
          <a:p>
            <a:r>
              <a:rPr lang="en-IN" dirty="0"/>
              <a:t>End-to-end Fabric validation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3 teaches learners how to validate storage and SQL behavior, and Module 4 extends that mindset into orchestration, consumption,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776EB3-5F45-4C4B-8465-52C8A3F557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1F348C6-5E08-4FAF-BCB7-0B35BF67B6B0}"/>
              </a:ext>
            </a:extLst>
          </p:cNvPr>
          <p:cNvSpPr>
            <a:spLocks noGrp="1"/>
          </p:cNvSpPr>
          <p:nvPr/>
        </p:nvSpPr>
        <p:spPr>
          <a:xfrm>
            <a:off x="8420100" y="800100"/>
            <a:ext cx="3105150" cy="31051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B4DF7F3-F015-45F0-9E85-EDC0E2E8E92D}"/>
              </a:ext>
            </a:extLst>
          </p:cNvPr>
          <p:cNvSpPr>
            <a:spLocks noGrp="1"/>
          </p:cNvSpPr>
          <p:nvPr/>
        </p:nvSpPr>
        <p:spPr>
          <a:xfrm>
            <a:off x="9848850" y="2438400"/>
            <a:ext cx="1638300" cy="16383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CCC0D5-353E-4C2C-805F-EA5BC51C4A15}"/>
              </a:ext>
            </a:extLst>
          </p:cNvPr>
          <p:cNvSpPr>
            <a:spLocks noGrp="1"/>
          </p:cNvSpPr>
          <p:nvPr/>
        </p:nvSpPr>
        <p:spPr>
          <a:xfrm>
            <a:off x="9144000" y="4343400"/>
            <a:ext cx="2057400" cy="2057400"/>
          </a:xfrm>
          <a:prstGeom prst="ellipse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9A0D0F-95EA-40AB-BA5F-82A02965C662}"/>
              </a:ext>
            </a:extLst>
          </p:cNvPr>
          <p:cNvSpPr>
            <a:spLocks noGrp="1"/>
          </p:cNvSpPr>
          <p:nvPr/>
        </p:nvSpPr>
        <p:spPr>
          <a:xfrm>
            <a:off x="7696200" y="1238250"/>
            <a:ext cx="19621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10196"/>
            </a:srgbClr>
          </a:solidFill>
          <a:ln w="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6BFE78-57B0-473E-9D98-EFD391B06123}"/>
              </a:ext>
            </a:extLst>
          </p:cNvPr>
          <p:cNvSpPr>
            <a:spLocks noGrp="1"/>
          </p:cNvSpPr>
          <p:nvPr/>
        </p:nvSpPr>
        <p:spPr>
          <a:xfrm>
            <a:off x="8096250" y="2324100"/>
            <a:ext cx="241935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549"/>
            </a:srgbClr>
          </a:solidFill>
          <a:ln w="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5D0D31-B8EA-48F3-926F-3ABB814D48B1}"/>
              </a:ext>
            </a:extLst>
          </p:cNvPr>
          <p:cNvSpPr>
            <a:spLocks noGrp="1"/>
          </p:cNvSpPr>
          <p:nvPr/>
        </p:nvSpPr>
        <p:spPr>
          <a:xfrm>
            <a:off x="7448550" y="3714750"/>
            <a:ext cx="232410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10196"/>
            </a:srgbClr>
          </a:solidFill>
          <a:ln w="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C983E-1C2E-4F1B-A2B2-7E36D52D8B31}"/>
              </a:ext>
            </a:extLst>
          </p:cNvPr>
          <p:cNvSpPr>
            <a:spLocks noGrp="1"/>
          </p:cNvSpPr>
          <p:nvPr/>
        </p:nvSpPr>
        <p:spPr>
          <a:xfrm>
            <a:off x="723900" y="80010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FEDE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FEDEE"/>
                </a:solidFill>
                <a:latin typeface="Aptos Mono"/>
                <a:ea typeface="Aptos Mono"/>
                <a:cs typeface="Aptos Mono"/>
              </a:rPr>
              <a:t>MICROSOFT FABRIC QA 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4F4B79-CAAF-4281-9C59-D4B906075EC0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6477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sz="3000" b="1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Day 3: Lakehouse &amp; Warehouse Testing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3D563-C7E6-4609-A06A-526A9B0B0122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57912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5EEF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E5EEF2"/>
                </a:solidFill>
                <a:latin typeface="Lato"/>
                <a:ea typeface="Lato"/>
                <a:cs typeface="Lato"/>
              </a:rPr>
              <a:t>A QA-first walkthrough of Delta-table evidence, Warehouse SQL validation, CTAS and MERGE testing, and reconciliation across Fabric surfaces.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FB08A39-1929-409F-983A-4009B2F25A62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BAE3D2-CBCE-4195-A93C-A647799984AA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30 MINUTE SESSION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EB57E92-B199-4EF0-AC92-E52C51BFA006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21145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91777-FEC4-477E-AC07-8529A20B73C9}"/>
              </a:ext>
            </a:extLst>
          </p:cNvPr>
          <p:cNvSpPr>
            <a:spLocks noGrp="1"/>
          </p:cNvSpPr>
          <p:nvPr/>
        </p:nvSpPr>
        <p:spPr>
          <a:xfrm>
            <a:off x="2781300" y="34194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rPr>
              <a:t>20 PRESENTATION SLIDES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42073F6-955E-4589-95E6-F77FB9F7100F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5562600" cy="1733550"/>
          </a:xfrm>
          <a:prstGeom prst="roundRect">
            <a:avLst>
              <a:gd name="adj" fmla="val 4396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8E08DE-DF93-42FA-8B23-BD50B3C91BAC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76200" cy="173355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2FABC0-C7DB-4147-911B-465F2675D3DB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By the end of this module, learners should be able to: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D8946A-B043-428D-B5D5-841D204F5CDB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47625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Inspect Delta tables and use history as QA evidence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Validate Warehouse outputs with SQL assertions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Explain how CTAS and MERGE should be tested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Reconcile Lakehouse and Warehouse results with confidence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205521-7C11-4F3E-9A8A-61087967D2E2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DE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FEDEE"/>
                </a:solidFill>
                <a:latin typeface="Aptos Mono"/>
                <a:ea typeface="Aptos Mono"/>
                <a:cs typeface="Aptos Mono"/>
              </a:rPr>
              <a:t>Module 3</a:t>
            </a:r>
          </a:p>
        </p:txBody>
      </p:sp>
    </p:spTree>
    <p:extLst>
      <p:ext uri="{BB962C8B-B14F-4D97-AF65-F5344CB8AC3E}">
        <p14:creationId xmlns:p14="http://schemas.microsoft.com/office/powerpoint/2010/main" val="179021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07F3455-095C-451B-8310-61768973C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4F4F45-1597-416A-86D4-2BD162F4EA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7DFA3D4-4F25-4A13-A78F-45A5F7AF1A6F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0BED7A-DEDF-49FE-9C3F-EFC7F5C84C53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1543F9-0B21-4DFE-A441-DA68C8A6D29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6AC941-3C42-4E12-9389-B9D4D78BE667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CDD73E-8B32-49EE-9FBF-990EAC7105D3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0B7C0-0AAA-4AFA-99EB-13AE00023A7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we will cover in 30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B57A6-73ED-46EC-B267-939EADCE841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This session moves from Delta evidence into Warehouse SQL checks and reconciliation.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E11128-8687-485B-8C2B-FAB3B321D960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225793-E6F0-45FC-8CEC-0DE9E0D0F40E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2343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6865FC-E3DF-4F5A-8FBB-7E1B76BF5670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1. Lakehouse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DD7A2-CCD0-4F22-A33C-01934B561DA3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Delta tables expose schema, counts, and history for QA.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51E7996-CC86-479C-BE28-E488ADA2BC51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1F18DB-4475-4C50-8002-6548A1F47E2D}"/>
              </a:ext>
            </a:extLst>
          </p:cNvPr>
          <p:cNvSpPr>
            <a:spLocks noGrp="1"/>
          </p:cNvSpPr>
          <p:nvPr/>
        </p:nvSpPr>
        <p:spPr>
          <a:xfrm>
            <a:off x="9525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7 MIN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E9EB3F0-ADDD-45C9-82B7-0E98B1C929BA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D8DD88-F4C1-4E4C-A10F-975BB26B5D18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76200" cy="23431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38836-3E67-41D2-9370-60ABCCA26948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2. Warehouse SQL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4472F2-1A9B-4F75-9328-01FBC63DB6A4}"/>
              </a:ext>
            </a:extLst>
          </p:cNvPr>
          <p:cNvSpPr>
            <a:spLocks noGrp="1"/>
          </p:cNvSpPr>
          <p:nvPr/>
        </p:nvSpPr>
        <p:spPr>
          <a:xfrm>
            <a:off x="36004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to validate outputs, summaries, and behavior with SQL.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9F8772-6FE6-45DE-8966-C3B0CAA58576}"/>
              </a:ext>
            </a:extLst>
          </p:cNvPr>
          <p:cNvSpPr>
            <a:spLocks noGrp="1"/>
          </p:cNvSpPr>
          <p:nvPr/>
        </p:nvSpPr>
        <p:spPr>
          <a:xfrm>
            <a:off x="36004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9AD2B1-A117-487F-8643-236BC8C9894E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rPr>
              <a:t>14 MIN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261AA09-2675-4649-9BCF-4EF92A589A9C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F32748-D936-49CB-BA64-DA7F04E274BF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76200" cy="23431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B56FC3-3DE1-4EEB-B8C1-DCF7589406EB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3. Change scenarios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309A3C-3C37-4AFA-835A-0E86B71730C3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CTAS and MERGE become test cases instead of assumptions.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D5A4728-A67F-4F37-97D3-BCB0FB32FD17}"/>
              </a:ext>
            </a:extLst>
          </p:cNvPr>
          <p:cNvSpPr>
            <a:spLocks noGrp="1"/>
          </p:cNvSpPr>
          <p:nvPr/>
        </p:nvSpPr>
        <p:spPr>
          <a:xfrm>
            <a:off x="63817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7DED8"/>
          </a:solidFill>
          <a:ln w="0">
            <a:solidFill>
              <a:srgbClr val="F7DED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64CFF-3971-4105-948B-0A5D87331719}"/>
              </a:ext>
            </a:extLst>
          </p:cNvPr>
          <p:cNvSpPr>
            <a:spLocks noGrp="1"/>
          </p:cNvSpPr>
          <p:nvPr/>
        </p:nvSpPr>
        <p:spPr>
          <a:xfrm>
            <a:off x="65151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F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F6B57"/>
                </a:solidFill>
                <a:latin typeface="Aptos Mono"/>
                <a:ea typeface="Aptos Mono"/>
                <a:cs typeface="Aptos Mono"/>
              </a:rPr>
              <a:t>21 MIN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8C3B997-C5A3-42BE-9A47-8854CECD0184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18E017-6695-4842-9A80-B8EBA0646C6E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76200" cy="234315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FFE0CD-FD07-4C40-A852-EAAFAE76CAB5}"/>
              </a:ext>
            </a:extLst>
          </p:cNvPr>
          <p:cNvSpPr>
            <a:spLocks noGrp="1"/>
          </p:cNvSpPr>
          <p:nvPr/>
        </p:nvSpPr>
        <p:spPr>
          <a:xfrm>
            <a:off x="91630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4. Day 3 lab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7171A1-88CB-4AB5-B790-1E4E13DF64C9}"/>
              </a:ext>
            </a:extLst>
          </p:cNvPr>
          <p:cNvSpPr>
            <a:spLocks noGrp="1"/>
          </p:cNvSpPr>
          <p:nvPr/>
        </p:nvSpPr>
        <p:spPr>
          <a:xfrm>
            <a:off x="9163050" y="3848100"/>
            <a:ext cx="20574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learners will create both surfaces and reconcile the results.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161ED26-1141-4C98-8239-9E32E73EA677}"/>
              </a:ext>
            </a:extLst>
          </p:cNvPr>
          <p:cNvSpPr>
            <a:spLocks noGrp="1"/>
          </p:cNvSpPr>
          <p:nvPr/>
        </p:nvSpPr>
        <p:spPr>
          <a:xfrm>
            <a:off x="91630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E3EAF3"/>
          </a:solidFill>
          <a:ln w="0">
            <a:solidFill>
              <a:srgbClr val="E3EAF3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F3847C-E2E6-4B8C-AB2D-2DB781E53B6B}"/>
              </a:ext>
            </a:extLst>
          </p:cNvPr>
          <p:cNvSpPr>
            <a:spLocks noGrp="1"/>
          </p:cNvSpPr>
          <p:nvPr/>
        </p:nvSpPr>
        <p:spPr>
          <a:xfrm>
            <a:off x="92964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A739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A7393"/>
                </a:solidFill>
                <a:latin typeface="Aptos Mono"/>
                <a:ea typeface="Aptos Mono"/>
                <a:cs typeface="Aptos Mono"/>
              </a:rPr>
              <a:t>28 MIN</a:t>
            </a:r>
          </a:p>
        </p:txBody>
      </p:sp>
    </p:spTree>
    <p:extLst>
      <p:ext uri="{BB962C8B-B14F-4D97-AF65-F5344CB8AC3E}">
        <p14:creationId xmlns:p14="http://schemas.microsoft.com/office/powerpoint/2010/main" val="120480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EEABA9E-0BD1-4310-8FD6-4A08C0B911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5EEF5-30DA-473E-BB0F-76EA3F35FA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14ADD6-6612-4165-8135-A434D3350A8F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8E1847-AF3B-40F7-B383-A1B0B62777A3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0E5FDBE-2819-4E6D-9691-8201F85FB6B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BC978-2C8F-4418-82A3-E1637919EB15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QA LENS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914B09-6F26-498E-871B-6AB453006ABF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2DCE0A-19FE-4074-94E1-EE71DBAACC8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Why Lakehouse and Warehouse testing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4830D-740F-428B-A98B-5DDEFEAD0EA8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same business data can look correct in one surface and still fail in another.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7369E8-148F-48DE-833C-648E6381A303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A0DCBC-07E1-4436-96D4-8837D649D078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76200" cy="8953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4C144-70CE-47A1-B709-32252CF1B209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Different evidence types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A4274B-4746-48CC-8089-9D1893096881}"/>
              </a:ext>
            </a:extLst>
          </p:cNvPr>
          <p:cNvSpPr>
            <a:spLocks noGrp="1"/>
          </p:cNvSpPr>
          <p:nvPr/>
        </p:nvSpPr>
        <p:spPr>
          <a:xfrm>
            <a:off x="4114800" y="3257550"/>
            <a:ext cx="689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 validation includes table structure and history, while Warehouse validation leans on SQL outputs and relational logic.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0B09E8-01A0-494B-BD73-C65E2C725E55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A89F5-99C6-43F1-8972-F57FF48C063C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76200" cy="8953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B9A9D-7660-4AE0-B820-47CC4C865EF8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Change behavior matters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0585A6-1B38-4F1D-85C9-86849D08ED8F}"/>
              </a:ext>
            </a:extLst>
          </p:cNvPr>
          <p:cNvSpPr>
            <a:spLocks noGrp="1"/>
          </p:cNvSpPr>
          <p:nvPr/>
        </p:nvSpPr>
        <p:spPr>
          <a:xfrm>
            <a:off x="4114800" y="4362450"/>
            <a:ext cx="689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Updates, inserts, and derived tables create before-and-after states that QA should validate explicitly.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1AE5D6C-602F-4D50-B00F-49A7F9E9FB04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41075E-48DA-4FE4-BCF2-8D7BADC08DB6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76200" cy="8953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1B9EE-A8C2-4368-BC62-FC64AA1D9B6F}"/>
              </a:ext>
            </a:extLst>
          </p:cNvPr>
          <p:cNvSpPr>
            <a:spLocks noGrp="1"/>
          </p:cNvSpPr>
          <p:nvPr/>
        </p:nvSpPr>
        <p:spPr>
          <a:xfrm>
            <a:off x="1047750" y="54483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Reconciliation builds trust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C06306-5D4D-48BA-9524-8C6ABAA370BA}"/>
              </a:ext>
            </a:extLst>
          </p:cNvPr>
          <p:cNvSpPr>
            <a:spLocks noGrp="1"/>
          </p:cNvSpPr>
          <p:nvPr/>
        </p:nvSpPr>
        <p:spPr>
          <a:xfrm>
            <a:off x="4114800" y="5467350"/>
            <a:ext cx="689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Cross-checking Lakehouse and Warehouse outputs helps confirm that transformation logic remained aligned.</a:t>
            </a:r>
          </a:p>
        </p:txBody>
      </p:sp>
    </p:spTree>
    <p:extLst>
      <p:ext uri="{BB962C8B-B14F-4D97-AF65-F5344CB8AC3E}">
        <p14:creationId xmlns:p14="http://schemas.microsoft.com/office/powerpoint/2010/main" val="99079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AE5A69C-6D03-48BD-8391-B038968C55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9398C-9E7C-458E-A80C-4ED74CF046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7F7CDC-2E7D-46DB-BAD6-8924EE2D66C8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1502542-F99C-4AF5-BACD-CF5CB7213FB1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D52C54-6597-4B56-A074-D49A6FB022A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30644-4D23-4934-82AA-6733FF4A75AB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B47D41-7A79-45DF-89B6-CB67DA5CFB74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C4E0E2-C13B-479A-AAA9-081A12A48E2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Day 3 learning objectives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F63F07-F573-46EA-9524-8583200D80A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By the end of this session, learners should know what to inspect and how to prove it.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0E4917-6D5A-4122-90B9-9524B5EA76BD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0B60C-05CE-4489-8BB8-E5E5D4E3A95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11239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30EB5A-5EAC-4BE5-AD1D-A17022818271}"/>
              </a:ext>
            </a:extLst>
          </p:cNvPr>
          <p:cNvSpPr>
            <a:spLocks noGrp="1"/>
          </p:cNvSpPr>
          <p:nvPr/>
        </p:nvSpPr>
        <p:spPr>
          <a:xfrm>
            <a:off x="800100" y="33337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Explain Delta-table QA checks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11C06C-CFDE-4124-A9B7-FEA76D297FB1}"/>
              </a:ext>
            </a:extLst>
          </p:cNvPr>
          <p:cNvSpPr>
            <a:spLocks noGrp="1"/>
          </p:cNvSpPr>
          <p:nvPr/>
        </p:nvSpPr>
        <p:spPr>
          <a:xfrm>
            <a:off x="4286250" y="31051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8E22F0-6978-4CD3-9D53-A8DB81199742}"/>
              </a:ext>
            </a:extLst>
          </p:cNvPr>
          <p:cNvSpPr>
            <a:spLocks noGrp="1"/>
          </p:cNvSpPr>
          <p:nvPr/>
        </p:nvSpPr>
        <p:spPr>
          <a:xfrm>
            <a:off x="4286250" y="3105150"/>
            <a:ext cx="76200" cy="11239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555D02-0A58-48CC-AABA-19A3FF528840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Inspect history and table-state changes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0EF486A-7CD4-4086-AAD9-3DDC7F4440D7}"/>
              </a:ext>
            </a:extLst>
          </p:cNvPr>
          <p:cNvSpPr>
            <a:spLocks noGrp="1"/>
          </p:cNvSpPr>
          <p:nvPr/>
        </p:nvSpPr>
        <p:spPr>
          <a:xfrm>
            <a:off x="7962900" y="31051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DEF6A3-A300-470F-8961-59CCB52119A2}"/>
              </a:ext>
            </a:extLst>
          </p:cNvPr>
          <p:cNvSpPr>
            <a:spLocks noGrp="1"/>
          </p:cNvSpPr>
          <p:nvPr/>
        </p:nvSpPr>
        <p:spPr>
          <a:xfrm>
            <a:off x="7962900" y="3105150"/>
            <a:ext cx="76200" cy="11239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FA1684-CEF5-4210-A3D5-0238F9A8FF41}"/>
              </a:ext>
            </a:extLst>
          </p:cNvPr>
          <p:cNvSpPr>
            <a:spLocks noGrp="1"/>
          </p:cNvSpPr>
          <p:nvPr/>
        </p:nvSpPr>
        <p:spPr>
          <a:xfrm>
            <a:off x="8153400" y="33337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Validate Warehouse outputs with SQL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123B86F-E868-44F0-8155-16DFA4EF3C4D}"/>
              </a:ext>
            </a:extLst>
          </p:cNvPr>
          <p:cNvSpPr>
            <a:spLocks noGrp="1"/>
          </p:cNvSpPr>
          <p:nvPr/>
        </p:nvSpPr>
        <p:spPr>
          <a:xfrm>
            <a:off x="2447925" y="47434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92CC82-FB55-444F-93A1-8C4FC07B7267}"/>
              </a:ext>
            </a:extLst>
          </p:cNvPr>
          <p:cNvSpPr>
            <a:spLocks noGrp="1"/>
          </p:cNvSpPr>
          <p:nvPr/>
        </p:nvSpPr>
        <p:spPr>
          <a:xfrm>
            <a:off x="2447925" y="4743450"/>
            <a:ext cx="76200" cy="112395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DD9B4D-4EDD-451F-A396-4B36F0139AB2}"/>
              </a:ext>
            </a:extLst>
          </p:cNvPr>
          <p:cNvSpPr>
            <a:spLocks noGrp="1"/>
          </p:cNvSpPr>
          <p:nvPr/>
        </p:nvSpPr>
        <p:spPr>
          <a:xfrm>
            <a:off x="2638425" y="49720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Test CTAS and MERGE behavior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09CB2E-9E97-4405-B1FF-8ED0A0D37CF9}"/>
              </a:ext>
            </a:extLst>
          </p:cNvPr>
          <p:cNvSpPr>
            <a:spLocks noGrp="1"/>
          </p:cNvSpPr>
          <p:nvPr/>
        </p:nvSpPr>
        <p:spPr>
          <a:xfrm>
            <a:off x="6124575" y="474345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8018C5-4F40-4054-8E7F-D3641163A849}"/>
              </a:ext>
            </a:extLst>
          </p:cNvPr>
          <p:cNvSpPr>
            <a:spLocks noGrp="1"/>
          </p:cNvSpPr>
          <p:nvPr/>
        </p:nvSpPr>
        <p:spPr>
          <a:xfrm>
            <a:off x="6124575" y="4743450"/>
            <a:ext cx="76200" cy="11239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3FA8A1-AFD7-4E25-973D-8F96044738C6}"/>
              </a:ext>
            </a:extLst>
          </p:cNvPr>
          <p:cNvSpPr>
            <a:spLocks noGrp="1"/>
          </p:cNvSpPr>
          <p:nvPr/>
        </p:nvSpPr>
        <p:spPr>
          <a:xfrm>
            <a:off x="6315075" y="4972050"/>
            <a:ext cx="2857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Reconcile Lakehouse and Warehouse results</a:t>
            </a:r>
          </a:p>
        </p:txBody>
      </p:sp>
    </p:spTree>
    <p:extLst>
      <p:ext uri="{BB962C8B-B14F-4D97-AF65-F5344CB8AC3E}">
        <p14:creationId xmlns:p14="http://schemas.microsoft.com/office/powerpoint/2010/main" val="456914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0AE0E01-4A6F-4A1D-9F24-82314F565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D758EF-E896-4422-8262-261F17145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2676F1-2A8B-4B3C-9C9F-2940825C7F8F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82A11B-9980-469D-A156-A902FCD14FED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0E89AE-300C-43CD-B921-06B42F8B9F6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D9B0E6-9485-4A02-9D0A-25CA4EB10599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COMPARE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BCCFB8-77F5-41AA-8D16-731BD5FF01B2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1A09E-1700-451A-8BD7-E46A2AB153F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 vs. Warehouse from a QA perspective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A7CEB-8E53-4C1C-BA36-FE802974950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Both surfaces matter, but they answer different kinds of questions.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D1C8B3-57B0-42A4-88CA-0BB98C0D301D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972800" cy="2876550"/>
          </a:xfrm>
          <a:prstGeom prst="roundRect">
            <a:avLst>
              <a:gd name="adj" fmla="val 26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E14748-1BEA-4011-8DFB-CF254736FDD8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28765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A69A4-7929-4602-B87D-5FBB550E240E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Topic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8C75F3-E0AB-4E5B-A44A-4A7CA2887C89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018252-A46E-458B-B266-351AA1B68A0D}"/>
              </a:ext>
            </a:extLst>
          </p:cNvPr>
          <p:cNvSpPr>
            <a:spLocks noGrp="1"/>
          </p:cNvSpPr>
          <p:nvPr/>
        </p:nvSpPr>
        <p:spPr>
          <a:xfrm>
            <a:off x="7600950" y="33337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443E2C-6FD3-4280-BF78-8962B50DDA33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551E32-508C-4861-894D-2FD3270E7602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Primary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C54DBB-58CA-4248-9C2D-9813E99BA4C3}"/>
              </a:ext>
            </a:extLst>
          </p:cNvPr>
          <p:cNvSpPr>
            <a:spLocks noGrp="1"/>
          </p:cNvSpPr>
          <p:nvPr/>
        </p:nvSpPr>
        <p:spPr>
          <a:xfrm>
            <a:off x="3048000" y="3848100"/>
            <a:ext cx="3810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Delta tables, metadata, 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A91454-A492-495B-B8B5-9560A31D08E1}"/>
              </a:ext>
            </a:extLst>
          </p:cNvPr>
          <p:cNvSpPr>
            <a:spLocks noGrp="1"/>
          </p:cNvSpPr>
          <p:nvPr/>
        </p:nvSpPr>
        <p:spPr>
          <a:xfrm>
            <a:off x="7600950" y="38481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SQL results, relational structures, derived outputs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D18459-9647-46DA-8DBE-F3CA25AD735B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86CC4B-45EF-451F-B266-F9FA792AA3C2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Typical checks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254551-A1CF-420C-B169-C044A36CEA65}"/>
              </a:ext>
            </a:extLst>
          </p:cNvPr>
          <p:cNvSpPr>
            <a:spLocks noGrp="1"/>
          </p:cNvSpPr>
          <p:nvPr/>
        </p:nvSpPr>
        <p:spPr>
          <a:xfrm>
            <a:off x="3048000" y="4381500"/>
            <a:ext cx="3810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Schema, counts, partitions, time-travel evidence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A2F54D-D78B-465E-A0F0-72D21D0D70EB}"/>
              </a:ext>
            </a:extLst>
          </p:cNvPr>
          <p:cNvSpPr>
            <a:spLocks noGrp="1"/>
          </p:cNvSpPr>
          <p:nvPr/>
        </p:nvSpPr>
        <p:spPr>
          <a:xfrm>
            <a:off x="7600950" y="43815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Joins, aggregations, CTAS, MERGE behavior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E22918-FC0E-41F4-A9BC-D1DD9AA37034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107D74-2274-4980-9B80-052DD37CC5A3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Best tool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DBEA9C-C2C6-40FF-B766-95E9C21C305C}"/>
              </a:ext>
            </a:extLst>
          </p:cNvPr>
          <p:cNvSpPr>
            <a:spLocks noGrp="1"/>
          </p:cNvSpPr>
          <p:nvPr/>
        </p:nvSpPr>
        <p:spPr>
          <a:xfrm>
            <a:off x="3048000" y="4914900"/>
            <a:ext cx="3810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Notebook or SQL endpoint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AA20FC-943E-4E50-B3FD-17ACE21E802E}"/>
              </a:ext>
            </a:extLst>
          </p:cNvPr>
          <p:cNvSpPr>
            <a:spLocks noGrp="1"/>
          </p:cNvSpPr>
          <p:nvPr/>
        </p:nvSpPr>
        <p:spPr>
          <a:xfrm>
            <a:off x="7600950" y="49149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Warehouse SQL editor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C2AD21-B180-4F99-99F4-C1D304420137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104965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80D20F-3096-4CCF-9A29-708DE6E068DF}"/>
              </a:ext>
            </a:extLst>
          </p:cNvPr>
          <p:cNvSpPr>
            <a:spLocks noGrp="1"/>
          </p:cNvSpPr>
          <p:nvPr/>
        </p:nvSpPr>
        <p:spPr>
          <a:xfrm>
            <a:off x="857250" y="54483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Common QA use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BF13F8-1443-4E0D-BA8F-C4A928A4C799}"/>
              </a:ext>
            </a:extLst>
          </p:cNvPr>
          <p:cNvSpPr>
            <a:spLocks noGrp="1"/>
          </p:cNvSpPr>
          <p:nvPr/>
        </p:nvSpPr>
        <p:spPr>
          <a:xfrm>
            <a:off x="3048000" y="5448300"/>
            <a:ext cx="3810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Validate table state and change history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6883C1-918D-477F-BE13-CED0D122B0E3}"/>
              </a:ext>
            </a:extLst>
          </p:cNvPr>
          <p:cNvSpPr>
            <a:spLocks noGrp="1"/>
          </p:cNvSpPr>
          <p:nvPr/>
        </p:nvSpPr>
        <p:spPr>
          <a:xfrm>
            <a:off x="7600950" y="5448300"/>
            <a:ext cx="3143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Validate business-ready outputs and transformations</a:t>
            </a:r>
          </a:p>
        </p:txBody>
      </p:sp>
    </p:spTree>
    <p:extLst>
      <p:ext uri="{BB962C8B-B14F-4D97-AF65-F5344CB8AC3E}">
        <p14:creationId xmlns:p14="http://schemas.microsoft.com/office/powerpoint/2010/main" val="6829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66265F4-492B-43AF-9F48-65BB8ADE78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607FED-DC66-4F4F-B479-747BB93619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44CA58-C574-4D0B-AEB5-605D8BCF31E1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EEDA43-131A-463D-917B-07789311DCAB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100B20-F5D5-4D71-9680-95EDEA67FC6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5010B5-ACBD-4EAF-8931-FB160AE4C8ED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DELTA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49B211-6E67-4D15-9339-273BB882EAFB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EB8ABD-069A-4D67-8E68-EC831B594E4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Delta tables: what QA should know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548774-BFBE-4E99-9DF7-4BA938DEAD8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Delta Lake adds relational-style behavior and history to Lakehouse tables.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9FD080-DBC7-4C30-B0BC-D61EF58E758F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642CB9-48EE-45A5-801B-66BF3F76A2EB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76200" cy="20574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ED53D-2DAB-4E68-B872-D5B6CA8D2EAD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Managed tables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6FDD1-375E-4F2C-A710-FCD12E799C98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 tables behave as queryable Delta-backed objects in Fabric.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47B1611-DB97-4087-A78D-0D7AA6265F63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20EBB1-19E8-4C2B-A48E-A0553B739761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76200" cy="20574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2D186F-D835-477B-8C1D-23901FB682BB}"/>
              </a:ext>
            </a:extLst>
          </p:cNvPr>
          <p:cNvSpPr>
            <a:spLocks noGrp="1"/>
          </p:cNvSpPr>
          <p:nvPr/>
        </p:nvSpPr>
        <p:spPr>
          <a:xfrm>
            <a:off x="4572000" y="36766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ACID-style behavior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71C9DB-38D5-4947-B03C-8D1895CCCEA2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Updates and inserts leave a trace in the transaction history.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5F7A4A0-FD1C-4ADB-9FE3-E78A563225D8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71CBB8-4035-453C-85FA-FA09D3FAC9B2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76200" cy="20574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DB7F23-4A02-49C0-B4F8-5B210DC19C40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History and time travel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2EBD59-88EE-41DD-91A3-DE2F3AFAB721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QA can inspect previous table versions to prove what changed.</a:t>
            </a:r>
          </a:p>
        </p:txBody>
      </p:sp>
    </p:spTree>
    <p:extLst>
      <p:ext uri="{BB962C8B-B14F-4D97-AF65-F5344CB8AC3E}">
        <p14:creationId xmlns:p14="http://schemas.microsoft.com/office/powerpoint/2010/main" val="726763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F48C4B-A79E-4950-AB86-86AA3B6EC0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50179-C258-4F96-B9AC-EAE296ECAA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AEBD438-FF5A-4DF8-AD98-228C8C5F90B9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90F23B-EE22-4553-94A0-444871FF8948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7591E-D0B2-4DED-BBB2-0E8DE9C985E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E59C3-F0C8-4EE6-8C97-962473850E1A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LAKEHOUSE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9162A-97F1-4754-809F-45A644A2CA3F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AC14A-9D46-4D98-B82D-A735928052D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 checks: schema, counts, partitions,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EFCD2-F3D9-4E45-A86E-C70D92FDDC8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strong Lakehouse test is more than a single row count.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0308082-1911-45F4-9C53-F5751704552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6126F-4171-483C-AB66-755FD74863A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FA90E4-F8D6-402E-8C1E-22B92271F060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Schema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0A4CB-02A7-4151-BBC6-6D13E3096DE5}"/>
              </a:ext>
            </a:extLst>
          </p:cNvPr>
          <p:cNvSpPr>
            <a:spLocks noGrp="1"/>
          </p:cNvSpPr>
          <p:nvPr/>
        </p:nvSpPr>
        <p:spPr>
          <a:xfrm>
            <a:off x="3200400" y="327660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the table names, columns, and types match the design?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49FE4A9-9648-4F6C-81D8-E46ADE9FE6BC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E347D1-B50A-4E43-8470-BDE56D213F49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76200" cy="10477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41E80E-FBC2-430E-A6B3-EE197BDA6629}"/>
              </a:ext>
            </a:extLst>
          </p:cNvPr>
          <p:cNvSpPr>
            <a:spLocks noGrp="1"/>
          </p:cNvSpPr>
          <p:nvPr/>
        </p:nvSpPr>
        <p:spPr>
          <a:xfrm>
            <a:off x="63436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Row counts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7C2DB5-F7FF-47FE-93E6-D3CED30BDA48}"/>
              </a:ext>
            </a:extLst>
          </p:cNvPr>
          <p:cNvSpPr>
            <a:spLocks noGrp="1"/>
          </p:cNvSpPr>
          <p:nvPr/>
        </p:nvSpPr>
        <p:spPr>
          <a:xfrm>
            <a:off x="8534400" y="327660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the expected records land and change as expected?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734E94A-2F2F-4DAA-8CB1-9FEDC63080B1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9CE3DF-22AE-4765-AEED-8D821AFA199D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76200" cy="104775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674810-943E-4C82-8DDC-BD79D9EC3C4B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Storage behavior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BF3B52-8DFB-4793-A031-F6E746CCC1F3}"/>
              </a:ext>
            </a:extLst>
          </p:cNvPr>
          <p:cNvSpPr>
            <a:spLocks noGrp="1"/>
          </p:cNvSpPr>
          <p:nvPr/>
        </p:nvSpPr>
        <p:spPr>
          <a:xfrm>
            <a:off x="3200400" y="4552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523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Does the table reflect the right managed location or partition strategy?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0FB3047-523E-4E25-AC5B-F5F67C0A32E6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FBFBF5-645B-4CE1-9F3B-1AB25D0D5614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76200" cy="10477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A1CDF8-5FB4-4550-9A81-6ED8A9585146}"/>
              </a:ext>
            </a:extLst>
          </p:cNvPr>
          <p:cNvSpPr>
            <a:spLocks noGrp="1"/>
          </p:cNvSpPr>
          <p:nvPr/>
        </p:nvSpPr>
        <p:spPr>
          <a:xfrm>
            <a:off x="6343650" y="4552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History checks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820E2C-537F-403B-BCEF-C482C7F07AC5}"/>
              </a:ext>
            </a:extLst>
          </p:cNvPr>
          <p:cNvSpPr>
            <a:spLocks noGrp="1"/>
          </p:cNvSpPr>
          <p:nvPr/>
        </p:nvSpPr>
        <p:spPr>
          <a:xfrm>
            <a:off x="8534400" y="4552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Can QA prove what changed between table versions?</a:t>
            </a:r>
          </a:p>
        </p:txBody>
      </p:sp>
    </p:spTree>
    <p:extLst>
      <p:ext uri="{BB962C8B-B14F-4D97-AF65-F5344CB8AC3E}">
        <p14:creationId xmlns:p14="http://schemas.microsoft.com/office/powerpoint/2010/main" val="156155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CBA4901-EEF3-432C-9846-4174E67D59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6A77CE-CB50-49F2-80E8-E90384EB69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4BA81B-C15A-4889-8CDB-D212D8456E71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C62A7D-DB9F-4897-97A7-8909CA768B62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99088E-EEE0-4277-B84F-1CEBE9C6BD8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3C533D-8CDB-464F-A441-F3273E337E33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HISTORY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72BFA7-E32E-4CE0-B8BF-515DA55AF4B9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EA292-D2D3-4CB0-A4D7-71F5BA67DF8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Delta history and time travel as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860729-C640-41F6-AFB9-BAEF7A1D0536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History lets QA validate not only the current state, but also the change sequence.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61ABC6-CB72-4123-B7C0-E4380C98308F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000500" cy="2781300"/>
          </a:xfrm>
          <a:prstGeom prst="roundRect">
            <a:avLst>
              <a:gd name="adj" fmla="val 274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A77A-8D56-4301-862F-FD4CC5A9C7B4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8D8AAD-6E71-40C2-AED3-8483E9769421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history proves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F5C6B2-97A4-4CB4-A4A4-0EE7275A256A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31242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write or update really occurred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table changed in the expected order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current state came from a visible operation history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Unexpected updates can be investigated instead of guessed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94E6F9-A195-4F84-98FA-740180D9D7F7}"/>
              </a:ext>
            </a:extLst>
          </p:cNvPr>
          <p:cNvSpPr>
            <a:spLocks noGrp="1"/>
          </p:cNvSpPr>
          <p:nvPr/>
        </p:nvSpPr>
        <p:spPr>
          <a:xfrm>
            <a:off x="5143500" y="3105150"/>
            <a:ext cx="61722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BC4348-8594-4986-8ECC-15381FB6DDCB}"/>
              </a:ext>
            </a:extLst>
          </p:cNvPr>
          <p:cNvSpPr>
            <a:spLocks noGrp="1"/>
          </p:cNvSpPr>
          <p:nvPr/>
        </p:nvSpPr>
        <p:spPr>
          <a:xfrm>
            <a:off x="5143500" y="3105150"/>
            <a:ext cx="76200" cy="27813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98E452-9F7F-439D-A74E-73974E799823}"/>
              </a:ext>
            </a:extLst>
          </p:cNvPr>
          <p:cNvSpPr>
            <a:spLocks noGrp="1"/>
          </p:cNvSpPr>
          <p:nvPr/>
        </p:nvSpPr>
        <p:spPr>
          <a:xfrm>
            <a:off x="537210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Typical QA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EC39BA-F08C-4E4F-9D9A-9FA5CBCFAFFA}"/>
              </a:ext>
            </a:extLst>
          </p:cNvPr>
          <p:cNvSpPr>
            <a:spLocks noGrp="1"/>
          </p:cNvSpPr>
          <p:nvPr/>
        </p:nvSpPr>
        <p:spPr>
          <a:xfrm>
            <a:off x="5391150" y="3733800"/>
            <a:ext cx="52959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Run a `DESCRIBE HISTORY` style query or notebook equivalent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Confirm the number and order of table versions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Inspect the operation type tied to the latest version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Compare current and prior state when a controlled update is part of the test</a:t>
            </a:r>
          </a:p>
        </p:txBody>
      </p:sp>
    </p:spTree>
    <p:extLst>
      <p:ext uri="{BB962C8B-B14F-4D97-AF65-F5344CB8AC3E}">
        <p14:creationId xmlns:p14="http://schemas.microsoft.com/office/powerpoint/2010/main" val="35054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95538B1-2AB9-422E-9EE3-3A5E26083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48BBC9-B47A-4F97-AAA5-ADC4D32AB7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585ACE-0A23-4218-AEA1-3929C2AD8275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E6AA45-5031-4EA7-98DB-13B5C74EA509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4D9312E-99B6-4B95-BBCB-EF034D2E942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EAC708-D8F4-4A79-8D60-2CCB0D16007F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WAREHOUSE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0DFE8-94E5-47B8-A16A-E7FEC4C7F63A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5BACB-A727-4CBC-98A1-8615CE8DB32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 checks: schemas, tables, and query behavior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7E6527-C2E5-4615-9867-07283006D32C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Warehouse validation becomes strongest when expressed as SQL questions.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722E43-309E-483B-9784-EA23AFACB034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95AB41-3BD8-4CC8-B796-E6D5877F3F12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76200" cy="20574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E1D3E-5440-45A8-B44E-9007B24E2F8A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Structure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0ECAFD-2E38-4A63-9CC8-9436364B0E9F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schemas, tables, and column shapes match the intended Warehouse design?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1C439A-EFB4-4953-8B76-BA3E92D1DFFD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ABAE8E-80CA-4AFA-BFA1-92E8C94E34C5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76200" cy="20574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DF8C33-5830-488E-870D-023AD21B66AE}"/>
              </a:ext>
            </a:extLst>
          </p:cNvPr>
          <p:cNvSpPr>
            <a:spLocks noGrp="1"/>
          </p:cNvSpPr>
          <p:nvPr/>
        </p:nvSpPr>
        <p:spPr>
          <a:xfrm>
            <a:off x="4572000" y="36766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Behavior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2C1ECA-BDF3-4F7B-8737-068EC821551F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the query results behave as expected under joins, aggregates, and filters?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082FAF-A67B-418D-A3EB-84E155FA335A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C68849-A845-4B09-8D41-6D010BE8DD7E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76200" cy="20574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BD5640-1795-4C4E-AEEA-8C8C8D2F78A7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2E632E-5053-4B8F-9435-26E8DD555CBC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Can QA save or rerun the query that proves the result?</a:t>
            </a:r>
          </a:p>
        </p:txBody>
      </p:sp>
    </p:spTree>
    <p:extLst>
      <p:ext uri="{BB962C8B-B14F-4D97-AF65-F5344CB8AC3E}">
        <p14:creationId xmlns:p14="http://schemas.microsoft.com/office/powerpoint/2010/main" val="83692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55BA48E-5FB2-492F-81AC-D335C975A1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9B7685-3413-4D93-A1CA-2AE4B78603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64CF0E9-0921-4547-9772-0E5A629E7759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4B3EB5-A17E-4A74-9A6F-1C5DB3B5348A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E27FC30-F46E-4CC1-AFEB-35C93F26807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92FFAB-7AA8-4A95-8CA8-50C2D6B1C1F8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SQL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27C348-97F2-441E-BF94-52670729879C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62DC89-EBB7-424A-ABEE-B2D324DA91C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SQL assertions for Warehouse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F76E59-A61D-44A4-A4FB-CC4A360CC01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good SQL test proves a business or technical expectation clearly.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948EA9C-1165-4EAB-BF9B-1BC6E47EB4CE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0572750" cy="2781300"/>
          </a:xfrm>
          <a:prstGeom prst="roundRect">
            <a:avLst>
              <a:gd name="adj" fmla="val 2740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1529DE-A270-47C7-BAA0-EC00004C3EED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50185B1-32E1-4551-9196-E2CD87A5C16D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8AA085-F9F6-4AD3-8B2A-0993952BB6F5}"/>
              </a:ext>
            </a:extLst>
          </p:cNvPr>
          <p:cNvSpPr>
            <a:spLocks noGrp="1"/>
          </p:cNvSpPr>
          <p:nvPr/>
        </p:nvSpPr>
        <p:spPr>
          <a:xfrm>
            <a:off x="1066800" y="3638550"/>
            <a:ext cx="76200" cy="17526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7BB4C-1E6C-4C8B-A2CA-7E053042D306}"/>
              </a:ext>
            </a:extLst>
          </p:cNvPr>
          <p:cNvSpPr>
            <a:spLocks noGrp="1"/>
          </p:cNvSpPr>
          <p:nvPr/>
        </p:nvSpPr>
        <p:spPr>
          <a:xfrm>
            <a:off x="1219200" y="3867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42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Count assertion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A494C7-149F-4BCA-A464-97EB1D122BC1}"/>
              </a:ext>
            </a:extLst>
          </p:cNvPr>
          <p:cNvSpPr>
            <a:spLocks noGrp="1"/>
          </p:cNvSpPr>
          <p:nvPr/>
        </p:nvSpPr>
        <p:spPr>
          <a:xfrm>
            <a:off x="12192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Expected row counts or distinct counts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643B40-DA79-4B0A-A8D4-80609D80D847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D642DD-CE4F-41C9-8646-8D467AF7375A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76200" cy="17526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B4CDD-9458-4804-9044-C3DFB6F82391}"/>
              </a:ext>
            </a:extLst>
          </p:cNvPr>
          <p:cNvSpPr>
            <a:spLocks noGrp="1"/>
          </p:cNvSpPr>
          <p:nvPr/>
        </p:nvSpPr>
        <p:spPr>
          <a:xfrm>
            <a:off x="3238500" y="3867150"/>
            <a:ext cx="1562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425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Aggregate assertion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29EAFA-6B07-41A0-903D-B5F14C64EDDD}"/>
              </a:ext>
            </a:extLst>
          </p:cNvPr>
          <p:cNvSpPr>
            <a:spLocks noGrp="1"/>
          </p:cNvSpPr>
          <p:nvPr/>
        </p:nvSpPr>
        <p:spPr>
          <a:xfrm>
            <a:off x="32385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Totals, averages, or grouped summaries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C1D1033-9D03-43DE-B675-6028A093E61C}"/>
              </a:ext>
            </a:extLst>
          </p:cNvPr>
          <p:cNvSpPr>
            <a:spLocks noGrp="1"/>
          </p:cNvSpPr>
          <p:nvPr/>
        </p:nvSpPr>
        <p:spPr>
          <a:xfrm>
            <a:off x="51054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E760CE-1354-4365-BC5F-511756A2CA4B}"/>
              </a:ext>
            </a:extLst>
          </p:cNvPr>
          <p:cNvSpPr>
            <a:spLocks noGrp="1"/>
          </p:cNvSpPr>
          <p:nvPr/>
        </p:nvSpPr>
        <p:spPr>
          <a:xfrm>
            <a:off x="5105400" y="3638550"/>
            <a:ext cx="76200" cy="17526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26BD9B-DC6F-4979-8D85-A002B23F02A9}"/>
              </a:ext>
            </a:extLst>
          </p:cNvPr>
          <p:cNvSpPr>
            <a:spLocks noGrp="1"/>
          </p:cNvSpPr>
          <p:nvPr/>
        </p:nvSpPr>
        <p:spPr>
          <a:xfrm>
            <a:off x="5257800" y="3867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42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Join assertion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A88A39-76F5-420B-ACD4-54BBA07086AB}"/>
              </a:ext>
            </a:extLst>
          </p:cNvPr>
          <p:cNvSpPr>
            <a:spLocks noGrp="1"/>
          </p:cNvSpPr>
          <p:nvPr/>
        </p:nvSpPr>
        <p:spPr>
          <a:xfrm>
            <a:off x="52578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Expected relationship behavior across tables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4CC1EA4-9D51-4EBF-9E42-7C65E0E77EE3}"/>
              </a:ext>
            </a:extLst>
          </p:cNvPr>
          <p:cNvSpPr>
            <a:spLocks noGrp="1"/>
          </p:cNvSpPr>
          <p:nvPr/>
        </p:nvSpPr>
        <p:spPr>
          <a:xfrm>
            <a:off x="71247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437154-D6A7-43EB-9D20-B17EBE85B775}"/>
              </a:ext>
            </a:extLst>
          </p:cNvPr>
          <p:cNvSpPr>
            <a:spLocks noGrp="1"/>
          </p:cNvSpPr>
          <p:nvPr/>
        </p:nvSpPr>
        <p:spPr>
          <a:xfrm>
            <a:off x="7124700" y="3638550"/>
            <a:ext cx="76200" cy="17526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5B88F2-FBDF-4494-89E4-E5BBCF05C044}"/>
              </a:ext>
            </a:extLst>
          </p:cNvPr>
          <p:cNvSpPr>
            <a:spLocks noGrp="1"/>
          </p:cNvSpPr>
          <p:nvPr/>
        </p:nvSpPr>
        <p:spPr>
          <a:xfrm>
            <a:off x="7277100" y="3867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42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Filter assertion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7014E6-2B1F-45E9-8583-E5A380F1B4E5}"/>
              </a:ext>
            </a:extLst>
          </p:cNvPr>
          <p:cNvSpPr>
            <a:spLocks noGrp="1"/>
          </p:cNvSpPr>
          <p:nvPr/>
        </p:nvSpPr>
        <p:spPr>
          <a:xfrm>
            <a:off x="72771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Expected inclusion or exclusion under conditions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ADC9E3B-F752-45C9-82B8-4CC885F4CFD7}"/>
              </a:ext>
            </a:extLst>
          </p:cNvPr>
          <p:cNvSpPr>
            <a:spLocks noGrp="1"/>
          </p:cNvSpPr>
          <p:nvPr/>
        </p:nvSpPr>
        <p:spPr>
          <a:xfrm>
            <a:off x="9144000" y="3638550"/>
            <a:ext cx="17907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795E77-EE56-4C62-888F-3F13D1E01D25}"/>
              </a:ext>
            </a:extLst>
          </p:cNvPr>
          <p:cNvSpPr>
            <a:spLocks noGrp="1"/>
          </p:cNvSpPr>
          <p:nvPr/>
        </p:nvSpPr>
        <p:spPr>
          <a:xfrm>
            <a:off x="9144000" y="3638550"/>
            <a:ext cx="76200" cy="17526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857667-23DA-4BA8-B177-0258BC684EE7}"/>
              </a:ext>
            </a:extLst>
          </p:cNvPr>
          <p:cNvSpPr>
            <a:spLocks noGrp="1"/>
          </p:cNvSpPr>
          <p:nvPr/>
        </p:nvSpPr>
        <p:spPr>
          <a:xfrm>
            <a:off x="9296400" y="3867150"/>
            <a:ext cx="1676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425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Recon</a:t>
            </a:r>
            <a:r>
              <a:rPr lang="en-US" sz="1425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 </a:t>
            </a:r>
            <a:r>
              <a:rPr sz="1425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assertion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A08A26-D8B1-4495-BC14-858E71702DBB}"/>
              </a:ext>
            </a:extLst>
          </p:cNvPr>
          <p:cNvSpPr>
            <a:spLocks noGrp="1"/>
          </p:cNvSpPr>
          <p:nvPr/>
        </p:nvSpPr>
        <p:spPr>
          <a:xfrm>
            <a:off x="9296400" y="4229100"/>
            <a:ext cx="13716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Expected alignment with another surface or prior state</a:t>
            </a:r>
          </a:p>
        </p:txBody>
      </p:sp>
    </p:spTree>
    <p:extLst>
      <p:ext uri="{BB962C8B-B14F-4D97-AF65-F5344CB8AC3E}">
        <p14:creationId xmlns:p14="http://schemas.microsoft.com/office/powerpoint/2010/main" val="1938693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7FDE587-158D-4E50-94CA-8829B88B09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A3071-9222-447A-B828-7E82D08C41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9F2818-3137-443F-B811-3AB08E3C4023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41535C-13A2-4510-8E12-4E54F53DC1F4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6928220-2C77-4A86-90A6-ADFEA2423EF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55E2C-DB76-4221-8123-690AEE5A3B63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CTAS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643E1C-E485-4750-89CC-07016D610761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71385-86BF-41F3-85C3-EED1A49B368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CTAS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183656-9789-4367-99C7-525ED57ABA3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CTAS statement creates a new table from a query result, so QA should validate both structure and content.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8309DC-6A48-4C4B-8609-38F5CEF128FC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467100" cy="2781300"/>
          </a:xfrm>
          <a:prstGeom prst="roundRect">
            <a:avLst>
              <a:gd name="adj" fmla="val 274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B97A0-02B3-41A8-AF26-D9F8A303F977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EB49B-8D56-4AB5-8297-44D64ACE36ED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to verify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6A7A9D-F80B-4793-9BB7-914C845741FE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7432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Was the target table created successfully?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Does it contain the expected number of rows?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Do the derived columns and aggregates match expectations?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Does the output reflect the source logic accurately?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3E15FB-C4A4-4D6A-9CB1-779684CCD15D}"/>
              </a:ext>
            </a:extLst>
          </p:cNvPr>
          <p:cNvSpPr>
            <a:spLocks noGrp="1"/>
          </p:cNvSpPr>
          <p:nvPr/>
        </p:nvSpPr>
        <p:spPr>
          <a:xfrm>
            <a:off x="4610100" y="3105150"/>
            <a:ext cx="67056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4EECC6-E889-4BBE-9865-98BB48A8DC7B}"/>
              </a:ext>
            </a:extLst>
          </p:cNvPr>
          <p:cNvSpPr>
            <a:spLocks noGrp="1"/>
          </p:cNvSpPr>
          <p:nvPr/>
        </p:nvSpPr>
        <p:spPr>
          <a:xfrm>
            <a:off x="4610100" y="3105150"/>
            <a:ext cx="76200" cy="27813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80CB30-37D9-4877-AE6A-EEDF0D5B015A}"/>
              </a:ext>
            </a:extLst>
          </p:cNvPr>
          <p:cNvSpPr>
            <a:spLocks noGrp="1"/>
          </p:cNvSpPr>
          <p:nvPr/>
        </p:nvSpPr>
        <p:spPr>
          <a:xfrm>
            <a:off x="4838700" y="33337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Typical Day 3 QA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869085-56D5-4268-95DF-665868599289}"/>
              </a:ext>
            </a:extLst>
          </p:cNvPr>
          <p:cNvSpPr>
            <a:spLocks noGrp="1"/>
          </p:cNvSpPr>
          <p:nvPr/>
        </p:nvSpPr>
        <p:spPr>
          <a:xfrm>
            <a:off x="4857750" y="3733800"/>
            <a:ext cx="58102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source query used for the CTAS statement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row count of the new table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grouped or summary query proving the table content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comparison between the derived table and the source data it summarizes</a:t>
            </a:r>
          </a:p>
        </p:txBody>
      </p:sp>
    </p:spTree>
    <p:extLst>
      <p:ext uri="{BB962C8B-B14F-4D97-AF65-F5344CB8AC3E}">
        <p14:creationId xmlns:p14="http://schemas.microsoft.com/office/powerpoint/2010/main" val="611096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47477B0-DA46-4A22-BDF2-86339AD8A0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C0C2BE-F5DC-4EAB-A6F9-7AC4FFD500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C4C2444-04D2-446B-8D39-495011A99C7A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2F4871-806F-4F28-AA6F-C5FBF42C2227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3C773F-99B7-4F66-BB73-46613D0E045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B782E4-6991-4190-9419-796076D931FC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MERGE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759BCD-E259-495C-904C-3E32A4C917DC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C815E2-9579-4389-B910-28D479B6BBD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MERGE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8C9BF-B1CB-4F61-9BBA-A33E472E6B3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MERGE statements combine inserts and updates, so QA should check both state change and final result.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4E6070-1AC7-4FF1-A6A9-39E3E6354149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C2EBF-ABAD-497E-BE74-7084FA42C9E4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91DB28-7AC1-48B6-837D-15D03BE862BC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Before state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0BC228-CE35-4BD1-8DBF-37F093FE26F9}"/>
              </a:ext>
            </a:extLst>
          </p:cNvPr>
          <p:cNvSpPr>
            <a:spLocks noGrp="1"/>
          </p:cNvSpPr>
          <p:nvPr/>
        </p:nvSpPr>
        <p:spPr>
          <a:xfrm>
            <a:off x="3200400" y="327660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Know which rows exist and what their original values are.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76DFE91-1067-4539-827B-E3785B34ABCF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07ED3-FC0C-4D9D-BBF1-EC784F85AD67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76200" cy="10477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C6724-770C-428B-A720-503B07D9B002}"/>
              </a:ext>
            </a:extLst>
          </p:cNvPr>
          <p:cNvSpPr>
            <a:spLocks noGrp="1"/>
          </p:cNvSpPr>
          <p:nvPr/>
        </p:nvSpPr>
        <p:spPr>
          <a:xfrm>
            <a:off x="6343650" y="32766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Operation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CA910E-8029-49D7-BD71-96DCF937D59C}"/>
              </a:ext>
            </a:extLst>
          </p:cNvPr>
          <p:cNvSpPr>
            <a:spLocks noGrp="1"/>
          </p:cNvSpPr>
          <p:nvPr/>
        </p:nvSpPr>
        <p:spPr>
          <a:xfrm>
            <a:off x="8534400" y="327660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4437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Understand which rows should update, which should insert, and which should stay unchanged.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A63A1A1-61F3-4E90-9C1A-68BB1CE342E0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895D4-ACFE-4C30-BF8D-9F82773F1E3D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76200" cy="10477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A0D2B1-8F7D-4E36-962D-AD4C7C60985F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After state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83B1BD-41DF-434E-89CF-FA209B138AAF}"/>
              </a:ext>
            </a:extLst>
          </p:cNvPr>
          <p:cNvSpPr>
            <a:spLocks noGrp="1"/>
          </p:cNvSpPr>
          <p:nvPr/>
        </p:nvSpPr>
        <p:spPr>
          <a:xfrm>
            <a:off x="3200400" y="4552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Validate the final table and prove the expected changes occurred.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EC17BC0-C66E-47BC-BD7E-40FFDE7248E6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BCE9E9-C10A-49DD-9CFA-A2AD2875CC69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76200" cy="104775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20B9AA-FA58-4CD1-BA4B-02A2758CEF10}"/>
              </a:ext>
            </a:extLst>
          </p:cNvPr>
          <p:cNvSpPr>
            <a:spLocks noGrp="1"/>
          </p:cNvSpPr>
          <p:nvPr/>
        </p:nvSpPr>
        <p:spPr>
          <a:xfrm>
            <a:off x="6343650" y="4552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9AE893-60FA-420D-9824-8F27640B4A70}"/>
              </a:ext>
            </a:extLst>
          </p:cNvPr>
          <p:cNvSpPr>
            <a:spLocks noGrp="1"/>
          </p:cNvSpPr>
          <p:nvPr/>
        </p:nvSpPr>
        <p:spPr>
          <a:xfrm>
            <a:off x="8534400" y="4552950"/>
            <a:ext cx="23241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Record the SQL script, counts, and before/after comparisons.</a:t>
            </a:r>
          </a:p>
        </p:txBody>
      </p:sp>
    </p:spTree>
    <p:extLst>
      <p:ext uri="{BB962C8B-B14F-4D97-AF65-F5344CB8AC3E}">
        <p14:creationId xmlns:p14="http://schemas.microsoft.com/office/powerpoint/2010/main" val="1781246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EB61BDC-AE84-41D6-A6FF-3927148C9A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B7E45-AA4E-4A0E-B856-5B72844573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3DB98D-4264-4ADA-B84A-C24A5C3A4AA7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3D2A52-79BE-441E-B5C5-D5E8241047FB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528F3D-9EB5-45ED-BCA1-A2512756E99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FEE71D-8414-40BC-A7EB-D1EBE5B0587E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STATS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986ED-B5D8-48D8-B4BD-F11603A5CE98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E673C9-794F-4162-8B82-CD12342EC40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Aggregate and statistics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9E10DA-27E6-4103-9158-CEFACB52FC6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Simple aggregates often reveal problems faster than row-by-row inspection.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36E3A8-92B0-4DC7-BF04-201E05D2EBC8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62F9CC-2B0F-4426-BADE-3B330A6B7B60}"/>
              </a:ext>
            </a:extLst>
          </p:cNvPr>
          <p:cNvSpPr>
            <a:spLocks noGrp="1"/>
          </p:cNvSpPr>
          <p:nvPr/>
        </p:nvSpPr>
        <p:spPr>
          <a:xfrm>
            <a:off x="819150" y="3429000"/>
            <a:ext cx="76200" cy="20574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553042-62E9-4047-9F57-2368405AA852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Count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30E63-399A-42C1-AC3D-16A1D25270AB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Confirm total rows, distinct keys, or filtered subsets.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9775B5-61EC-4342-B1D7-C90BEBF8895A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A866A-5E17-47B6-A940-23435EC4144F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76200" cy="20574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3DCCFF-833D-46AC-9C67-7831DB80E09A}"/>
              </a:ext>
            </a:extLst>
          </p:cNvPr>
          <p:cNvSpPr>
            <a:spLocks noGrp="1"/>
          </p:cNvSpPr>
          <p:nvPr/>
        </p:nvSpPr>
        <p:spPr>
          <a:xfrm>
            <a:off x="4572000" y="36766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Amount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AF3209-3B24-47B9-86C8-119C759732C6}"/>
              </a:ext>
            </a:extLst>
          </p:cNvPr>
          <p:cNvSpPr>
            <a:spLocks noGrp="1"/>
          </p:cNvSpPr>
          <p:nvPr/>
        </p:nvSpPr>
        <p:spPr>
          <a:xfrm>
            <a:off x="457200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Validate totals, averages, minimums, and maximums.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D50E3F-29AB-4B61-B611-8B3E6D495DF1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3219450" cy="2057400"/>
          </a:xfrm>
          <a:prstGeom prst="roundRect">
            <a:avLst>
              <a:gd name="adj" fmla="val 3704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38FE57-0B0D-4EAB-B344-7A2B14DABEC5}"/>
              </a:ext>
            </a:extLst>
          </p:cNvPr>
          <p:cNvSpPr>
            <a:spLocks noGrp="1"/>
          </p:cNvSpPr>
          <p:nvPr/>
        </p:nvSpPr>
        <p:spPr>
          <a:xfrm>
            <a:off x="7943850" y="3429000"/>
            <a:ext cx="76200" cy="20574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23BF2E-DA13-4FC6-A6AA-CFF9A47800B3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Grouped checks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49E947-004A-4F5A-B6C3-B3B586535CA9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2705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Validate summaries by region, product, status, or period.</a:t>
            </a:r>
          </a:p>
        </p:txBody>
      </p:sp>
    </p:spTree>
    <p:extLst>
      <p:ext uri="{BB962C8B-B14F-4D97-AF65-F5344CB8AC3E}">
        <p14:creationId xmlns:p14="http://schemas.microsoft.com/office/powerpoint/2010/main" val="1617845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B96DEB2-90D6-4373-A87E-8C56C7C112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E29FB-C123-48BF-A5C4-F536E8361A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3D6A80-2351-4C5B-A82D-D2D70ED21320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2246432-305E-4196-88BD-04193B91576C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025D61-4183-41D6-AFE6-BBAA7453946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1F7E2-0482-427D-AAA7-D0F8D9889065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RECONCILE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9F89A7-A756-4FE1-A7B3-13952C9B7EBD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1AB9C-3942-4028-BD58-B51C623C3CB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Cross-checking Lakehouse vs. Warehouse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CD95C2-BBE2-4304-A19D-B7CC78A63055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When the same business data appears twice, reconciliation becomes one of QA's strongest trust signals.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F8084D3-ECA2-4F9D-B28D-9424604A1E14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0572750" cy="2781300"/>
          </a:xfrm>
          <a:prstGeom prst="roundRect">
            <a:avLst>
              <a:gd name="adj" fmla="val 2740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50BDD-7D4B-40A0-AF57-4DF1742D44F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82368-2665-4D5A-8A7A-A3D977C3FC1A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Counts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C50319-81CD-45A9-9850-B8F09FA05B2F}"/>
              </a:ext>
            </a:extLst>
          </p:cNvPr>
          <p:cNvSpPr>
            <a:spLocks noGrp="1"/>
          </p:cNvSpPr>
          <p:nvPr/>
        </p:nvSpPr>
        <p:spPr>
          <a:xfrm>
            <a:off x="2781300" y="3524250"/>
            <a:ext cx="784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both surfaces contain the expected number of accepted rows?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7644B5-5596-4C21-88D4-C541CD99DAE6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98869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34AA81-79A3-413C-A428-85410CBC2549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Totals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9E5F50-BE53-4248-966B-23DF63812E8B}"/>
              </a:ext>
            </a:extLst>
          </p:cNvPr>
          <p:cNvSpPr>
            <a:spLocks noGrp="1"/>
          </p:cNvSpPr>
          <p:nvPr/>
        </p:nvSpPr>
        <p:spPr>
          <a:xfrm>
            <a:off x="2781300" y="4038600"/>
            <a:ext cx="784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Lakehouse and Warehouse aggregates match?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17AF9D-1586-41CC-95C5-47DE43E7BD44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98869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E19EA3-0BA7-40F2-A7F0-9318732F891C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Derived outputs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39138E-B46C-4334-BAB5-699C26BA6E92}"/>
              </a:ext>
            </a:extLst>
          </p:cNvPr>
          <p:cNvSpPr>
            <a:spLocks noGrp="1"/>
          </p:cNvSpPr>
          <p:nvPr/>
        </p:nvSpPr>
        <p:spPr>
          <a:xfrm>
            <a:off x="2781300" y="4552950"/>
            <a:ext cx="784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summarized CTAS results align with Lakehouse-based summaries?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9EB326-EB24-452B-940C-BE2675C1400E}"/>
              </a:ext>
            </a:extLst>
          </p:cNvPr>
          <p:cNvSpPr>
            <a:spLocks noGrp="1"/>
          </p:cNvSpPr>
          <p:nvPr/>
        </p:nvSpPr>
        <p:spPr>
          <a:xfrm>
            <a:off x="1047750" y="4876800"/>
            <a:ext cx="98869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3656A6-BB24-4189-B098-B26051D836A7}"/>
              </a:ext>
            </a:extLst>
          </p:cNvPr>
          <p:cNvSpPr>
            <a:spLocks noGrp="1"/>
          </p:cNvSpPr>
          <p:nvPr/>
        </p:nvSpPr>
        <p:spPr>
          <a:xfrm>
            <a:off x="1066800" y="5067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Change behavior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35D622-69D9-4E28-9BBF-BE8DF62264E6}"/>
              </a:ext>
            </a:extLst>
          </p:cNvPr>
          <p:cNvSpPr>
            <a:spLocks noGrp="1"/>
          </p:cNvSpPr>
          <p:nvPr/>
        </p:nvSpPr>
        <p:spPr>
          <a:xfrm>
            <a:off x="2781300" y="5067300"/>
            <a:ext cx="784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updates land in both surfaces as expected where applicable?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79073E-3D19-450C-B69A-934CC5CEC94C}"/>
              </a:ext>
            </a:extLst>
          </p:cNvPr>
          <p:cNvSpPr>
            <a:spLocks noGrp="1"/>
          </p:cNvSpPr>
          <p:nvPr/>
        </p:nvSpPr>
        <p:spPr>
          <a:xfrm>
            <a:off x="1047750" y="5391150"/>
            <a:ext cx="988695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5415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BB843AF-4508-4302-A17C-D0E6C64D42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60196D-18F1-4C0B-BCAF-B861E2E832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85E23D-9B9C-4648-9E7A-4E6DE238ECC8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83B166-C15E-4F15-968F-606B1DA775B2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6517BD5-C48F-4746-AB39-627EF4DD675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0A3A2-2D88-4DC8-B9EC-BE3AC3C854EB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7E4859-DDC2-4DFE-B4D5-64404B081DB5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26D243-E1BD-43BD-83C3-EDCBC09D112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D49FAE-82EC-41AF-B546-B822A129D2D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Th</a:t>
            </a:r>
            <a:r>
              <a:rPr lang="en-US"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is 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lab gives learners both a Lakehouse and a Warehouse view of the same business data.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910A3D1-EFD7-419D-A712-8FAAB4F5DB8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448050" cy="2781300"/>
          </a:xfrm>
          <a:prstGeom prst="roundRect">
            <a:avLst>
              <a:gd name="adj" fmla="val 274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909AF-8428-4837-900F-C6EFD06056EA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F2EC8A-628D-47C5-BBF0-AF12E68D3E4C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Inputs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4A0C21-0E1B-4B89-99CE-C2422CBF0ACF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7241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Customer, product, and order files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Lakehouse notebook that creates Delta tables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controlled update that creates a new Delta table version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5B3F94-C161-440D-BC94-D1B3810842F9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67437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9E20CC-794A-4843-87B1-FA8B09B5280C}"/>
              </a:ext>
            </a:extLst>
          </p:cNvPr>
          <p:cNvSpPr>
            <a:spLocks noGrp="1"/>
          </p:cNvSpPr>
          <p:nvPr/>
        </p:nvSpPr>
        <p:spPr>
          <a:xfrm>
            <a:off x="4572000" y="3105150"/>
            <a:ext cx="76200" cy="27813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ADE5C3-247A-4D43-9576-DE4238F2F3FB}"/>
              </a:ext>
            </a:extLst>
          </p:cNvPr>
          <p:cNvSpPr>
            <a:spLocks noGrp="1"/>
          </p:cNvSpPr>
          <p:nvPr/>
        </p:nvSpPr>
        <p:spPr>
          <a:xfrm>
            <a:off x="480060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Outputs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672238-FB0A-4D0F-9500-7D1780D3AE7A}"/>
              </a:ext>
            </a:extLst>
          </p:cNvPr>
          <p:cNvSpPr>
            <a:spLocks noGrp="1"/>
          </p:cNvSpPr>
          <p:nvPr/>
        </p:nvSpPr>
        <p:spPr>
          <a:xfrm>
            <a:off x="4819650" y="3733800"/>
            <a:ext cx="58102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Warehouse tables loaded with the same business data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CTAS summary table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MERGE scenario that updates and inserts records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Validation queries that reconcile both surfaces</a:t>
            </a:r>
          </a:p>
        </p:txBody>
      </p:sp>
    </p:spTree>
    <p:extLst>
      <p:ext uri="{BB962C8B-B14F-4D97-AF65-F5344CB8AC3E}">
        <p14:creationId xmlns:p14="http://schemas.microsoft.com/office/powerpoint/2010/main" val="1490101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9DEBCB3A-6F48-485E-8B90-BDFD6B606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117F71-5B83-4D9B-8A23-416FCE42E4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02755F-FFA6-4A8F-B68C-8A10E687E658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C785050-1257-4442-B8C0-F9E6477439BE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B147E0-9839-4291-B1E9-92C48D24822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FB93F8-EF34-40C9-B430-950618570015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49D9A-A041-4E84-8686-A95F0BE8D541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4909EF-E823-4AED-A8B0-3F1807D7305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</a:t>
            </a:r>
            <a:r>
              <a:rPr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ab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727986-DC46-456E-81C0-A06BE415B42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lab moves from table creation into controlled change and reconciliation.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1893304-641B-40B5-84B6-B8E5A7BEF242}"/>
              </a:ext>
            </a:extLst>
          </p:cNvPr>
          <p:cNvSpPr>
            <a:spLocks noGrp="1"/>
          </p:cNvSpPr>
          <p:nvPr/>
        </p:nvSpPr>
        <p:spPr>
          <a:xfrm>
            <a:off x="1200150" y="302895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3318E4-1ED2-474C-90C5-AF2DCD48ACC4}"/>
              </a:ext>
            </a:extLst>
          </p:cNvPr>
          <p:cNvSpPr>
            <a:spLocks noGrp="1"/>
          </p:cNvSpPr>
          <p:nvPr/>
        </p:nvSpPr>
        <p:spPr>
          <a:xfrm>
            <a:off x="1200150" y="3028950"/>
            <a:ext cx="76200" cy="476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B9C8B0A-7C24-4C23-9E5F-609696F36D9F}"/>
              </a:ext>
            </a:extLst>
          </p:cNvPr>
          <p:cNvSpPr>
            <a:spLocks noGrp="1"/>
          </p:cNvSpPr>
          <p:nvPr/>
        </p:nvSpPr>
        <p:spPr>
          <a:xfrm>
            <a:off x="1409700" y="311467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A0565-528E-4490-ACC4-45E97B7340B5}"/>
              </a:ext>
            </a:extLst>
          </p:cNvPr>
          <p:cNvSpPr>
            <a:spLocks noGrp="1"/>
          </p:cNvSpPr>
          <p:nvPr/>
        </p:nvSpPr>
        <p:spPr>
          <a:xfrm>
            <a:off x="1543050" y="31813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617ECF-2492-4D45-B8A6-1A5023101CE2}"/>
              </a:ext>
            </a:extLst>
          </p:cNvPr>
          <p:cNvSpPr>
            <a:spLocks noGrp="1"/>
          </p:cNvSpPr>
          <p:nvPr/>
        </p:nvSpPr>
        <p:spPr>
          <a:xfrm>
            <a:off x="2133600" y="31432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Create the workspace, Lakehouse, and support files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D4328A5-1FE2-4A7F-B79D-C71892A4FB64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8691DA-D74C-476A-ADDE-2ED195D00917}"/>
              </a:ext>
            </a:extLst>
          </p:cNvPr>
          <p:cNvSpPr>
            <a:spLocks noGrp="1"/>
          </p:cNvSpPr>
          <p:nvPr/>
        </p:nvSpPr>
        <p:spPr>
          <a:xfrm>
            <a:off x="1200150" y="3619500"/>
            <a:ext cx="76200" cy="4762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6412AA5-E493-4EAD-A6C3-41C912DD0CC1}"/>
              </a:ext>
            </a:extLst>
          </p:cNvPr>
          <p:cNvSpPr>
            <a:spLocks noGrp="1"/>
          </p:cNvSpPr>
          <p:nvPr/>
        </p:nvSpPr>
        <p:spPr>
          <a:xfrm>
            <a:off x="1409700" y="370522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022673-EE38-430A-8F84-13DB4A052B39}"/>
              </a:ext>
            </a:extLst>
          </p:cNvPr>
          <p:cNvSpPr>
            <a:spLocks noGrp="1"/>
          </p:cNvSpPr>
          <p:nvPr/>
        </p:nvSpPr>
        <p:spPr>
          <a:xfrm>
            <a:off x="1543050" y="37719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EC6070-7455-4C4B-BC48-1B2AA2E91601}"/>
              </a:ext>
            </a:extLst>
          </p:cNvPr>
          <p:cNvSpPr>
            <a:spLocks noGrp="1"/>
          </p:cNvSpPr>
          <p:nvPr/>
        </p:nvSpPr>
        <p:spPr>
          <a:xfrm>
            <a:off x="2133600" y="3733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Build Delta tables and generate table history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E6C88D6-9D3C-4970-B5FC-A5B096BED462}"/>
              </a:ext>
            </a:extLst>
          </p:cNvPr>
          <p:cNvSpPr>
            <a:spLocks noGrp="1"/>
          </p:cNvSpPr>
          <p:nvPr/>
        </p:nvSpPr>
        <p:spPr>
          <a:xfrm>
            <a:off x="1200150" y="421005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86E6B5-CD2D-408B-87E0-3F14BF388101}"/>
              </a:ext>
            </a:extLst>
          </p:cNvPr>
          <p:cNvSpPr>
            <a:spLocks noGrp="1"/>
          </p:cNvSpPr>
          <p:nvPr/>
        </p:nvSpPr>
        <p:spPr>
          <a:xfrm>
            <a:off x="1200150" y="4210050"/>
            <a:ext cx="76200" cy="476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B42CAC9-5CC1-4461-BD03-DC7FCFDBB6E2}"/>
              </a:ext>
            </a:extLst>
          </p:cNvPr>
          <p:cNvSpPr>
            <a:spLocks noGrp="1"/>
          </p:cNvSpPr>
          <p:nvPr/>
        </p:nvSpPr>
        <p:spPr>
          <a:xfrm>
            <a:off x="1409700" y="429577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B68822-1D38-4A58-9121-B0374913FC0D}"/>
              </a:ext>
            </a:extLst>
          </p:cNvPr>
          <p:cNvSpPr>
            <a:spLocks noGrp="1"/>
          </p:cNvSpPr>
          <p:nvPr/>
        </p:nvSpPr>
        <p:spPr>
          <a:xfrm>
            <a:off x="1543050" y="43624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34699F-2965-4739-9D44-138C0E6B3C9F}"/>
              </a:ext>
            </a:extLst>
          </p:cNvPr>
          <p:cNvSpPr>
            <a:spLocks noGrp="1"/>
          </p:cNvSpPr>
          <p:nvPr/>
        </p:nvSpPr>
        <p:spPr>
          <a:xfrm>
            <a:off x="2133600" y="43243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Create and load the Warehouse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84DD968-ABA4-4B28-86AD-15E1E64F1506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CA8D30A-90DB-4E7B-91ED-2D6D1AE099DD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76200" cy="4762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8A903E9-DE4D-4D5E-9869-E47D719EA19A}"/>
              </a:ext>
            </a:extLst>
          </p:cNvPr>
          <p:cNvSpPr>
            <a:spLocks noGrp="1"/>
          </p:cNvSpPr>
          <p:nvPr/>
        </p:nvSpPr>
        <p:spPr>
          <a:xfrm>
            <a:off x="1409700" y="488632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AA5415-3C62-44B4-8692-6FA4B887A44C}"/>
              </a:ext>
            </a:extLst>
          </p:cNvPr>
          <p:cNvSpPr>
            <a:spLocks noGrp="1"/>
          </p:cNvSpPr>
          <p:nvPr/>
        </p:nvSpPr>
        <p:spPr>
          <a:xfrm>
            <a:off x="1543050" y="4953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4D9CC1-15F7-40D2-9176-651506C528D3}"/>
              </a:ext>
            </a:extLst>
          </p:cNvPr>
          <p:cNvSpPr>
            <a:spLocks noGrp="1"/>
          </p:cNvSpPr>
          <p:nvPr/>
        </p:nvSpPr>
        <p:spPr>
          <a:xfrm>
            <a:off x="2133600" y="49149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Run CTAS and MERGE scripts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896A07B-E41A-407D-B67B-68B2CD3B88EE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9772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4EBC43-85A2-43CF-B44F-2F8DA247F299}"/>
              </a:ext>
            </a:extLst>
          </p:cNvPr>
          <p:cNvSpPr>
            <a:spLocks noGrp="1"/>
          </p:cNvSpPr>
          <p:nvPr/>
        </p:nvSpPr>
        <p:spPr>
          <a:xfrm>
            <a:off x="1200150" y="5391150"/>
            <a:ext cx="76200" cy="4762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8A59B9A-6F2D-40BC-AF82-04FD7C05543C}"/>
              </a:ext>
            </a:extLst>
          </p:cNvPr>
          <p:cNvSpPr>
            <a:spLocks noGrp="1"/>
          </p:cNvSpPr>
          <p:nvPr/>
        </p:nvSpPr>
        <p:spPr>
          <a:xfrm>
            <a:off x="1409700" y="547687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D86B16-79A9-4696-8314-2B2E03138E5B}"/>
              </a:ext>
            </a:extLst>
          </p:cNvPr>
          <p:cNvSpPr>
            <a:spLocks noGrp="1"/>
          </p:cNvSpPr>
          <p:nvPr/>
        </p:nvSpPr>
        <p:spPr>
          <a:xfrm>
            <a:off x="1543050" y="55435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516834-94FD-4BF6-BD70-EBA8E1A3761D}"/>
              </a:ext>
            </a:extLst>
          </p:cNvPr>
          <p:cNvSpPr>
            <a:spLocks noGrp="1"/>
          </p:cNvSpPr>
          <p:nvPr/>
        </p:nvSpPr>
        <p:spPr>
          <a:xfrm>
            <a:off x="2133600" y="55054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Reconcile Lakehouse and Warehouse outputs</a:t>
            </a:r>
          </a:p>
        </p:txBody>
      </p:sp>
    </p:spTree>
    <p:extLst>
      <p:ext uri="{BB962C8B-B14F-4D97-AF65-F5344CB8AC3E}">
        <p14:creationId xmlns:p14="http://schemas.microsoft.com/office/powerpoint/2010/main" val="149817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DEC1ED6-C5C7-42BC-A3D4-AA34B05A8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03A14-6113-4BB7-A7A6-838DDF4BEF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C52BFF-DF6E-4984-97CE-984EBDC94560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F9589F-2D35-46E6-8A4E-1286289494F1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9B3684-6FED-4668-A81C-EFF0170FF5B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7B7AB7-C91E-4E67-8101-00CB9EF1F65F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05A161-B319-41EC-A601-11C0B3856179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9C3044-5A29-4C10-B9A4-F3F629E6C02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Expected outputs and QA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588317-90F0-4C53-933E-319AC72292DC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P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roduce SQL scripts, table states, and reconciliation evidence that can be reviewed later.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8CFC441-7540-4208-A943-23BFD24743B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77E963-BF5B-4FCE-B246-CDE0438F801E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6A6F4E-2545-40CA-9E62-759F10627968}"/>
              </a:ext>
            </a:extLst>
          </p:cNvPr>
          <p:cNvSpPr>
            <a:spLocks noGrp="1"/>
          </p:cNvSpPr>
          <p:nvPr/>
        </p:nvSpPr>
        <p:spPr>
          <a:xfrm>
            <a:off x="1009650" y="3276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34F775-5D4D-4FBC-B540-57E4DC915993}"/>
              </a:ext>
            </a:extLst>
          </p:cNvPr>
          <p:cNvSpPr>
            <a:spLocks noGrp="1"/>
          </p:cNvSpPr>
          <p:nvPr/>
        </p:nvSpPr>
        <p:spPr>
          <a:xfrm>
            <a:off x="3276600" y="32766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Delta table counts, table previews, and history outputs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EB7553-5157-4F90-9A4C-805A1029D706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50D9E-D26A-4ABB-8FD1-CE52217FEB77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76200" cy="10477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CDA2B4-62A3-4BF3-BA56-47403D91357F}"/>
              </a:ext>
            </a:extLst>
          </p:cNvPr>
          <p:cNvSpPr>
            <a:spLocks noGrp="1"/>
          </p:cNvSpPr>
          <p:nvPr/>
        </p:nvSpPr>
        <p:spPr>
          <a:xfrm>
            <a:off x="6343650" y="3276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7C2AF3-4C49-4D91-AE2C-4E6A8DF8BBB8}"/>
              </a:ext>
            </a:extLst>
          </p:cNvPr>
          <p:cNvSpPr>
            <a:spLocks noGrp="1"/>
          </p:cNvSpPr>
          <p:nvPr/>
        </p:nvSpPr>
        <p:spPr>
          <a:xfrm>
            <a:off x="8610600" y="32766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Base tables, CTAS output, MERGE result, and SQL assertions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CF81002-E590-47C1-A63D-DF857742098D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108796-7329-4BA7-B8A5-413C25808114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76200" cy="104775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C5E047-FF3F-4FBE-8A57-3844A6AF90F0}"/>
              </a:ext>
            </a:extLst>
          </p:cNvPr>
          <p:cNvSpPr>
            <a:spLocks noGrp="1"/>
          </p:cNvSpPr>
          <p:nvPr/>
        </p:nvSpPr>
        <p:spPr>
          <a:xfrm>
            <a:off x="1009650" y="4552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Reconciliation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FC5628-8F9C-49CE-B8CA-F8CB7907D2C4}"/>
              </a:ext>
            </a:extLst>
          </p:cNvPr>
          <p:cNvSpPr>
            <a:spLocks noGrp="1"/>
          </p:cNvSpPr>
          <p:nvPr/>
        </p:nvSpPr>
        <p:spPr>
          <a:xfrm>
            <a:off x="3276600" y="455295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723"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Matching counts, totals, and summary outputs across both surfaces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529214-5C9C-4638-95DA-22D68D272C64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73DBE6-189D-4A3D-988D-AF66E94E820C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76200" cy="10477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CB11E-0D31-4616-89EE-B68CBF866126}"/>
              </a:ext>
            </a:extLst>
          </p:cNvPr>
          <p:cNvSpPr>
            <a:spLocks noGrp="1"/>
          </p:cNvSpPr>
          <p:nvPr/>
        </p:nvSpPr>
        <p:spPr>
          <a:xfrm>
            <a:off x="6343650" y="4552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QA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12099C-417E-4985-8847-9A9DF33B7ADD}"/>
              </a:ext>
            </a:extLst>
          </p:cNvPr>
          <p:cNvSpPr>
            <a:spLocks noGrp="1"/>
          </p:cNvSpPr>
          <p:nvPr/>
        </p:nvSpPr>
        <p:spPr>
          <a:xfrm>
            <a:off x="8610600" y="455295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Worksheet notes, saved queries, and before/after comparisons</a:t>
            </a:r>
          </a:p>
        </p:txBody>
      </p:sp>
    </p:spTree>
    <p:extLst>
      <p:ext uri="{BB962C8B-B14F-4D97-AF65-F5344CB8AC3E}">
        <p14:creationId xmlns:p14="http://schemas.microsoft.com/office/powerpoint/2010/main" val="671298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0203416-669B-4BEC-8B5F-3B2F20FFBA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8BAD4-5665-422F-91DA-84F69E0498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AB861EC-CDD8-41AA-841B-88095237C0C4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1C6639-015E-4B50-855A-423393CD3933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447BD10-6362-48B9-8CB5-18F54185402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93147-BE46-46EC-8DE8-1D46EC87871B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PITFALLS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FCBE1F-7209-4728-8F3E-EB43A91163C8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81D3D5-C61C-4468-88CE-FEFE736D7A0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Common pitfalls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A33A46-8459-4C1F-9650-5EEFC70B6287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These mistakes usually happen when teams validate only one surface or skip before-and-after checks.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C83E12-784F-4D35-A5FF-77E7C0894412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029200" cy="2781300"/>
          </a:xfrm>
          <a:prstGeom prst="roundRect">
            <a:avLst>
              <a:gd name="adj" fmla="val 2740"/>
            </a:avLst>
          </a:prstGeom>
          <a:solidFill>
            <a:srgbClr val="F6E2DE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B9E97-A4BA-495B-822C-898F7AC0AA3C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81D880-F66D-416A-95E7-E0F352C85780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Common mistakes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9210F2-94FF-40AA-BC10-2318B4299598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42100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Checking only final row counts and ignoring history or changes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Treating CTAS or MERGE as successful without proving the output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Validating Warehouse results without reconciling Lakehouse outputs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Running exploratory queries without turning them into repeatable assertions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3089DC-95E0-43A6-A144-C1F0C9809F0F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5124450" cy="2781300"/>
          </a:xfrm>
          <a:prstGeom prst="roundRect">
            <a:avLst>
              <a:gd name="adj" fmla="val 2740"/>
            </a:avLst>
          </a:prstGeom>
          <a:solidFill>
            <a:srgbClr val="E3EAF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BB3672-CCB8-417D-8679-993023450BF6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76200" cy="2781300"/>
          </a:xfrm>
          <a:prstGeom prst="rect">
            <a:avLst/>
          </a:prstGeom>
          <a:solidFill>
            <a:srgbClr val="5A7393"/>
          </a:solidFill>
          <a:ln w="0">
            <a:solidFill>
              <a:srgbClr val="5A739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13D4BF-54DB-46C4-A822-645C7A9913DB}"/>
              </a:ext>
            </a:extLst>
          </p:cNvPr>
          <p:cNvSpPr>
            <a:spLocks noGrp="1"/>
          </p:cNvSpPr>
          <p:nvPr/>
        </p:nvSpPr>
        <p:spPr>
          <a:xfrm>
            <a:off x="64198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Better habits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FCE4F5-F3C2-481B-AE66-5D26F86A1722}"/>
              </a:ext>
            </a:extLst>
          </p:cNvPr>
          <p:cNvSpPr>
            <a:spLocks noGrp="1"/>
          </p:cNvSpPr>
          <p:nvPr/>
        </p:nvSpPr>
        <p:spPr>
          <a:xfrm>
            <a:off x="6438900" y="3733800"/>
            <a:ext cx="430530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Inspect both current state and change evidence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Capture the SQL or notebook logic behind each validation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Compare Lakehouse and Warehouse outputs intentionally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Use before/after expectations for CTAS and MERGE scenarios</a:t>
            </a:r>
          </a:p>
        </p:txBody>
      </p:sp>
    </p:spTree>
    <p:extLst>
      <p:ext uri="{BB962C8B-B14F-4D97-AF65-F5344CB8AC3E}">
        <p14:creationId xmlns:p14="http://schemas.microsoft.com/office/powerpoint/2010/main" val="5049717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5B818B7-2CD8-4473-9680-C1493EDB60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69C626-B78D-400C-AF40-0DFE3D86A7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36C8F1-AABA-405F-A33C-E2A0718067D7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330374-EFF3-46A3-9066-0C9C9B2745F9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96F3CA-4800-4BE6-96EF-50AEFF6B401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F72E6-12A9-4C93-B442-72CC1794DB36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CHECKLIST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0CF1C-8FD5-4ECE-B478-543D828C42FF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812461-40DA-4530-BB3B-8C620D30547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V</a:t>
            </a:r>
            <a:r>
              <a:rPr sz="24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alidation checklist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6C9A8B-453B-4B81-AA52-6EAECBDE430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23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This is the summary slide learners can carry into their own projects.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7F30D6-1E66-4CCB-9807-E42EFA10252C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10572750" cy="2781300"/>
          </a:xfrm>
          <a:prstGeom prst="roundRect">
            <a:avLst>
              <a:gd name="adj" fmla="val 2740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FF94D-44A6-4CC0-8A1B-A4E31B416ABC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3EBF5D1-00AD-487F-B537-B035CB543730}"/>
              </a:ext>
            </a:extLst>
          </p:cNvPr>
          <p:cNvSpPr>
            <a:spLocks noGrp="1"/>
          </p:cNvSpPr>
          <p:nvPr/>
        </p:nvSpPr>
        <p:spPr>
          <a:xfrm>
            <a:off x="1047750" y="3409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0F431-D35A-402E-BD83-6C1178E9FDCF}"/>
              </a:ext>
            </a:extLst>
          </p:cNvPr>
          <p:cNvSpPr>
            <a:spLocks noGrp="1"/>
          </p:cNvSpPr>
          <p:nvPr/>
        </p:nvSpPr>
        <p:spPr>
          <a:xfrm>
            <a:off x="1181100" y="347662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F21816-FA18-40CF-97E3-EFEFD5C1DB14}"/>
              </a:ext>
            </a:extLst>
          </p:cNvPr>
          <p:cNvSpPr>
            <a:spLocks noGrp="1"/>
          </p:cNvSpPr>
          <p:nvPr/>
        </p:nvSpPr>
        <p:spPr>
          <a:xfrm>
            <a:off x="1695450" y="34290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Confirm Lakehouse table structure and counts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7C1CEEF-AA28-4A41-8DB8-0798B6536949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39B9E6-C1DF-45D0-BEAD-15C72D12E983}"/>
              </a:ext>
            </a:extLst>
          </p:cNvPr>
          <p:cNvSpPr>
            <a:spLocks noGrp="1"/>
          </p:cNvSpPr>
          <p:nvPr/>
        </p:nvSpPr>
        <p:spPr>
          <a:xfrm>
            <a:off x="1181100" y="385762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C02373-A076-4E4A-8EFB-87CF3DC61B5D}"/>
              </a:ext>
            </a:extLst>
          </p:cNvPr>
          <p:cNvSpPr>
            <a:spLocks noGrp="1"/>
          </p:cNvSpPr>
          <p:nvPr/>
        </p:nvSpPr>
        <p:spPr>
          <a:xfrm>
            <a:off x="1695450" y="38100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Inspect Delta history for controlled updates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C54F120-8DFA-4CEB-8BCB-55E22DF3155A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AF65BE-F131-47F0-80A4-9A2438FDFC84}"/>
              </a:ext>
            </a:extLst>
          </p:cNvPr>
          <p:cNvSpPr>
            <a:spLocks noGrp="1"/>
          </p:cNvSpPr>
          <p:nvPr/>
        </p:nvSpPr>
        <p:spPr>
          <a:xfrm>
            <a:off x="1181100" y="423862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688FF2-0EE9-4A6C-9CA1-90CA7125D0C5}"/>
              </a:ext>
            </a:extLst>
          </p:cNvPr>
          <p:cNvSpPr>
            <a:spLocks noGrp="1"/>
          </p:cNvSpPr>
          <p:nvPr/>
        </p:nvSpPr>
        <p:spPr>
          <a:xfrm>
            <a:off x="1695450" y="41910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Validate Warehouse base tables with SQL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5D31A99-169A-4B41-BE2A-E5993ABCA086}"/>
              </a:ext>
            </a:extLst>
          </p:cNvPr>
          <p:cNvSpPr>
            <a:spLocks noGrp="1"/>
          </p:cNvSpPr>
          <p:nvPr/>
        </p:nvSpPr>
        <p:spPr>
          <a:xfrm>
            <a:off x="1047750" y="4552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8C7CCF-25CB-4151-9B5B-AC1D9D67B506}"/>
              </a:ext>
            </a:extLst>
          </p:cNvPr>
          <p:cNvSpPr>
            <a:spLocks noGrp="1"/>
          </p:cNvSpPr>
          <p:nvPr/>
        </p:nvSpPr>
        <p:spPr>
          <a:xfrm>
            <a:off x="1181100" y="461962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209F14-0DE5-47C9-8A8A-5451599E8EE6}"/>
              </a:ext>
            </a:extLst>
          </p:cNvPr>
          <p:cNvSpPr>
            <a:spLocks noGrp="1"/>
          </p:cNvSpPr>
          <p:nvPr/>
        </p:nvSpPr>
        <p:spPr>
          <a:xfrm>
            <a:off x="1695450" y="45720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Validate CTAS outputs against their source logic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5E49DD1-F3EA-45E3-BCA6-3C0B080A4BFF}"/>
              </a:ext>
            </a:extLst>
          </p:cNvPr>
          <p:cNvSpPr>
            <a:spLocks noGrp="1"/>
          </p:cNvSpPr>
          <p:nvPr/>
        </p:nvSpPr>
        <p:spPr>
          <a:xfrm>
            <a:off x="1047750" y="4933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A874F5-AB0B-49F3-8E7C-EC3CAB2A0A9D}"/>
              </a:ext>
            </a:extLst>
          </p:cNvPr>
          <p:cNvSpPr>
            <a:spLocks noGrp="1"/>
          </p:cNvSpPr>
          <p:nvPr/>
        </p:nvSpPr>
        <p:spPr>
          <a:xfrm>
            <a:off x="1181100" y="500062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3748F7-26C8-4B51-BE7A-3CA5AB6844AB}"/>
              </a:ext>
            </a:extLst>
          </p:cNvPr>
          <p:cNvSpPr>
            <a:spLocks noGrp="1"/>
          </p:cNvSpPr>
          <p:nvPr/>
        </p:nvSpPr>
        <p:spPr>
          <a:xfrm>
            <a:off x="1695450" y="49530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Validate MERGE before state, operation, and after state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96082EA-3140-421B-9B75-418AE4080DF4}"/>
              </a:ext>
            </a:extLst>
          </p:cNvPr>
          <p:cNvSpPr>
            <a:spLocks noGrp="1"/>
          </p:cNvSpPr>
          <p:nvPr/>
        </p:nvSpPr>
        <p:spPr>
          <a:xfrm>
            <a:off x="1047750" y="53149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739614-73A5-49D1-B1BE-4EE81C57D174}"/>
              </a:ext>
            </a:extLst>
          </p:cNvPr>
          <p:cNvSpPr>
            <a:spLocks noGrp="1"/>
          </p:cNvSpPr>
          <p:nvPr/>
        </p:nvSpPr>
        <p:spPr>
          <a:xfrm>
            <a:off x="1181100" y="538162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2FC7C6-3583-4F10-AC3C-D1711ADE8448}"/>
              </a:ext>
            </a:extLst>
          </p:cNvPr>
          <p:cNvSpPr>
            <a:spLocks noGrp="1"/>
          </p:cNvSpPr>
          <p:nvPr/>
        </p:nvSpPr>
        <p:spPr>
          <a:xfrm>
            <a:off x="1695450" y="5334000"/>
            <a:ext cx="876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Reconcile Lakehouse and Warehouse aggregates</a:t>
            </a:r>
          </a:p>
        </p:txBody>
      </p:sp>
    </p:spTree>
    <p:extLst>
      <p:ext uri="{BB962C8B-B14F-4D97-AF65-F5344CB8AC3E}">
        <p14:creationId xmlns:p14="http://schemas.microsoft.com/office/powerpoint/2010/main" val="420486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5E75E41-2DA7-4B91-8652-0044A36A7D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39675-122D-4B34-BF78-B5EDB6976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D61EA1-803A-4721-B546-AFAE25407B9C}"/>
              </a:ext>
            </a:extLst>
          </p:cNvPr>
          <p:cNvSpPr>
            <a:spLocks noGrp="1"/>
          </p:cNvSpPr>
          <p:nvPr/>
        </p:nvSpPr>
        <p:spPr>
          <a:xfrm>
            <a:off x="9906000" y="-742950"/>
            <a:ext cx="2667000" cy="2667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3E8E4B-8A20-4240-8D9E-4118FD74B23B}"/>
              </a:ext>
            </a:extLst>
          </p:cNvPr>
          <p:cNvSpPr>
            <a:spLocks noGrp="1"/>
          </p:cNvSpPr>
          <p:nvPr/>
        </p:nvSpPr>
        <p:spPr>
          <a:xfrm>
            <a:off x="110299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63D2202-B5D7-478C-AC40-D4C92D7C6F4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FA6ACC-FA8B-4AF3-B1DD-7FB2CC7D1677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924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RECAP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266E3-D361-46B5-939E-1AC10DF2CE9A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DEF28D-27C2-420B-AF61-443272DAB1F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Recap and transition to Module 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ED7CAC-A846-4531-98CF-0D8357BB5608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AA08EC-127F-4D7E-B2AF-64C4277A1924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76200" cy="10668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B0A10C-8542-415A-AD7A-70636E71BB71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Delta history matters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1D57F1-8D1B-402E-8E5E-76E9FBAC3984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7072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 history is strong QA evidence for controlled change scenarios.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62B5A28-ECC7-475B-BD34-927A104DAF27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11CACC-18B4-4746-8CA7-78A9CA8AC34D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76200" cy="10668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6B1FBE-7C90-4531-AACE-83DCE768BE09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SQL is a validation asset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E7739A-2F8D-400C-908F-13807A19BAA0}"/>
              </a:ext>
            </a:extLst>
          </p:cNvPr>
          <p:cNvSpPr>
            <a:spLocks noGrp="1"/>
          </p:cNvSpPr>
          <p:nvPr/>
        </p:nvSpPr>
        <p:spPr>
          <a:xfrm>
            <a:off x="6248400" y="363855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9659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Warehouse SQL can become repeatable assertions, not just exploratory queries.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D6C689-7EB6-43EE-A107-6449EECC6E47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74CD16-2CE1-42B5-821F-712E2BCC87EA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324285-2947-4858-9616-A20A154EA1D3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CTAS and MERGE are testable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53A1C7-9442-4F75-9D9E-0B050DF57762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5759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Derived tables and mixed insert/update logic should be validated explicitly.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DD20BB2-DCF2-4153-9D9D-10C3A35012C1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1ECE4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AF0A03-1BD9-4B12-B2D0-385481280FAF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8CEDAE-0A45-4013-B7F7-244F2F5FACAC}"/>
              </a:ext>
            </a:extLst>
          </p:cNvPr>
          <p:cNvSpPr>
            <a:spLocks noGrp="1"/>
          </p:cNvSpPr>
          <p:nvPr/>
        </p:nvSpPr>
        <p:spPr>
          <a:xfrm>
            <a:off x="6248400" y="4591050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Reconciliation builds trust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3A8911-67EA-4A91-9E4B-5EFF8AC83228}"/>
              </a:ext>
            </a:extLst>
          </p:cNvPr>
          <p:cNvSpPr>
            <a:spLocks noGrp="1"/>
          </p:cNvSpPr>
          <p:nvPr/>
        </p:nvSpPr>
        <p:spPr>
          <a:xfrm>
            <a:off x="6248400" y="491490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9941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Comparing Lakehouse and Warehouse outputs is one of QA's strongest checks.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5C29910-FE4F-490A-979E-ED90FD8A2657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0496550" cy="552450"/>
          </a:xfrm>
          <a:prstGeom prst="roundRect">
            <a:avLst>
              <a:gd name="adj" fmla="val 13793"/>
            </a:avLst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B7CBB8-E312-453D-9AA2-CA78B5776B75}"/>
              </a:ext>
            </a:extLst>
          </p:cNvPr>
          <p:cNvSpPr>
            <a:spLocks noGrp="1"/>
          </p:cNvSpPr>
          <p:nvPr/>
        </p:nvSpPr>
        <p:spPr>
          <a:xfrm>
            <a:off x="1104900" y="5962650"/>
            <a:ext cx="990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Next up: Module 4 focuses on pipelines, semantic models, reports, and security testing across the end-to-end Fabric solution.</a:t>
            </a:r>
          </a:p>
        </p:txBody>
      </p:sp>
    </p:spTree>
    <p:extLst>
      <p:ext uri="{BB962C8B-B14F-4D97-AF65-F5344CB8AC3E}">
        <p14:creationId xmlns:p14="http://schemas.microsoft.com/office/powerpoint/2010/main" val="170426899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6018</Words>
  <Application>Microsoft Macintosh PowerPoint</Application>
  <DocSecurity>0</DocSecurity>
  <PresentationFormat>Widescreen</PresentationFormat>
  <Paragraphs>940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Mono</vt:lpstr>
      <vt:lpstr>Caladea</vt:lpstr>
      <vt:lpstr>Calibri</vt:lpstr>
      <vt:lpstr>Lato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Kishore Chowdary</cp:lastModifiedBy>
  <cp:revision>1</cp:revision>
  <dcterms:created xsi:type="dcterms:W3CDTF">2026-04-28T11:31:42Z</dcterms:created>
  <dcterms:modified xsi:type="dcterms:W3CDTF">2026-05-06T06:34:00Z</dcterms:modified>
</cp:coreProperties>
</file>