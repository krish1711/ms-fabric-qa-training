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3236"/>
  </p:normalViewPr>
  <p:slideViewPr>
    <p:cSldViewPr snapToGrid="0">
      <p:cViewPr varScale="1">
        <p:scale>
          <a:sx n="103" d="100"/>
          <a:sy n="103" d="100"/>
        </p:scale>
        <p:origin x="992" y="576"/>
      </p:cViewPr>
      <p:guideLst/>
    </p:cSldViewPr>
  </p:slideViewPr>
  <p:notesTextViewPr>
    <p:cViewPr>
      <p:scale>
        <a:sx n="1" d="1"/>
        <a:sy n="1" d="1"/>
      </p:scale>
      <p:origin x="0" y="-307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Day 5: Performance, Monitoring &amp; Test Automation Fundamentals</a:t>
            </a:r>
          </a:p>
          <a:p>
            <a:r>
              <a:rPr lang="en-IN" dirty="0"/>
              <a:t>This slide is answering the final module kickoff question:</a:t>
            </a:r>
          </a:p>
          <a:p>
            <a:r>
              <a:rPr lang="en-IN" dirty="0"/>
              <a:t>What does QA need to prove after correctness, storage, delivery, and security are already covered?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Day 5 is the operational finish to the course.</a:t>
            </a:r>
          </a:p>
          <a:p>
            <a:r>
              <a:rPr lang="en-IN" dirty="0"/>
              <a:t>It is about readiness, monitoring, and sensible automation rather than brand-new platform surfaces.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The Focus Shifts to Runtime Confidence</a:t>
            </a:r>
          </a:p>
          <a:p>
            <a:r>
              <a:rPr lang="en-IN" dirty="0"/>
              <a:t>Today QA starts validating:</a:t>
            </a:r>
          </a:p>
          <a:p>
            <a:r>
              <a:rPr lang="en-IN" dirty="0"/>
              <a:t>Runtime evidence</a:t>
            </a:r>
          </a:p>
          <a:p>
            <a:r>
              <a:rPr lang="en-IN" dirty="0"/>
              <a:t>Monitoring signals</a:t>
            </a:r>
          </a:p>
          <a:p>
            <a:r>
              <a:rPr lang="en-IN" dirty="0"/>
              <a:t>Performance comparisons</a:t>
            </a:r>
          </a:p>
          <a:p>
            <a:r>
              <a:rPr lang="en-IN" dirty="0"/>
              <a:t>A small automation starting point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goal is not to promise perfect speed.</a:t>
            </a:r>
          </a:p>
          <a:p>
            <a:r>
              <a:rPr lang="en-IN" dirty="0"/>
              <a:t>The goal is to understand what happened, compare behaviors, and decide whether the solution looks release-ready.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The Outcomes Define the Work</a:t>
            </a:r>
          </a:p>
          <a:p>
            <a:r>
              <a:rPr lang="en-IN" dirty="0"/>
              <a:t>By the end of the module, learners should be able to:</a:t>
            </a:r>
          </a:p>
          <a:p>
            <a:r>
              <a:rPr lang="en-IN" dirty="0"/>
              <a:t>Compare fast, slow, failed, and successful behaviors</a:t>
            </a:r>
          </a:p>
          <a:p>
            <a:r>
              <a:rPr lang="en-IN" dirty="0"/>
              <a:t>Capture monitoring evidence for release readiness</a:t>
            </a:r>
          </a:p>
          <a:p>
            <a:r>
              <a:rPr lang="en-IN" dirty="0"/>
              <a:t>Recognize runtime and capacity-risk signals</a:t>
            </a:r>
          </a:p>
          <a:p>
            <a:r>
              <a:rPr lang="en-IN" dirty="0"/>
              <a:t>Automate stable checks with a small pytest suite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Day 5 teaches learners that correct outputs still need operational evidence before a release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What we will cover in 30 minutes</a:t>
            </a:r>
          </a:p>
          <a:p>
            <a:r>
              <a:rPr lang="en-IN" dirty="0"/>
              <a:t>This slide is answering one pacing question:</a:t>
            </a:r>
          </a:p>
          <a:p>
            <a:r>
              <a:rPr lang="en-IN" dirty="0"/>
              <a:t>How does this session connect performance signals, monitoring evidence, and first-pass automation?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Set expectations clearly:</a:t>
            </a:r>
          </a:p>
          <a:p>
            <a:r>
              <a:rPr lang="en-IN" dirty="0"/>
              <a:t>This is not a deep admin module.</a:t>
            </a:r>
          </a:p>
          <a:p>
            <a:r>
              <a:rPr lang="en-IN" dirty="0"/>
              <a:t>This is not a full CI/CD module.</a:t>
            </a:r>
          </a:p>
          <a:p>
            <a:r>
              <a:rPr lang="en-IN" dirty="0"/>
              <a:t>It is a QA-ready view of performance, monitoring, and automation fundamentals.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Performance Checks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to compare fast and slow behavior without overpromising exact benchmarks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Monitoring Evidence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run history and Monitoring Hub support sign-off and retesting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Runtime Risk Signals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throttling symptoms and failure patterns show up to QA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Pytest Automation</a:t>
            </a:r>
          </a:p>
          <a:p>
            <a:r>
              <a:rPr lang="en-IN" dirty="0"/>
              <a:t>This section teaches:</a:t>
            </a:r>
          </a:p>
          <a:p>
            <a:r>
              <a:rPr lang="en-IN" dirty="0"/>
              <a:t>How to turn stable observed results into a small, useful automation suite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The session moves from what runtime signals mean into what evidence to keep and finally into what should be automated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Why Day 5 matters for QA</a:t>
            </a:r>
          </a:p>
          <a:p>
            <a:r>
              <a:rPr lang="en-IN" dirty="0"/>
              <a:t>This slide is answering one maturity question:</a:t>
            </a:r>
          </a:p>
          <a:p>
            <a:r>
              <a:rPr lang="en-IN" dirty="0"/>
              <a:t>Why is correctness alone not enough for release readiness?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reframes QA as release-readiness ownership, not just correctness checking.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Correct but Unstable</a:t>
            </a:r>
          </a:p>
          <a:p>
            <a:r>
              <a:rPr lang="en-IN" dirty="0"/>
              <a:t>A solution can return correct totals once and still show worrying runtime behavior under repeated runs.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should ask:</a:t>
            </a:r>
          </a:p>
          <a:p>
            <a:r>
              <a:rPr lang="en-IN" dirty="0"/>
              <a:t>Was the result correct?</a:t>
            </a:r>
          </a:p>
          <a:p>
            <a:r>
              <a:rPr lang="en-IN" dirty="0"/>
              <a:t>Was the behavior stable?</a:t>
            </a:r>
          </a:p>
          <a:p>
            <a:r>
              <a:rPr lang="en-IN" dirty="0"/>
              <a:t>Would this be trusted near release?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Monitoring Tells the Story</a:t>
            </a:r>
          </a:p>
          <a:p>
            <a:r>
              <a:rPr lang="en-IN" dirty="0"/>
              <a:t>Run statuses, durations, and failure details help QA explain:</a:t>
            </a:r>
          </a:p>
          <a:p>
            <a:r>
              <a:rPr lang="en-IN" dirty="0"/>
              <a:t>What happened</a:t>
            </a:r>
          </a:p>
          <a:p>
            <a:r>
              <a:rPr lang="en-IN" dirty="0"/>
              <a:t>Whether retesting worked</a:t>
            </a:r>
          </a:p>
          <a:p>
            <a:r>
              <a:rPr lang="en-IN" dirty="0"/>
              <a:t>Whether the issue looks isolated or repeatable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Automation Needs Judgment</a:t>
            </a:r>
          </a:p>
          <a:p>
            <a:r>
              <a:rPr lang="en-IN" dirty="0"/>
              <a:t>The slide reminds learners:</a:t>
            </a:r>
          </a:p>
          <a:p>
            <a:r>
              <a:rPr lang="en-IN" dirty="0"/>
              <a:t>The strongest first tests focus on stable truth sets.</a:t>
            </a:r>
          </a:p>
          <a:p>
            <a:r>
              <a:rPr lang="en-IN" dirty="0"/>
              <a:t>Not every visible behavior should be automated immediately.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Lesson:</a:t>
            </a:r>
          </a:p>
          <a:p>
            <a:r>
              <a:rPr lang="en-IN" dirty="0"/>
              <a:t>Release readiness means combining correctness, runtime evidence, and good judgment about what should be checked manually versus automatically.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Correct outputs still need runtime evidence before a release can be trusted.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Day 5 learning objectives</a:t>
            </a:r>
          </a:p>
          <a:p>
            <a:r>
              <a:rPr lang="en-IN" dirty="0"/>
              <a:t>This slide is answering one expectation-setting question:</a:t>
            </a:r>
          </a:p>
          <a:p>
            <a:r>
              <a:rPr lang="en-IN" dirty="0"/>
              <a:t>What practical skills should learners carry into real Fabric projects after this module?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contract slide for Day 5.</a:t>
            </a:r>
          </a:p>
          <a:p>
            <a:r>
              <a:rPr lang="en-IN" dirty="0"/>
              <a:t>It should feel like a set of job-ready skills, not abstract ideas.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Compare Durations</a:t>
            </a:r>
          </a:p>
          <a:p>
            <a:r>
              <a:rPr lang="en-IN" dirty="0"/>
              <a:t>Learners should know how to measure and compare fast and slow runtime behavior in a pipeline.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Inspect Failure Patterns</a:t>
            </a:r>
          </a:p>
          <a:p>
            <a:r>
              <a:rPr lang="en-IN" dirty="0"/>
              <a:t>Learners should know how to use run history to understand failed and successful runs.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Review Monitoring Evidence</a:t>
            </a:r>
          </a:p>
          <a:p>
            <a:r>
              <a:rPr lang="en-IN" dirty="0"/>
              <a:t>Learners should know what fields support release-readiness sign-off.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Recognize Risk Signals</a:t>
            </a:r>
          </a:p>
          <a:p>
            <a:r>
              <a:rPr lang="en-IN" dirty="0"/>
              <a:t>Learners should know which throttling symptoms and performance regressions are worth escalating.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5. Automate Stable Checks</a:t>
            </a:r>
          </a:p>
          <a:p>
            <a:r>
              <a:rPr lang="en-IN" dirty="0"/>
              <a:t>Learners should be able to run a small pytest suite against structured observed results.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By the end of Day 5, learners should know how to compare behavior, preserve evidence, judge risk, and automate the stable part of the QA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Performance validation surfaces in Fabric</a:t>
            </a:r>
          </a:p>
          <a:p>
            <a:r>
              <a:rPr lang="en-IN" dirty="0"/>
              <a:t>This slide is answering one orientation question:</a:t>
            </a:r>
          </a:p>
          <a:p>
            <a:r>
              <a:rPr lang="en-IN" dirty="0"/>
              <a:t>What runtime surfaces can QA actually observe and compare on Day 5?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establishes the runtime surfaces QA can actually see.</a:t>
            </a:r>
          </a:p>
          <a:p>
            <a:r>
              <a:rPr lang="en-IN" dirty="0"/>
              <a:t>It also sets up the automation slide later, because the automation layer sits on top of these observations.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Pipeline Activities</a:t>
            </a:r>
          </a:p>
          <a:p>
            <a:r>
              <a:rPr lang="en-IN" dirty="0"/>
              <a:t>QA can observe:</a:t>
            </a:r>
          </a:p>
          <a:p>
            <a:r>
              <a:rPr lang="en-IN" dirty="0"/>
              <a:t>Order</a:t>
            </a:r>
          </a:p>
          <a:p>
            <a:r>
              <a:rPr lang="en-IN" dirty="0"/>
              <a:t>Status</a:t>
            </a:r>
          </a:p>
          <a:p>
            <a:r>
              <a:rPr lang="en-IN" dirty="0"/>
              <a:t>Duration</a:t>
            </a:r>
          </a:p>
          <a:p>
            <a:r>
              <a:rPr lang="en-IN" dirty="0"/>
              <a:t>Rerun behavior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Warehouse Queries</a:t>
            </a:r>
          </a:p>
          <a:p>
            <a:r>
              <a:rPr lang="en-IN" dirty="0"/>
              <a:t>QA can observe: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Totals</a:t>
            </a:r>
          </a:p>
          <a:p>
            <a:r>
              <a:rPr lang="en-IN" dirty="0"/>
              <a:t>Duration</a:t>
            </a:r>
          </a:p>
          <a:p>
            <a:r>
              <a:rPr lang="en-IN" dirty="0"/>
              <a:t>Repeatability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Monitoring Surfaces</a:t>
            </a:r>
          </a:p>
          <a:p>
            <a:r>
              <a:rPr lang="en-IN" dirty="0"/>
              <a:t>QA can observe:</a:t>
            </a:r>
          </a:p>
          <a:p>
            <a:r>
              <a:rPr lang="en-IN" dirty="0"/>
              <a:t>Monitoring Hub</a:t>
            </a:r>
          </a:p>
          <a:p>
            <a:r>
              <a:rPr lang="en-IN" dirty="0"/>
              <a:t>Run history</a:t>
            </a:r>
          </a:p>
          <a:p>
            <a:r>
              <a:rPr lang="en-IN" dirty="0"/>
              <a:t>Activity detail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Automation Layer</a:t>
            </a:r>
          </a:p>
          <a:p>
            <a:r>
              <a:rPr lang="en-IN" dirty="0"/>
              <a:t>QA can observe and validate:</a:t>
            </a:r>
          </a:p>
          <a:p>
            <a:r>
              <a:rPr lang="en-IN" dirty="0"/>
              <a:t>Observed-results file</a:t>
            </a:r>
          </a:p>
          <a:p>
            <a:r>
              <a:rPr lang="en-IN" dirty="0"/>
              <a:t>Pytest validation output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These surfaces are important because Day 5 performance work is about the evidence QA can actually capture, not hidden platform internals.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Day 5 performance validation is built on observable surfaces, and automation should be layered on top of that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Pipeline duration checks</a:t>
            </a:r>
          </a:p>
          <a:p>
            <a:r>
              <a:rPr lang="en-IN" dirty="0"/>
              <a:t>This slide is answering one practical QA question:</a:t>
            </a:r>
          </a:p>
          <a:p>
            <a:r>
              <a:rPr lang="en-IN" dirty="0"/>
              <a:t>How should QA talk about runtime speed without overclaiming benchmark promises?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makes an important distinction:</a:t>
            </a:r>
          </a:p>
          <a:p>
            <a:r>
              <a:rPr lang="en-IN" dirty="0"/>
              <a:t>QA should compare relative behavior instead of promising exact theoretical speed.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What to Compare</a:t>
            </a:r>
          </a:p>
          <a:p>
            <a:r>
              <a:rPr lang="en-IN" dirty="0"/>
              <a:t>The slide suggests comparing:</a:t>
            </a:r>
          </a:p>
          <a:p>
            <a:r>
              <a:rPr lang="en-IN" dirty="0"/>
              <a:t>Fast activity versus slow activity duration</a:t>
            </a:r>
          </a:p>
          <a:p>
            <a:r>
              <a:rPr lang="en-IN" dirty="0"/>
              <a:t>First run versus successful rerun</a:t>
            </a:r>
          </a:p>
          <a:p>
            <a:r>
              <a:rPr lang="en-IN" dirty="0"/>
              <a:t>Which activities finished before the failure</a:t>
            </a:r>
          </a:p>
          <a:p>
            <a:r>
              <a:rPr lang="en-IN" dirty="0"/>
              <a:t>Whether slow behavior is consistent or erratic</a:t>
            </a:r>
          </a:p>
          <a:p>
            <a:r>
              <a:rPr lang="en-IN" dirty="0"/>
              <a:t>Whether durations changed after a fix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What Not to Assume</a:t>
            </a:r>
          </a:p>
          <a:p>
            <a:r>
              <a:rPr lang="en-IN" dirty="0"/>
              <a:t>The slide warns against assumptions such as:</a:t>
            </a:r>
          </a:p>
          <a:p>
            <a:r>
              <a:rPr lang="en-IN" dirty="0"/>
              <a:t>One slow run proves a platform problem</a:t>
            </a:r>
          </a:p>
          <a:p>
            <a:r>
              <a:rPr lang="en-IN" dirty="0"/>
              <a:t>One fast run guarantees production readiness</a:t>
            </a:r>
          </a:p>
          <a:p>
            <a:r>
              <a:rPr lang="en-IN" dirty="0"/>
              <a:t>Exact benchmark targets are universal</a:t>
            </a:r>
          </a:p>
          <a:p>
            <a:r>
              <a:rPr lang="en-IN" dirty="0"/>
              <a:t>The root cause is always obvious to QA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Lesson:</a:t>
            </a:r>
          </a:p>
          <a:p>
            <a:r>
              <a:rPr lang="en-IN" dirty="0"/>
              <a:t>Performance evidence is still useful even when root cause is unclear.</a:t>
            </a:r>
          </a:p>
          <a:p>
            <a:r>
              <a:rPr lang="en-IN" dirty="0"/>
              <a:t>QA should document the signal carefully instead of pretending to diagnose everything.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A useful QA performance check compares relative behavior and preserves the evidence without overpromising exact benchmark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Query-duration and workload signals</a:t>
            </a:r>
          </a:p>
          <a:p>
            <a:r>
              <a:rPr lang="en-IN" dirty="0"/>
              <a:t>This slide is answering one SQL-runtime question:</a:t>
            </a:r>
          </a:p>
          <a:p>
            <a:r>
              <a:rPr lang="en-IN" dirty="0"/>
              <a:t>How should QA evaluate query timing without losing sight of correctness?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Connect this to the Microsoft monitoring content, but keep it QA-first and evidence-oriented.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Truth-Set First</a:t>
            </a:r>
          </a:p>
          <a:p>
            <a:r>
              <a:rPr lang="en-IN" dirty="0"/>
              <a:t>Before interpreting runtime behavior, QA should first validate: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Totals</a:t>
            </a:r>
          </a:p>
          <a:p>
            <a:r>
              <a:rPr lang="en-IN" dirty="0"/>
              <a:t>Expected results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A fast wrong answer is still wrong.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Repeatable Patterns</a:t>
            </a:r>
          </a:p>
          <a:p>
            <a:r>
              <a:rPr lang="en-IN" dirty="0"/>
              <a:t>The slide emphasizes:</a:t>
            </a:r>
          </a:p>
          <a:p>
            <a:r>
              <a:rPr lang="en-IN" dirty="0"/>
              <a:t>Look for repeated slowdowns, not only one-off surprises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Useful Signals</a:t>
            </a:r>
          </a:p>
          <a:p>
            <a:r>
              <a:rPr lang="en-IN" dirty="0"/>
              <a:t>Signals worth attention include:</a:t>
            </a:r>
          </a:p>
          <a:p>
            <a:r>
              <a:rPr lang="en-IN" dirty="0"/>
              <a:t>High duration</a:t>
            </a:r>
          </a:p>
          <a:p>
            <a:r>
              <a:rPr lang="en-IN" dirty="0"/>
              <a:t>Long-running queries</a:t>
            </a:r>
          </a:p>
          <a:p>
            <a:r>
              <a:rPr lang="en-IN" dirty="0"/>
              <a:t>Frequent reruns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QA Evidence</a:t>
            </a:r>
          </a:p>
          <a:p>
            <a:r>
              <a:rPr lang="en-IN" dirty="0"/>
              <a:t>QA should record:</a:t>
            </a:r>
          </a:p>
          <a:p>
            <a:r>
              <a:rPr lang="en-IN" dirty="0"/>
              <a:t>The query used</a:t>
            </a:r>
          </a:p>
          <a:p>
            <a:r>
              <a:rPr lang="en-IN" dirty="0"/>
              <a:t>The context</a:t>
            </a:r>
          </a:p>
          <a:p>
            <a:r>
              <a:rPr lang="en-IN" dirty="0"/>
              <a:t>The observed runtime signal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Query checks are strongest when paired with a truth set and repeated under similar conditions so QA can compare patterns rather than isolated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Capacity pressure and throttling symptoms</a:t>
            </a:r>
          </a:p>
          <a:p>
            <a:r>
              <a:rPr lang="en-IN" dirty="0"/>
              <a:t>This slide is answering one operational QA question:</a:t>
            </a:r>
          </a:p>
          <a:p>
            <a:r>
              <a:rPr lang="en-IN" dirty="0"/>
              <a:t>What warning signs should QA recognize even when the platform root cause is not fully known?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Frame these as symptoms and signals, not definitive diagnoses.</a:t>
            </a:r>
          </a:p>
          <a:p>
            <a:r>
              <a:rPr lang="en-IN" dirty="0"/>
              <a:t>The QA role here is to document and escalate with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Runtime Warning Signs</a:t>
            </a:r>
          </a:p>
          <a:p>
            <a:r>
              <a:rPr lang="en-IN" dirty="0"/>
              <a:t>The slide lists useful symptoms such as:</a:t>
            </a:r>
          </a:p>
          <a:p>
            <a:r>
              <a:rPr lang="en-IN" dirty="0"/>
              <a:t>Unexpectedly longer activity durations</a:t>
            </a:r>
          </a:p>
          <a:p>
            <a:r>
              <a:rPr lang="en-IN" dirty="0"/>
              <a:t>Intermittent slow query behavior without data-shape changes</a:t>
            </a:r>
          </a:p>
          <a:p>
            <a:r>
              <a:rPr lang="en-IN" dirty="0"/>
              <a:t>Repeated retries, timeouts, or unstable completion patterns</a:t>
            </a:r>
          </a:p>
          <a:p>
            <a:r>
              <a:rPr lang="en-IN" dirty="0"/>
              <a:t>Behavior that changes by time window or competing workload</a:t>
            </a:r>
          </a:p>
          <a:p>
            <a:r>
              <a:rPr lang="en-IN" dirty="0"/>
              <a:t>User-visible refresh or report delays</a:t>
            </a:r>
          </a:p>
          <a:p>
            <a:r>
              <a:rPr lang="en-IN" dirty="0"/>
              <a:t>Monitoring evidence that suggests capacity or concurrency pressure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What QA Should Do</a:t>
            </a:r>
          </a:p>
          <a:p>
            <a:r>
              <a:rPr lang="en-IN" dirty="0"/>
              <a:t>Capture the symptom</a:t>
            </a:r>
          </a:p>
          <a:p>
            <a:r>
              <a:rPr lang="en-IN" dirty="0"/>
              <a:t>Note the timing</a:t>
            </a:r>
          </a:p>
          <a:p>
            <a:r>
              <a:rPr lang="en-IN" dirty="0"/>
              <a:t>Compare with similar runs</a:t>
            </a:r>
          </a:p>
          <a:p>
            <a:r>
              <a:rPr lang="en-IN" dirty="0"/>
              <a:t>Escalate with evidence when needed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Lesson:</a:t>
            </a:r>
          </a:p>
          <a:p>
            <a:r>
              <a:rPr lang="en-IN" dirty="0"/>
              <a:t>QA does not need to fully diagnose the platform to recognize that something is risky or unstable.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Capacity pressure and throttling symptoms are signals worth documenting, even when QA is not responsible for root-cause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Monitoring Hub and run-history evidence</a:t>
            </a:r>
          </a:p>
          <a:p>
            <a:r>
              <a:rPr lang="en-IN" dirty="0"/>
              <a:t>This slide is answering one evidence question:</a:t>
            </a:r>
          </a:p>
          <a:p>
            <a:r>
              <a:rPr lang="en-IN" dirty="0"/>
              <a:t>What monitoring details belong in QA sign-off and retest evidence?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where monitoring evidence becomes concrete.</a:t>
            </a:r>
          </a:p>
          <a:p>
            <a:r>
              <a:rPr lang="en-IN" dirty="0"/>
              <a:t>Monitoring Hub and run history are not just support tools. They are part of QA sign-off.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Status</a:t>
            </a:r>
          </a:p>
          <a:p>
            <a:r>
              <a:rPr lang="en-IN" dirty="0"/>
              <a:t>Capture:</a:t>
            </a:r>
          </a:p>
          <a:p>
            <a:r>
              <a:rPr lang="en-IN" dirty="0"/>
              <a:t>Overall run outcome</a:t>
            </a:r>
          </a:p>
          <a:p>
            <a:r>
              <a:rPr lang="en-IN" dirty="0"/>
              <a:t>Per-activity results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Timing</a:t>
            </a:r>
          </a:p>
          <a:p>
            <a:r>
              <a:rPr lang="en-IN" dirty="0"/>
              <a:t>Capture:</a:t>
            </a:r>
          </a:p>
          <a:p>
            <a:r>
              <a:rPr lang="en-IN" dirty="0"/>
              <a:t>Start time</a:t>
            </a:r>
          </a:p>
          <a:p>
            <a:r>
              <a:rPr lang="en-IN" dirty="0"/>
              <a:t>End time</a:t>
            </a:r>
          </a:p>
          <a:p>
            <a:r>
              <a:rPr lang="en-IN" dirty="0"/>
              <a:t>Duration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Failure Detail</a:t>
            </a:r>
          </a:p>
          <a:p>
            <a:r>
              <a:rPr lang="en-IN" dirty="0"/>
              <a:t>Capture:</a:t>
            </a:r>
          </a:p>
          <a:p>
            <a:r>
              <a:rPr lang="en-IN" dirty="0"/>
              <a:t>The actionable message from the failed step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Retest Evidence</a:t>
            </a:r>
          </a:p>
          <a:p>
            <a:r>
              <a:rPr lang="en-IN" dirty="0"/>
              <a:t>Capture:</a:t>
            </a:r>
          </a:p>
          <a:p>
            <a:r>
              <a:rPr lang="en-IN" dirty="0"/>
              <a:t>The later successful rerun</a:t>
            </a:r>
          </a:p>
          <a:p>
            <a:r>
              <a:rPr lang="en-IN" dirty="0"/>
              <a:t>Comparison with the failed run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Monitoring surfaces help QA build a clean story of what happened during a release-candidate run.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Good Day 5 QA evidence includes both the failure story and the retest story, supported by monitoring details and run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Warehouse monitoring artifacts and query history</a:t>
            </a:r>
          </a:p>
          <a:p>
            <a:r>
              <a:rPr lang="en-IN" dirty="0"/>
              <a:t>This slide is answering one investigation question:</a:t>
            </a:r>
          </a:p>
          <a:p>
            <a:r>
              <a:rPr lang="en-IN" dirty="0"/>
              <a:t>What extra monitoring surfaces can support QA when runtime behavior needs deeper investigation?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Tie this back to Microsoft content, but keep it framed as optional investigation surfaces rather than mandatory prerequisites for the lab.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Capacity Metrics</a:t>
            </a:r>
          </a:p>
          <a:p>
            <a:r>
              <a:rPr lang="en-IN" dirty="0"/>
              <a:t>Useful when QA sees:</a:t>
            </a:r>
          </a:p>
          <a:p>
            <a:r>
              <a:rPr lang="en-IN" dirty="0"/>
              <a:t>Broader runtime pressure</a:t>
            </a:r>
          </a:p>
          <a:p>
            <a:r>
              <a:rPr lang="en-IN" dirty="0"/>
              <a:t>Workload spikes</a:t>
            </a:r>
          </a:p>
          <a:p>
            <a:r>
              <a:rPr lang="en-IN" dirty="0"/>
              <a:t>Competing activity patterns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DMVs</a:t>
            </a:r>
          </a:p>
          <a:p>
            <a:r>
              <a:rPr lang="en-IN" dirty="0"/>
              <a:t>Useful for:</a:t>
            </a:r>
          </a:p>
          <a:p>
            <a:r>
              <a:rPr lang="en-IN" dirty="0"/>
              <a:t>Current activity</a:t>
            </a:r>
          </a:p>
          <a:p>
            <a:r>
              <a:rPr lang="en-IN" dirty="0"/>
              <a:t>Sessions</a:t>
            </a:r>
          </a:p>
          <a:p>
            <a:r>
              <a:rPr lang="en-IN" dirty="0"/>
              <a:t>Execution context during live investigation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Query Insights</a:t>
            </a:r>
          </a:p>
          <a:p>
            <a:r>
              <a:rPr lang="en-IN" dirty="0"/>
              <a:t>Useful for:</a:t>
            </a:r>
          </a:p>
          <a:p>
            <a:r>
              <a:rPr lang="en-IN" dirty="0"/>
              <a:t>Frequently run queries</a:t>
            </a:r>
          </a:p>
          <a:p>
            <a:r>
              <a:rPr lang="en-IN" dirty="0"/>
              <a:t>Long-running queries</a:t>
            </a:r>
          </a:p>
          <a:p>
            <a:r>
              <a:rPr lang="en-IN" dirty="0"/>
              <a:t>Historical patterns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Usage Caution</a:t>
            </a:r>
          </a:p>
          <a:p>
            <a:r>
              <a:rPr lang="en-IN" dirty="0"/>
              <a:t>Not every environment exposes every signal equally.</a:t>
            </a:r>
          </a:p>
          <a:p>
            <a:r>
              <a:rPr lang="en-IN" dirty="0"/>
              <a:t>QA should document what was available and what was not.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These monitoring artifacts are helpful investigation surfaces, but QA should treat them as supporting evidence rather than mandatory blockers for basic validation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Failure patterns and release readiness</a:t>
            </a:r>
          </a:p>
          <a:p>
            <a:r>
              <a:rPr lang="en-IN" dirty="0"/>
              <a:t>This slide is answering one readiness question:</a:t>
            </a:r>
          </a:p>
          <a:p>
            <a:r>
              <a:rPr lang="en-IN" dirty="0"/>
              <a:t>How should QA document a failure pattern so it becomes release evidence instead of just a nuisance?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should feel like the narrative anchor for the lab.</a:t>
            </a:r>
          </a:p>
          <a:p>
            <a:r>
              <a:rPr lang="en-IN" dirty="0"/>
              <a:t>It reinforces that a failure pattern is valuable evidence, not just an annoyance.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Run 1</a:t>
            </a:r>
          </a:p>
          <a:p>
            <a:r>
              <a:rPr lang="en-IN" dirty="0"/>
              <a:t>The build, fast, and slow activities succeed before the threshold gate fails.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means the run contains both useful success evidence and failure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Runtime Evidence</a:t>
            </a:r>
          </a:p>
          <a:p>
            <a:r>
              <a:rPr lang="en-IN" dirty="0"/>
              <a:t>QA records:</a:t>
            </a:r>
          </a:p>
          <a:p>
            <a:r>
              <a:rPr lang="en-IN" dirty="0"/>
              <a:t>Activity statuses</a:t>
            </a:r>
          </a:p>
          <a:p>
            <a:r>
              <a:rPr lang="en-IN" dirty="0"/>
              <a:t>Durations</a:t>
            </a:r>
          </a:p>
          <a:p>
            <a:r>
              <a:rPr lang="en-IN" dirty="0"/>
              <a:t>Failure message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Run 2</a:t>
            </a:r>
          </a:p>
          <a:p>
            <a:r>
              <a:rPr lang="en-IN" dirty="0"/>
              <a:t>The threshold notebook is replaced and the rerun succeeds cleanly.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What QA should prove:</a:t>
            </a:r>
          </a:p>
          <a:p>
            <a:r>
              <a:rPr lang="en-IN" dirty="0"/>
              <a:t>The failure was captured clearly</a:t>
            </a:r>
          </a:p>
          <a:p>
            <a:r>
              <a:rPr lang="en-IN" dirty="0"/>
              <a:t>The retest is visible</a:t>
            </a:r>
          </a:p>
          <a:p>
            <a:r>
              <a:rPr lang="en-IN" dirty="0"/>
              <a:t>The later run completed successfully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The Day 5 QA story is simple and strong: signal, document, retest.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What to automate first</a:t>
            </a:r>
          </a:p>
          <a:p>
            <a:r>
              <a:rPr lang="en-IN" dirty="0"/>
              <a:t>This slide is answering one prioritization question:</a:t>
            </a:r>
          </a:p>
          <a:p>
            <a:r>
              <a:rPr lang="en-IN" dirty="0"/>
              <a:t>Which checks should QA automate first when starting small?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where learners should start to see automation as a prioritization exercise instead of a tooling exercise.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Row Counts</a:t>
            </a:r>
          </a:p>
          <a:p>
            <a:r>
              <a:rPr lang="en-IN" dirty="0"/>
              <a:t>Why automate them first:</a:t>
            </a:r>
          </a:p>
          <a:p>
            <a:r>
              <a:rPr lang="en-IN" dirty="0"/>
              <a:t>They are stable</a:t>
            </a:r>
          </a:p>
          <a:p>
            <a:r>
              <a:rPr lang="en-IN" dirty="0"/>
              <a:t>Easy to trust</a:t>
            </a:r>
          </a:p>
          <a:p>
            <a:r>
              <a:rPr lang="en-IN" dirty="0"/>
              <a:t>Easy to explain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KPI Totals</a:t>
            </a:r>
          </a:p>
          <a:p>
            <a:r>
              <a:rPr lang="en-IN" dirty="0"/>
              <a:t>Stable totals and averages are excellent truth-set checks.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Region Aggregates</a:t>
            </a:r>
          </a:p>
          <a:p>
            <a:r>
              <a:rPr lang="en-IN" dirty="0"/>
              <a:t>Expected grouped values help catch obvious transformation defects.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Structured Statuses</a:t>
            </a:r>
          </a:p>
          <a:p>
            <a:r>
              <a:rPr lang="en-IN" dirty="0"/>
              <a:t>Pipeline statuses and simple duration comparisons work well once captured as data.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These are good first targets because they are high-value and easy to explain when they fail.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Good first automation targets are stable, high-value, and easy to defend as useful QA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What should stay manual at first</a:t>
            </a:r>
          </a:p>
          <a:p>
            <a:r>
              <a:rPr lang="en-IN" dirty="0"/>
              <a:t>This slide is answering one restraint question:</a:t>
            </a:r>
          </a:p>
          <a:p>
            <a:r>
              <a:rPr lang="en-IN" dirty="0"/>
              <a:t>Which Day 5 checks still need human judgment even if the QA workflow is becoming more mature?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is important because it prevents the audience from overautomating too early.</a:t>
            </a:r>
          </a:p>
          <a:p>
            <a:r>
              <a:rPr lang="en-IN" dirty="0"/>
              <a:t>The message is that automation sits on top of judgment.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Checks That Should Stay Manual Early On</a:t>
            </a:r>
          </a:p>
          <a:p>
            <a:r>
              <a:rPr lang="en-IN" dirty="0"/>
              <a:t>The slide lists examples such as:</a:t>
            </a:r>
          </a:p>
          <a:p>
            <a:r>
              <a:rPr lang="en-IN" dirty="0"/>
              <a:t>Deciding whether a duration is acceptable for a specific production environment</a:t>
            </a:r>
          </a:p>
          <a:p>
            <a:r>
              <a:rPr lang="en-IN" dirty="0"/>
              <a:t>Interpreting broad capacity-pressure symptoms across multiple workloads</a:t>
            </a:r>
          </a:p>
          <a:p>
            <a:r>
              <a:rPr lang="en-IN" dirty="0"/>
              <a:t>Exploratory troubleshooting after an unexpected runtime anomaly</a:t>
            </a:r>
          </a:p>
          <a:p>
            <a:r>
              <a:rPr lang="en-IN" dirty="0"/>
              <a:t>UI-dependent monitoring views that change with filtering or environment setup</a:t>
            </a:r>
          </a:p>
          <a:p>
            <a:r>
              <a:rPr lang="en-IN" dirty="0"/>
              <a:t>Judgment calls about escalation severity and release risk</a:t>
            </a:r>
          </a:p>
          <a:p>
            <a:r>
              <a:rPr lang="en-IN" dirty="0"/>
              <a:t>Root-cause analysis beyond the packaged truth set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Lesson:</a:t>
            </a:r>
          </a:p>
          <a:p>
            <a:r>
              <a:rPr lang="en-IN" dirty="0"/>
              <a:t>Passing automation does not replace human interpretation where context, environment, or business risk still matters.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Some Day 5 checks still need human interpretation, and good QA teams are careful about what they automate too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Pytest-oriented automation architecture</a:t>
            </a:r>
          </a:p>
          <a:p>
            <a:r>
              <a:rPr lang="en-IN" dirty="0"/>
              <a:t>This slide is answering one implementation question:</a:t>
            </a:r>
          </a:p>
          <a:p>
            <a:r>
              <a:rPr lang="en-IN" dirty="0"/>
              <a:t>What is the simplest automation pattern learners can start with on Day 5?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should make automation feel approachable.</a:t>
            </a:r>
          </a:p>
          <a:p>
            <a:r>
              <a:rPr lang="en-IN" dirty="0"/>
              <a:t>The pattern is intentionally simple so learners can see how to grow it later.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Observe</a:t>
            </a:r>
          </a:p>
          <a:p>
            <a:r>
              <a:rPr lang="en-IN" dirty="0"/>
              <a:t>Capture statuses, durations, and SQL results from Fabric.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Structure</a:t>
            </a:r>
          </a:p>
          <a:p>
            <a:r>
              <a:rPr lang="en-IN" dirty="0"/>
              <a:t>Copy those observations into a JSON file.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Validate</a:t>
            </a:r>
          </a:p>
          <a:p>
            <a:r>
              <a:rPr lang="en-IN" dirty="0"/>
              <a:t>Run pytest to compare observations to the truth set.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Expand</a:t>
            </a:r>
          </a:p>
          <a:p>
            <a:r>
              <a:rPr lang="en-IN" dirty="0"/>
              <a:t>Add more stable checks as the QA suite matures.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 example file test_day5_results.py checks:</a:t>
            </a:r>
          </a:p>
          <a:p>
            <a:r>
              <a:rPr lang="en-IN" dirty="0"/>
              <a:t>Statuses</a:t>
            </a:r>
          </a:p>
          <a:p>
            <a:r>
              <a:rPr lang="en-IN" dirty="0"/>
              <a:t>Counts</a:t>
            </a:r>
          </a:p>
          <a:p>
            <a:r>
              <a:rPr lang="en-IN" dirty="0"/>
              <a:t>Totals</a:t>
            </a:r>
          </a:p>
          <a:p>
            <a:r>
              <a:rPr lang="en-IN" dirty="0"/>
              <a:t>Duration pattern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The Day 5 automation pattern is lightweight on purpose: observe first, structure the evidence, validate it, then expand gradually.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Sample Day 5 scenario</a:t>
            </a:r>
          </a:p>
          <a:p>
            <a:r>
              <a:rPr lang="en-IN" dirty="0"/>
              <a:t>This slide is answering one practical learner question:</a:t>
            </a:r>
          </a:p>
          <a:p>
            <a:r>
              <a:rPr lang="en-IN" dirty="0"/>
              <a:t>What runtime story ties the module together in the lab?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previews the lab story in a tight way.</a:t>
            </a:r>
          </a:p>
          <a:p>
            <a:r>
              <a:rPr lang="en-IN" dirty="0"/>
              <a:t>It should make the lab feel purposeful and connected to the module goals.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Build Step</a:t>
            </a:r>
          </a:p>
          <a:p>
            <a:r>
              <a:rPr lang="en-IN" dirty="0"/>
              <a:t>Creates curated Lakehouse tables and a regional sales summary.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Fast and Slow Checks</a:t>
            </a:r>
          </a:p>
          <a:p>
            <a:r>
              <a:rPr lang="en-IN" dirty="0"/>
              <a:t>Expose a visible duration difference in the same pipeline.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Threshold Failure</a:t>
            </a:r>
          </a:p>
          <a:p>
            <a:r>
              <a:rPr lang="en-IN" dirty="0"/>
              <a:t>Creates a clear failed run for monitoring and retest evidence.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Pytest Closeout</a:t>
            </a:r>
          </a:p>
          <a:p>
            <a:r>
              <a:rPr lang="en-IN" dirty="0"/>
              <a:t>Turns the observed results into an automated confidence check.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The Day 5 scenario is small and focused so learners can concentrate on evidence capture, comparison, and automation instead of setup complexity.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Day 5 lab flow</a:t>
            </a:r>
          </a:p>
          <a:p>
            <a:r>
              <a:rPr lang="en-IN" dirty="0"/>
              <a:t>This slide is answering one practical lab question:</a:t>
            </a:r>
          </a:p>
          <a:p>
            <a:r>
              <a:rPr lang="en-IN" dirty="0"/>
              <a:t>What order should learners follow so the Day 5 exercise stays easy to manage?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helps with live pacing and reinforces that the automation step comes after the evidence-capture step.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Upload Files</a:t>
            </a:r>
          </a:p>
          <a:p>
            <a:r>
              <a:rPr lang="en-IN" dirty="0"/>
              <a:t>Create the workspace, Lakehouse, and notebooks.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Run Pipeline</a:t>
            </a:r>
          </a:p>
          <a:p>
            <a:r>
              <a:rPr lang="en-IN" dirty="0"/>
              <a:t>Capture fast, slow, and failed behavior.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Rerun Successfully</a:t>
            </a:r>
          </a:p>
          <a:p>
            <a:r>
              <a:rPr lang="en-IN" dirty="0"/>
              <a:t>Switch the threshold step and confirm clean completion.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Validate SQL</a:t>
            </a:r>
          </a:p>
          <a:p>
            <a:r>
              <a:rPr lang="en-IN" dirty="0"/>
              <a:t>Load the Warehouse and confirm the truth set.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5. Run Pytest</a:t>
            </a:r>
          </a:p>
          <a:p>
            <a:r>
              <a:rPr lang="en-IN" dirty="0"/>
              <a:t>Populate the observed-results file and automate the stable checks.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The hands-on flow moves from runtime observation into validation and only then into automation, which is exactly the right order for QA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Expected outputs and automation results</a:t>
            </a:r>
          </a:p>
          <a:p>
            <a:r>
              <a:rPr lang="en-IN" dirty="0"/>
              <a:t>This slide is answering one truth-set question:</a:t>
            </a:r>
          </a:p>
          <a:p>
            <a:r>
              <a:rPr lang="en-IN" dirty="0"/>
              <a:t>What exact results should learners use for both manual validation and automation?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anchors the expected-results document and the automation suite.</a:t>
            </a:r>
          </a:p>
          <a:p>
            <a:r>
              <a:rPr lang="en-IN" dirty="0"/>
              <a:t>It shows both the data truth set and the runtime truth set.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Warehouse KPIs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Total Sales: 5070.00</a:t>
            </a:r>
          </a:p>
          <a:p>
            <a:r>
              <a:rPr lang="en-IN" dirty="0"/>
              <a:t>Order Count: 10</a:t>
            </a:r>
          </a:p>
          <a:p>
            <a:r>
              <a:rPr lang="en-IN" dirty="0"/>
              <a:t>Average Order Value: 507.00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Region Totals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East: 1590.00</a:t>
            </a:r>
          </a:p>
          <a:p>
            <a:r>
              <a:rPr lang="en-IN" dirty="0"/>
              <a:t>North: 1530.00</a:t>
            </a:r>
          </a:p>
          <a:p>
            <a:r>
              <a:rPr lang="en-IN" dirty="0"/>
              <a:t>South: 390.00</a:t>
            </a:r>
          </a:p>
          <a:p>
            <a:r>
              <a:rPr lang="en-IN" dirty="0"/>
              <a:t>West: 1560.00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Runtime Expectation</a:t>
            </a:r>
          </a:p>
          <a:p>
            <a:r>
              <a:rPr lang="en-IN" dirty="0"/>
              <a:t>Expected:</a:t>
            </a:r>
          </a:p>
          <a:p>
            <a:r>
              <a:rPr lang="en-IN" dirty="0"/>
              <a:t>Run 1 fails</a:t>
            </a:r>
          </a:p>
          <a:p>
            <a:r>
              <a:rPr lang="en-IN" dirty="0"/>
              <a:t>Run 2 succeeds</a:t>
            </a:r>
          </a:p>
          <a:p>
            <a:r>
              <a:rPr lang="en-IN" dirty="0"/>
              <a:t>Slow step is greater than fast step</a:t>
            </a:r>
          </a:p>
          <a:p>
            <a:r>
              <a:rPr lang="en-IN" dirty="0"/>
              <a:t>Pytest passes after JSON is populated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Lesson:</a:t>
            </a:r>
          </a:p>
          <a:p>
            <a:r>
              <a:rPr lang="en-IN" dirty="0"/>
              <a:t>This is a compact truth set, which makes both manual review and automated checks easier to understand and defend.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Day 5 works best when the expected data outputs and the expected runtime pattern are both clear and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Common Day 5 pitfalls</a:t>
            </a:r>
          </a:p>
          <a:p>
            <a:r>
              <a:rPr lang="en-IN" dirty="0"/>
              <a:t>This slide is answering one caution question:</a:t>
            </a:r>
          </a:p>
          <a:p>
            <a:r>
              <a:rPr lang="en-IN" dirty="0"/>
              <a:t>What mistakes are most likely to create false confidence in release-readiness testing?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slide should help learners avoid false confidence.</a:t>
            </a:r>
          </a:p>
          <a:p>
            <a:r>
              <a:rPr lang="en-IN" dirty="0"/>
              <a:t>The key message is that automation complements evidence capture rather than replacing it.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Common Pitfalls</a:t>
            </a:r>
          </a:p>
          <a:p>
            <a:r>
              <a:rPr lang="en-IN" dirty="0"/>
              <a:t>The slide warns against:</a:t>
            </a:r>
          </a:p>
          <a:p>
            <a:r>
              <a:rPr lang="en-IN" dirty="0"/>
              <a:t>Interpreting one noisy slow run as a definitive platform defect</a:t>
            </a:r>
          </a:p>
          <a:p>
            <a:r>
              <a:rPr lang="en-IN" dirty="0"/>
              <a:t>Skipping truth-set validation and focusing on timing alone</a:t>
            </a:r>
          </a:p>
          <a:p>
            <a:r>
              <a:rPr lang="en-IN" dirty="0"/>
              <a:t>Forgetting to capture the failed run before rerunning the pipeline</a:t>
            </a:r>
          </a:p>
          <a:p>
            <a:r>
              <a:rPr lang="en-IN" dirty="0"/>
              <a:t>Trying to automate subjective monitoring-screen observations too early</a:t>
            </a:r>
          </a:p>
          <a:p>
            <a:r>
              <a:rPr lang="en-IN" dirty="0"/>
              <a:t>Hard-coding values without documenting where the observations came from</a:t>
            </a:r>
          </a:p>
          <a:p>
            <a:r>
              <a:rPr lang="en-IN" dirty="0"/>
              <a:t>Assuming passing pytest means no manual review is needed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QA Lesson:</a:t>
            </a:r>
          </a:p>
          <a:p>
            <a:r>
              <a:rPr lang="en-IN" dirty="0"/>
              <a:t>Runtime QA gets weaker when teams skip evidence discipline or let automation hide uncertainty.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Day 5 confidence comes from combining truth-set validation, runtime evidence, and careful automation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Day 5 validation checklist</a:t>
            </a:r>
          </a:p>
          <a:p>
            <a:r>
              <a:rPr lang="en-IN" dirty="0"/>
              <a:t>This slide is answering one practical takeaway question:</a:t>
            </a:r>
          </a:p>
          <a:p>
            <a:r>
              <a:rPr lang="en-IN" dirty="0"/>
              <a:t>What reusable readiness checklist should learners carry forward after the course?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This is the practical take-home slide.</a:t>
            </a:r>
          </a:p>
          <a:p>
            <a:r>
              <a:rPr lang="en-IN" dirty="0"/>
              <a:t>It should read like a reusable readiness checklist, not a generic recap.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Validate the truth set before interpreting runtime behavior</a:t>
            </a:r>
          </a:p>
          <a:p>
            <a:r>
              <a:rPr lang="en-IN" dirty="0"/>
              <a:t>2. Capture failed and successful run evidence from history or Monitoring Hub</a:t>
            </a:r>
          </a:p>
          <a:p>
            <a:r>
              <a:rPr lang="en-IN" dirty="0"/>
              <a:t>3. Compare fast and slow activity durations under similar conditions</a:t>
            </a:r>
          </a:p>
          <a:p>
            <a:r>
              <a:rPr lang="en-IN" dirty="0"/>
              <a:t>4. Document runtime signals and release-readiness concerns clearly</a:t>
            </a:r>
          </a:p>
          <a:p>
            <a:r>
              <a:rPr lang="en-IN" dirty="0"/>
              <a:t>5. Automate the stable checks with structured observed results</a:t>
            </a:r>
          </a:p>
          <a:p>
            <a:r>
              <a:rPr lang="en-IN" dirty="0"/>
              <a:t>6. Keep subjective or environment-dependent checks manual at first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These steps matter because they help QA stay grounded in evidence instead of reacting to isolated impressions.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If learners can follow this checklist confidently, they understand the Day 5 release-readiness mindset.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What This Slide Really Means (QA Perspective)</a:t>
            </a:r>
          </a:p>
          <a:p>
            <a:r>
              <a:rPr lang="en-IN" dirty="0"/>
              <a:t>The title says:</a:t>
            </a:r>
          </a:p>
          <a:p>
            <a:r>
              <a:rPr lang="en-IN" dirty="0"/>
              <a:t>Recap and course close</a:t>
            </a:r>
          </a:p>
          <a:p>
            <a:r>
              <a:rPr lang="en-IN" dirty="0"/>
              <a:t>This slide is answering the final course question:</a:t>
            </a:r>
          </a:p>
          <a:p>
            <a:r>
              <a:rPr lang="en-IN" dirty="0"/>
              <a:t>What has the learner gained by the end of all five modules?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Close the full course here so the arc feels complete:</a:t>
            </a:r>
          </a:p>
          <a:p>
            <a:r>
              <a:rPr lang="en-IN" dirty="0"/>
              <a:t>Navigate Fabric</a:t>
            </a:r>
          </a:p>
          <a:p>
            <a:r>
              <a:rPr lang="en-IN" dirty="0"/>
              <a:t>Validate data</a:t>
            </a:r>
          </a:p>
          <a:p>
            <a:r>
              <a:rPr lang="en-IN" dirty="0"/>
              <a:t>Validate storage</a:t>
            </a:r>
          </a:p>
          <a:p>
            <a:r>
              <a:rPr lang="en-IN" dirty="0"/>
              <a:t>Validate delivery and security</a:t>
            </a:r>
          </a:p>
          <a:p>
            <a:r>
              <a:rPr lang="en-IN" dirty="0"/>
              <a:t>Validate readiness and automation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1. Performance Is Comparative</a:t>
            </a:r>
          </a:p>
          <a:p>
            <a:r>
              <a:rPr lang="en-IN" dirty="0"/>
              <a:t>QA should compare behavior and document signals rather than promise universal benchmarks.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2. Monitoring Is Evidence</a:t>
            </a:r>
          </a:p>
          <a:p>
            <a:r>
              <a:rPr lang="en-IN" dirty="0"/>
              <a:t>Run history and monitoring details belong in release-readiness validation.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3. Automation Starts Small</a:t>
            </a:r>
          </a:p>
          <a:p>
            <a:r>
              <a:rPr lang="en-IN" dirty="0"/>
              <a:t>Stable truth-set checks are the best first pytest targets.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4. Full-Course Outcome</a:t>
            </a:r>
          </a:p>
          <a:p>
            <a:r>
              <a:rPr lang="en-IN" dirty="0"/>
              <a:t>Learners can now validate:</a:t>
            </a:r>
          </a:p>
          <a:p>
            <a:r>
              <a:rPr lang="en-IN" dirty="0"/>
              <a:t>Fabric architecture</a:t>
            </a:r>
          </a:p>
          <a:p>
            <a:r>
              <a:rPr lang="en-IN" dirty="0"/>
              <a:t>Data quality</a:t>
            </a:r>
          </a:p>
          <a:p>
            <a:r>
              <a:rPr lang="en-IN" dirty="0"/>
              <a:t>Storage behavior</a:t>
            </a:r>
          </a:p>
          <a:p>
            <a:r>
              <a:rPr lang="en-IN" dirty="0"/>
              <a:t>Reporting and security</a:t>
            </a:r>
          </a:p>
          <a:p>
            <a:r>
              <a:rPr lang="en-IN" dirty="0"/>
              <a:t>Runtime readiness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Final Understanding:</a:t>
            </a:r>
          </a:p>
          <a:p>
            <a:r>
              <a:rPr lang="en-IN" dirty="0"/>
              <a:t>Day 5 completes the QA journey from Fabric basics into operational confidence and sensible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05EBDF3-E64D-4EF0-AFA8-5BC1FB78B3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E33446D-6EA0-4E00-9A21-17E029614D4C}"/>
              </a:ext>
            </a:extLst>
          </p:cNvPr>
          <p:cNvSpPr>
            <a:spLocks noGrp="1"/>
          </p:cNvSpPr>
          <p:nvPr/>
        </p:nvSpPr>
        <p:spPr>
          <a:xfrm>
            <a:off x="8343900" y="666750"/>
            <a:ext cx="3181350" cy="318135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9FF3246-2E01-4711-ACD4-60241B66E87B}"/>
              </a:ext>
            </a:extLst>
          </p:cNvPr>
          <p:cNvSpPr>
            <a:spLocks noGrp="1"/>
          </p:cNvSpPr>
          <p:nvPr/>
        </p:nvSpPr>
        <p:spPr>
          <a:xfrm>
            <a:off x="9734550" y="2419350"/>
            <a:ext cx="1714500" cy="17145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89705CE-A5AC-436A-BECC-B26335213BB3}"/>
              </a:ext>
            </a:extLst>
          </p:cNvPr>
          <p:cNvSpPr>
            <a:spLocks noGrp="1"/>
          </p:cNvSpPr>
          <p:nvPr/>
        </p:nvSpPr>
        <p:spPr>
          <a:xfrm>
            <a:off x="8934450" y="4457700"/>
            <a:ext cx="2038350" cy="2038350"/>
          </a:xfrm>
          <a:prstGeom prst="ellipse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755D30-BDF9-44F6-BF42-61F2EFED21B2}"/>
              </a:ext>
            </a:extLst>
          </p:cNvPr>
          <p:cNvSpPr>
            <a:spLocks noGrp="1"/>
          </p:cNvSpPr>
          <p:nvPr/>
        </p:nvSpPr>
        <p:spPr>
          <a:xfrm>
            <a:off x="7543800" y="1333500"/>
            <a:ext cx="2324100" cy="952500"/>
          </a:xfrm>
          <a:prstGeom prst="roundRect">
            <a:avLst>
              <a:gd name="adj" fmla="val 8000"/>
            </a:avLst>
          </a:prstGeom>
          <a:solidFill>
            <a:srgbClr val="FFFFFF">
              <a:alpha val="9020"/>
            </a:srgbClr>
          </a:solidFill>
          <a:ln w="0">
            <a:solidFill>
              <a:srgbClr val="FFFFFF">
                <a:alpha val="9020"/>
              </a:srgbClr>
            </a:solidFill>
            <a:prstDash val="solid"/>
          </a:ln>
        </p:spPr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D42F0B4-7D62-4250-835F-B169C9B121C7}"/>
              </a:ext>
            </a:extLst>
          </p:cNvPr>
          <p:cNvSpPr>
            <a:spLocks noGrp="1"/>
          </p:cNvSpPr>
          <p:nvPr/>
        </p:nvSpPr>
        <p:spPr>
          <a:xfrm>
            <a:off x="8096250" y="2590800"/>
            <a:ext cx="2495550" cy="1085850"/>
          </a:xfrm>
          <a:prstGeom prst="roundRect">
            <a:avLst>
              <a:gd name="adj" fmla="val 7018"/>
            </a:avLst>
          </a:prstGeom>
          <a:solidFill>
            <a:srgbClr val="FFFFFF">
              <a:alpha val="11373"/>
            </a:srgbClr>
          </a:solidFill>
          <a:ln w="0">
            <a:solidFill>
              <a:srgbClr val="FFFFFF">
                <a:alpha val="11373"/>
              </a:srgbClr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5827F52-F175-4CE7-B12E-8675AA4CBE93}"/>
              </a:ext>
            </a:extLst>
          </p:cNvPr>
          <p:cNvSpPr>
            <a:spLocks noGrp="1"/>
          </p:cNvSpPr>
          <p:nvPr/>
        </p:nvSpPr>
        <p:spPr>
          <a:xfrm>
            <a:off x="7353300" y="3943350"/>
            <a:ext cx="2343150" cy="876300"/>
          </a:xfrm>
          <a:prstGeom prst="roundRect">
            <a:avLst>
              <a:gd name="adj" fmla="val 8696"/>
            </a:avLst>
          </a:prstGeom>
          <a:solidFill>
            <a:srgbClr val="FFFFFF">
              <a:alpha val="9020"/>
            </a:srgbClr>
          </a:solidFill>
          <a:ln w="0">
            <a:solidFill>
              <a:srgbClr val="FFFFFF">
                <a:alpha val="902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76992D-8EC3-4533-A45D-66AE1C1F1A0F}"/>
              </a:ext>
            </a:extLst>
          </p:cNvPr>
          <p:cNvSpPr>
            <a:spLocks noGrp="1"/>
          </p:cNvSpPr>
          <p:nvPr/>
        </p:nvSpPr>
        <p:spPr>
          <a:xfrm>
            <a:off x="723900" y="838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4EFF1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D4EFF1"/>
                </a:solidFill>
                <a:latin typeface="Aptos Mono"/>
                <a:ea typeface="Aptos Mono"/>
                <a:cs typeface="Aptos Mono"/>
              </a:rPr>
              <a:t>MICROSOFT FABRIC QA TRAINING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9DD8CDB-FDBD-43AC-8E79-DAE47CFD6AD0}"/>
              </a:ext>
            </a:extLst>
          </p:cNvPr>
          <p:cNvSpPr>
            <a:spLocks noGrp="1"/>
          </p:cNvSpPr>
          <p:nvPr/>
        </p:nvSpPr>
        <p:spPr>
          <a:xfrm>
            <a:off x="723900" y="1219200"/>
            <a:ext cx="6667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lang="en-US" sz="2775" b="1" dirty="0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Module</a:t>
            </a:r>
            <a:r>
              <a:rPr sz="2775" b="1" dirty="0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 5: Performance, Monitoring &amp; Test Automation Fundamentals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1ED001-7E69-455B-9225-C4EF06115C68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5905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E6EEF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E6EEF2"/>
                </a:solidFill>
                <a:latin typeface="Lato"/>
                <a:ea typeface="Lato"/>
                <a:cs typeface="Lato"/>
              </a:rPr>
              <a:t>A QA-first walkthrough of runtime evidence, monitoring signals, throttling symptoms, and a practical pytest starting point for Fabric validation.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B822425-75D3-457F-922F-7D34750C1221}"/>
              </a:ext>
            </a:extLst>
          </p:cNvPr>
          <p:cNvSpPr>
            <a:spLocks noGrp="1"/>
          </p:cNvSpPr>
          <p:nvPr/>
        </p:nvSpPr>
        <p:spPr>
          <a:xfrm>
            <a:off x="742950" y="3352800"/>
            <a:ext cx="17907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0A4AD2-100E-4420-BA93-219CF2104D5F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30 MINUTE SESSION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D10D7C-C482-4921-8B65-CDC1B0F54B95}"/>
              </a:ext>
            </a:extLst>
          </p:cNvPr>
          <p:cNvSpPr>
            <a:spLocks noGrp="1"/>
          </p:cNvSpPr>
          <p:nvPr/>
        </p:nvSpPr>
        <p:spPr>
          <a:xfrm>
            <a:off x="2647950" y="3352800"/>
            <a:ext cx="211455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E6315B-E182-4610-BB50-8AD702068937}"/>
              </a:ext>
            </a:extLst>
          </p:cNvPr>
          <p:cNvSpPr>
            <a:spLocks noGrp="1"/>
          </p:cNvSpPr>
          <p:nvPr/>
        </p:nvSpPr>
        <p:spPr>
          <a:xfrm>
            <a:off x="2781300" y="3429000"/>
            <a:ext cx="18478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20 PRESENTATION SLIDES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1F39880-9E06-4986-B3A1-344C0F489CAE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5695950" cy="1790700"/>
          </a:xfrm>
          <a:prstGeom prst="roundRect">
            <a:avLst>
              <a:gd name="adj" fmla="val 4255"/>
            </a:avLst>
          </a:prstGeom>
          <a:solidFill>
            <a:srgbClr val="FFFFFF">
              <a:alpha val="7843"/>
            </a:srgbClr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CE9D9F-423A-4301-8956-3DF9A4A8108F}"/>
              </a:ext>
            </a:extLst>
          </p:cNvPr>
          <p:cNvSpPr>
            <a:spLocks noGrp="1"/>
          </p:cNvSpPr>
          <p:nvPr/>
        </p:nvSpPr>
        <p:spPr>
          <a:xfrm>
            <a:off x="723900" y="4000500"/>
            <a:ext cx="76200" cy="179070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4B7E6A-ADEA-494A-8DC5-D1FBAAF3DD6D}"/>
              </a:ext>
            </a:extLst>
          </p:cNvPr>
          <p:cNvSpPr>
            <a:spLocks noGrp="1"/>
          </p:cNvSpPr>
          <p:nvPr/>
        </p:nvSpPr>
        <p:spPr>
          <a:xfrm>
            <a:off x="971550" y="4248150"/>
            <a:ext cx="4857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By the end of this module, learners should be able to: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BC6300-39C1-4BB2-B8B4-4AF2DC151009}"/>
              </a:ext>
            </a:extLst>
          </p:cNvPr>
          <p:cNvSpPr>
            <a:spLocks noGrp="1"/>
          </p:cNvSpPr>
          <p:nvPr/>
        </p:nvSpPr>
        <p:spPr>
          <a:xfrm>
            <a:off x="990600" y="4610100"/>
            <a:ext cx="49911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Compare fast, slow, failed, and successful behaviors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Capture monitoring evidence for release readiness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Recognize runtime and capacity-risk signals</a:t>
            </a:r>
          </a:p>
          <a:p>
            <a:pPr algn="l">
              <a:defRPr sz="1275" b="0">
                <a:solidFill>
                  <a:srgbClr val="F3F7F9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F3F7F9"/>
                </a:solidFill>
                <a:latin typeface="Lato"/>
                <a:ea typeface="Lato"/>
                <a:cs typeface="Lato"/>
              </a:rPr>
              <a:t>- Automate stable checks with a small pytest suite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058701-BD07-4646-AE2A-A145729946A9}"/>
              </a:ext>
            </a:extLst>
          </p:cNvPr>
          <p:cNvSpPr>
            <a:spLocks noGrp="1"/>
          </p:cNvSpPr>
          <p:nvPr/>
        </p:nvSpPr>
        <p:spPr>
          <a:xfrm>
            <a:off x="742950" y="6172200"/>
            <a:ext cx="13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D4EFF1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4EFF1"/>
                </a:solidFill>
                <a:latin typeface="Aptos Mono"/>
                <a:ea typeface="Aptos Mono"/>
                <a:cs typeface="Aptos Mono"/>
              </a:rPr>
              <a:t>Module 5</a:t>
            </a:r>
          </a:p>
        </p:txBody>
      </p:sp>
    </p:spTree>
    <p:extLst>
      <p:ext uri="{BB962C8B-B14F-4D97-AF65-F5344CB8AC3E}">
        <p14:creationId xmlns:p14="http://schemas.microsoft.com/office/powerpoint/2010/main" val="135772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7D54C659-D5B4-48A0-81C9-8924CFE2D6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D257A1-00FC-4ADD-A6EF-2627270B0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3B3175-D5B8-4B54-9F4E-75FDF05920BC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F8154A-48FE-4BEA-8DF7-B9B218F090B0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F5D31B1-F600-44EE-ABF6-73E22DE59CA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259FA-E08F-4DE9-8286-695D8BC04726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ROADMAP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49F716-095E-4DD8-8D31-B7192CDB9569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E27BE0-AE58-4BFF-88FB-16753EC9C0B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What we will cover in 30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3CB0C7-2C1C-4DEF-B232-C49DE9432EE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This session connects performance signals, monitoring evidence, and first-pass automation.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836B86-DC87-49A7-B011-4105003883F3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5191125" cy="1143000"/>
          </a:xfrm>
          <a:prstGeom prst="roundRect">
            <a:avLst>
              <a:gd name="adj" fmla="val 6667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B8BD06-9D77-4BAA-9F93-0FC403BE017C}"/>
              </a:ext>
            </a:extLst>
          </p:cNvPr>
          <p:cNvSpPr>
            <a:spLocks noGrp="1"/>
          </p:cNvSpPr>
          <p:nvPr/>
        </p:nvSpPr>
        <p:spPr>
          <a:xfrm>
            <a:off x="800100" y="3238500"/>
            <a:ext cx="76200" cy="11430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8D7876-5EA9-49DF-B037-E3446DFA2BE2}"/>
              </a:ext>
            </a:extLst>
          </p:cNvPr>
          <p:cNvSpPr>
            <a:spLocks noGrp="1"/>
          </p:cNvSpPr>
          <p:nvPr/>
        </p:nvSpPr>
        <p:spPr>
          <a:xfrm>
            <a:off x="1009650" y="34099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1. Performance checks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6E5D53-FBD9-4D8B-93EA-CA89ABFAF09E}"/>
              </a:ext>
            </a:extLst>
          </p:cNvPr>
          <p:cNvSpPr>
            <a:spLocks noGrp="1"/>
          </p:cNvSpPr>
          <p:nvPr/>
        </p:nvSpPr>
        <p:spPr>
          <a:xfrm>
            <a:off x="1009650" y="37528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How to compare fast and slow behavior without overpromising exact benchmarks.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97C0EA-52E4-437F-9C20-03C9A8476714}"/>
              </a:ext>
            </a:extLst>
          </p:cNvPr>
          <p:cNvSpPr>
            <a:spLocks noGrp="1"/>
          </p:cNvSpPr>
          <p:nvPr/>
        </p:nvSpPr>
        <p:spPr>
          <a:xfrm>
            <a:off x="6200775" y="3238500"/>
            <a:ext cx="5191125" cy="1143000"/>
          </a:xfrm>
          <a:prstGeom prst="roundRect">
            <a:avLst>
              <a:gd name="adj" fmla="val 6667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F54EE2-BB07-496A-BCEC-F0A6870E417A}"/>
              </a:ext>
            </a:extLst>
          </p:cNvPr>
          <p:cNvSpPr>
            <a:spLocks noGrp="1"/>
          </p:cNvSpPr>
          <p:nvPr/>
        </p:nvSpPr>
        <p:spPr>
          <a:xfrm>
            <a:off x="6200775" y="3238500"/>
            <a:ext cx="76200" cy="11430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2620C1-EBA5-4059-98EA-3127412963C7}"/>
              </a:ext>
            </a:extLst>
          </p:cNvPr>
          <p:cNvSpPr>
            <a:spLocks noGrp="1"/>
          </p:cNvSpPr>
          <p:nvPr/>
        </p:nvSpPr>
        <p:spPr>
          <a:xfrm>
            <a:off x="6410325" y="34099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2. Monitoring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6F680F-5BFC-42D9-BEDE-492E21035FB6}"/>
              </a:ext>
            </a:extLst>
          </p:cNvPr>
          <p:cNvSpPr>
            <a:spLocks noGrp="1"/>
          </p:cNvSpPr>
          <p:nvPr/>
        </p:nvSpPr>
        <p:spPr>
          <a:xfrm>
            <a:off x="6410325" y="375285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How run history and Monitoring Hub support sign-off and retesting.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E6F2C2-9101-458A-A9E0-DFFC10816936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43000"/>
          </a:xfrm>
          <a:prstGeom prst="roundRect">
            <a:avLst>
              <a:gd name="adj" fmla="val 6667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68FD32-55DE-46F2-8B8D-6B0178F8900E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430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23894E-5151-4475-A6ED-E26020E20CAE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3. Runtime risk signals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441D46-E22B-45B5-8EF8-42E728F75661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How throttling symptoms and failure patterns show up to QA.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9806C58-D71C-455A-A2D6-87069EA24DDC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43000"/>
          </a:xfrm>
          <a:prstGeom prst="roundRect">
            <a:avLst>
              <a:gd name="adj" fmla="val 6667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469464-3A7A-4108-8258-EE2D77BAB90A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4300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03CA03-A77C-4C6F-AE93-59EDC859C312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4. Pytest automation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B57511-54F8-41F0-BE4E-7C11D27FB691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How to turn stable observed results into a small, useful automation suite.</a:t>
            </a:r>
          </a:p>
        </p:txBody>
      </p:sp>
    </p:spTree>
    <p:extLst>
      <p:ext uri="{BB962C8B-B14F-4D97-AF65-F5344CB8AC3E}">
        <p14:creationId xmlns:p14="http://schemas.microsoft.com/office/powerpoint/2010/main" val="537060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1C2665-5A89-40AD-8406-85606BC1ED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DB3FE4-44EA-4102-8D2D-8A2274899BD4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B183B21-3BBC-430C-8D48-8B0838B093E9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7DD8DB5-E9CD-4CA0-BE62-E2E7565F51B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7942F5-8A7D-4BF0-9A3F-E096F70D2C5E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QA LENS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BDA6F3-E8E4-4D21-A40E-D1B27E655FC1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37EFF9-342C-45B1-93FE-18A98EFBD894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Why </a:t>
            </a: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Module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 5 matters for QA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A02185-319B-46AB-AAA1-B011A191013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Correct outputs still need runtime evidence before a release can be trusted.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532891-D011-4DB7-8BED-4023CEF7AA28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10591800" cy="1047750"/>
          </a:xfrm>
          <a:prstGeom prst="roundRect">
            <a:avLst>
              <a:gd name="adj" fmla="val 7273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74B910-1D28-4D75-9657-5CEC78D98CF0}"/>
              </a:ext>
            </a:extLst>
          </p:cNvPr>
          <p:cNvSpPr>
            <a:spLocks noGrp="1"/>
          </p:cNvSpPr>
          <p:nvPr/>
        </p:nvSpPr>
        <p:spPr>
          <a:xfrm>
            <a:off x="800100" y="3162300"/>
            <a:ext cx="76200" cy="10477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9C57C-0F69-4393-94AE-352A43DA569B}"/>
              </a:ext>
            </a:extLst>
          </p:cNvPr>
          <p:cNvSpPr>
            <a:spLocks noGrp="1"/>
          </p:cNvSpPr>
          <p:nvPr/>
        </p:nvSpPr>
        <p:spPr>
          <a:xfrm>
            <a:off x="1009650" y="3333750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Correct but unstable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84A8F6-8E7D-434D-8D11-555D8DCF64FE}"/>
              </a:ext>
            </a:extLst>
          </p:cNvPr>
          <p:cNvSpPr>
            <a:spLocks noGrp="1"/>
          </p:cNvSpPr>
          <p:nvPr/>
        </p:nvSpPr>
        <p:spPr>
          <a:xfrm>
            <a:off x="1009650" y="3676650"/>
            <a:ext cx="1017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A solution can return correct totals once and still show worrying runtime behavior under repeat runs.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315DB7-FC13-4A03-B33C-544847948F7C}"/>
              </a:ext>
            </a:extLst>
          </p:cNvPr>
          <p:cNvSpPr>
            <a:spLocks noGrp="1"/>
          </p:cNvSpPr>
          <p:nvPr/>
        </p:nvSpPr>
        <p:spPr>
          <a:xfrm>
            <a:off x="800100" y="4419600"/>
            <a:ext cx="10591800" cy="1047750"/>
          </a:xfrm>
          <a:prstGeom prst="roundRect">
            <a:avLst>
              <a:gd name="adj" fmla="val 7273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EC4F63-5A8F-404A-98DA-CFFEC07E13DA}"/>
              </a:ext>
            </a:extLst>
          </p:cNvPr>
          <p:cNvSpPr>
            <a:spLocks noGrp="1"/>
          </p:cNvSpPr>
          <p:nvPr/>
        </p:nvSpPr>
        <p:spPr>
          <a:xfrm>
            <a:off x="800100" y="4419600"/>
            <a:ext cx="76200" cy="10477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42F420-159E-4C17-9996-BF64A76882B5}"/>
              </a:ext>
            </a:extLst>
          </p:cNvPr>
          <p:cNvSpPr>
            <a:spLocks noGrp="1"/>
          </p:cNvSpPr>
          <p:nvPr/>
        </p:nvSpPr>
        <p:spPr>
          <a:xfrm>
            <a:off x="1009650" y="4591050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Monitoring tells the story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873EC2-4B96-4B47-AD16-FE7C94BEECF8}"/>
              </a:ext>
            </a:extLst>
          </p:cNvPr>
          <p:cNvSpPr>
            <a:spLocks noGrp="1"/>
          </p:cNvSpPr>
          <p:nvPr/>
        </p:nvSpPr>
        <p:spPr>
          <a:xfrm>
            <a:off x="1009650" y="4933950"/>
            <a:ext cx="1017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Run statuses, durations, and failure details help QA explain what happened and whether retesting worked.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81B4871-CBBF-489D-B1FD-10455E5050A8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10591800" cy="1047750"/>
          </a:xfrm>
          <a:prstGeom prst="roundRect">
            <a:avLst>
              <a:gd name="adj" fmla="val 7273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42DC94-E8DB-4084-BF72-BD8506F50C09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76200" cy="10477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D6BB25-3A6C-4AF0-9930-0FBAF356C26D}"/>
              </a:ext>
            </a:extLst>
          </p:cNvPr>
          <p:cNvSpPr>
            <a:spLocks noGrp="1"/>
          </p:cNvSpPr>
          <p:nvPr/>
        </p:nvSpPr>
        <p:spPr>
          <a:xfrm>
            <a:off x="1009650" y="5848350"/>
            <a:ext cx="10172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Automation needs judgment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7FE779-4317-47C1-A07C-8E1DFDB50C17}"/>
              </a:ext>
            </a:extLst>
          </p:cNvPr>
          <p:cNvSpPr>
            <a:spLocks noGrp="1"/>
          </p:cNvSpPr>
          <p:nvPr/>
        </p:nvSpPr>
        <p:spPr>
          <a:xfrm>
            <a:off x="1009650" y="6191250"/>
            <a:ext cx="10172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The strongest first tests focus on stable truth sets instead of trying to automate every visible behavior.</a:t>
            </a:r>
          </a:p>
        </p:txBody>
      </p:sp>
    </p:spTree>
    <p:extLst>
      <p:ext uri="{BB962C8B-B14F-4D97-AF65-F5344CB8AC3E}">
        <p14:creationId xmlns:p14="http://schemas.microsoft.com/office/powerpoint/2010/main" val="174020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30C108-7E3E-420A-AA3A-231F226284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E2E2CA5-96F6-41ED-8D9E-3206F62C584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D7EF28-4C55-48AF-881C-0A0D4A2305C8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463689-4CFA-4320-8482-CB01B08E224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A74E3-1CD4-4A98-8C87-0B5292D98414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1B5BDF-6233-47D9-9C19-58FA964EDFE2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E72964-ACF5-498A-AE9D-41BE3B2CF37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L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earning objectives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CE36E-9EE1-4FC0-A01A-D034A8A8B0B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These are the practical outcomes learners should carry into their own Fabric projects.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EF999B-E98D-41CE-A8CB-1F8F2C7EEBFB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BBF20C-30B5-4BF1-A50E-9D0B0D9DB3C2}"/>
              </a:ext>
            </a:extLst>
          </p:cNvPr>
          <p:cNvSpPr>
            <a:spLocks noGrp="1"/>
          </p:cNvSpPr>
          <p:nvPr/>
        </p:nvSpPr>
        <p:spPr>
          <a:xfrm>
            <a:off x="742950" y="2762250"/>
            <a:ext cx="76200" cy="11239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750A37-7700-41E9-B127-9E661EE9F864}"/>
              </a:ext>
            </a:extLst>
          </p:cNvPr>
          <p:cNvSpPr>
            <a:spLocks noGrp="1"/>
          </p:cNvSpPr>
          <p:nvPr/>
        </p:nvSpPr>
        <p:spPr>
          <a:xfrm>
            <a:off x="952500" y="29337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Compare durations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D504D-5709-46F3-85A6-C55288375EC2}"/>
              </a:ext>
            </a:extLst>
          </p:cNvPr>
          <p:cNvSpPr>
            <a:spLocks noGrp="1"/>
          </p:cNvSpPr>
          <p:nvPr/>
        </p:nvSpPr>
        <p:spPr>
          <a:xfrm>
            <a:off x="952500" y="3276600"/>
            <a:ext cx="47720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Measure fast and slow runtime behavior in a pipeline.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D51D16-EB85-4341-8822-57D38C84ECCD}"/>
              </a:ext>
            </a:extLst>
          </p:cNvPr>
          <p:cNvSpPr>
            <a:spLocks noGrp="1"/>
          </p:cNvSpPr>
          <p:nvPr/>
        </p:nvSpPr>
        <p:spPr>
          <a:xfrm>
            <a:off x="6143625" y="276225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3110C5-CC7A-4C02-A4ED-1B43EFCDD23B}"/>
              </a:ext>
            </a:extLst>
          </p:cNvPr>
          <p:cNvSpPr>
            <a:spLocks noGrp="1"/>
          </p:cNvSpPr>
          <p:nvPr/>
        </p:nvSpPr>
        <p:spPr>
          <a:xfrm>
            <a:off x="6143625" y="2762250"/>
            <a:ext cx="76200" cy="11239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2E7305-2F56-4AF2-A1DA-59A9DF5BE7B6}"/>
              </a:ext>
            </a:extLst>
          </p:cNvPr>
          <p:cNvSpPr>
            <a:spLocks noGrp="1"/>
          </p:cNvSpPr>
          <p:nvPr/>
        </p:nvSpPr>
        <p:spPr>
          <a:xfrm>
            <a:off x="6353175" y="29337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Inspect failure patterns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E42841-4AFB-48D9-8E64-1359E6A4C306}"/>
              </a:ext>
            </a:extLst>
          </p:cNvPr>
          <p:cNvSpPr>
            <a:spLocks noGrp="1"/>
          </p:cNvSpPr>
          <p:nvPr/>
        </p:nvSpPr>
        <p:spPr>
          <a:xfrm>
            <a:off x="6353175" y="3276600"/>
            <a:ext cx="47720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Use run history to understand failed and successful runs.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D9F953B-9B41-4B8C-B25B-25B39FEE2BE2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2E413F-3F0B-4375-A1A5-D8977F258F9F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76200" cy="11239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4306BA-93D0-4FF9-B3CA-FE52D5994406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Review monitoring evidence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457EE9-3DBC-4B40-A35C-436729A223E9}"/>
              </a:ext>
            </a:extLst>
          </p:cNvPr>
          <p:cNvSpPr>
            <a:spLocks noGrp="1"/>
          </p:cNvSpPr>
          <p:nvPr/>
        </p:nvSpPr>
        <p:spPr>
          <a:xfrm>
            <a:off x="952500" y="4610100"/>
            <a:ext cx="47720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the fields that support release-readiness sign-off.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1913DEE-247D-4FA6-834B-29F58B24DCD3}"/>
              </a:ext>
            </a:extLst>
          </p:cNvPr>
          <p:cNvSpPr>
            <a:spLocks noGrp="1"/>
          </p:cNvSpPr>
          <p:nvPr/>
        </p:nvSpPr>
        <p:spPr>
          <a:xfrm>
            <a:off x="6143625" y="409575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76B4F6-6185-4AF1-85D6-7C8AD0479AF8}"/>
              </a:ext>
            </a:extLst>
          </p:cNvPr>
          <p:cNvSpPr>
            <a:spLocks noGrp="1"/>
          </p:cNvSpPr>
          <p:nvPr/>
        </p:nvSpPr>
        <p:spPr>
          <a:xfrm>
            <a:off x="6143625" y="4095750"/>
            <a:ext cx="76200" cy="11239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1C20A2-662D-4C4E-BEFB-6C9526E95997}"/>
              </a:ext>
            </a:extLst>
          </p:cNvPr>
          <p:cNvSpPr>
            <a:spLocks noGrp="1"/>
          </p:cNvSpPr>
          <p:nvPr/>
        </p:nvSpPr>
        <p:spPr>
          <a:xfrm>
            <a:off x="6353175" y="42672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Recognize risk signals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33AC41-D7C1-4A6A-9858-EB76C3A742A3}"/>
              </a:ext>
            </a:extLst>
          </p:cNvPr>
          <p:cNvSpPr>
            <a:spLocks noGrp="1"/>
          </p:cNvSpPr>
          <p:nvPr/>
        </p:nvSpPr>
        <p:spPr>
          <a:xfrm>
            <a:off x="6353175" y="4610100"/>
            <a:ext cx="47720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Identify throttling symptoms and performance regressions worth escalating.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A09E9F5-C548-4FEB-8245-B31063BCE0BB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5191125" cy="1123950"/>
          </a:xfrm>
          <a:prstGeom prst="roundRect">
            <a:avLst>
              <a:gd name="adj" fmla="val 6780"/>
            </a:avLst>
          </a:prstGeom>
          <a:solidFill>
            <a:srgbClr val="EEE8DF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917430-EAC1-46F8-AF98-6AD99B170B84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76200" cy="112395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625C23A-9C15-4ACB-9975-ECDD5BA82F1B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Automate stable checks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DB2FE8-A040-4743-B202-BF8BC7BC12B0}"/>
              </a:ext>
            </a:extLst>
          </p:cNvPr>
          <p:cNvSpPr>
            <a:spLocks noGrp="1"/>
          </p:cNvSpPr>
          <p:nvPr/>
        </p:nvSpPr>
        <p:spPr>
          <a:xfrm>
            <a:off x="952500" y="5943600"/>
            <a:ext cx="477202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Run a small pytest suite against structured observed results.</a:t>
            </a:r>
          </a:p>
        </p:txBody>
      </p:sp>
    </p:spTree>
    <p:extLst>
      <p:ext uri="{BB962C8B-B14F-4D97-AF65-F5344CB8AC3E}">
        <p14:creationId xmlns:p14="http://schemas.microsoft.com/office/powerpoint/2010/main" val="1263054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A9A947D-F3F6-4432-B3AB-11DC05BA88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29B8DC-CCF0-4634-B478-BE341B7D53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425FD69-BB45-4E2F-9BFD-DA446F565FB9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A31DD12-1351-4E27-8B51-C5A5E2D6A9DC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24A5D0A-EE8F-451F-9C59-3B457097DAC3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29D083-48A4-424F-B865-CEE223934B7C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SURFACES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3E0795-402B-4265-8259-E5F639ED28DF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E92428-7C44-4EE4-95C5-6FE89500C22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Performance validation surfaces in Fabric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6A67D5-4F75-4072-88B7-EED9E918CC4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P</a:t>
            </a: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erformance work is about the surfaces QA can actually observe and compare.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A9E998-9AC9-4E72-BFE5-E8880EC8AEF8}"/>
              </a:ext>
            </a:extLst>
          </p:cNvPr>
          <p:cNvSpPr>
            <a:spLocks noGrp="1"/>
          </p:cNvSpPr>
          <p:nvPr/>
        </p:nvSpPr>
        <p:spPr>
          <a:xfrm>
            <a:off x="4800600" y="3409950"/>
            <a:ext cx="2590800" cy="1657350"/>
          </a:xfrm>
          <a:prstGeom prst="ellipse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CD8C0D-820A-4ED1-B5BB-113202FB3623}"/>
              </a:ext>
            </a:extLst>
          </p:cNvPr>
          <p:cNvSpPr>
            <a:spLocks noGrp="1"/>
          </p:cNvSpPr>
          <p:nvPr/>
        </p:nvSpPr>
        <p:spPr>
          <a:xfrm>
            <a:off x="5229225" y="4010025"/>
            <a:ext cx="1733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FFFFFF"/>
                </a:solidFill>
                <a:latin typeface="Caladea"/>
                <a:ea typeface="Caladea"/>
                <a:cs typeface="Caladea"/>
              </a:defRPr>
            </a:pPr>
            <a:r>
              <a:rPr sz="2100" b="1" dirty="0">
                <a:solidFill>
                  <a:srgbClr val="FFFFFF"/>
                </a:solidFill>
                <a:latin typeface="Caladea"/>
                <a:ea typeface="Caladea"/>
                <a:cs typeface="Caladea"/>
              </a:rPr>
              <a:t>RUNTIME MAP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39A30A-1E12-441C-88BB-359D77D24CF1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0B6248-063F-4A57-A140-89E7A86C2D98}"/>
              </a:ext>
            </a:extLst>
          </p:cNvPr>
          <p:cNvSpPr>
            <a:spLocks noGrp="1"/>
          </p:cNvSpPr>
          <p:nvPr/>
        </p:nvSpPr>
        <p:spPr>
          <a:xfrm>
            <a:off x="704850" y="3352800"/>
            <a:ext cx="76200" cy="9906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76E75-D5C5-418C-9316-195B46510142}"/>
              </a:ext>
            </a:extLst>
          </p:cNvPr>
          <p:cNvSpPr>
            <a:spLocks noGrp="1"/>
          </p:cNvSpPr>
          <p:nvPr/>
        </p:nvSpPr>
        <p:spPr>
          <a:xfrm>
            <a:off x="914400" y="3505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Pipeline activities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437A64-A47C-4482-8700-B7E543B1ABFA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Order, status, duration, rerun behavior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CC0904-8508-4AD0-BD1E-36164C77C2A2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78056D-9665-4360-8FEE-05378E8F6198}"/>
              </a:ext>
            </a:extLst>
          </p:cNvPr>
          <p:cNvSpPr>
            <a:spLocks noGrp="1"/>
          </p:cNvSpPr>
          <p:nvPr/>
        </p:nvSpPr>
        <p:spPr>
          <a:xfrm>
            <a:off x="8058150" y="3352800"/>
            <a:ext cx="76200" cy="9906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29080B-D0DA-46BF-8663-FD36F996DD01}"/>
              </a:ext>
            </a:extLst>
          </p:cNvPr>
          <p:cNvSpPr>
            <a:spLocks noGrp="1"/>
          </p:cNvSpPr>
          <p:nvPr/>
        </p:nvSpPr>
        <p:spPr>
          <a:xfrm>
            <a:off x="8267700" y="35052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Warehouse queries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8B6612-B543-4714-ABE5-ED64E5B5272C}"/>
              </a:ext>
            </a:extLst>
          </p:cNvPr>
          <p:cNvSpPr>
            <a:spLocks noGrp="1"/>
          </p:cNvSpPr>
          <p:nvPr/>
        </p:nvSpPr>
        <p:spPr>
          <a:xfrm>
            <a:off x="8267700" y="382905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Counts, totals, duration, repeatability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10988D1-CB83-49AE-9862-E0D3E5099D7D}"/>
              </a:ext>
            </a:extLst>
          </p:cNvPr>
          <p:cNvSpPr>
            <a:spLocks noGrp="1"/>
          </p:cNvSpPr>
          <p:nvPr/>
        </p:nvSpPr>
        <p:spPr>
          <a:xfrm>
            <a:off x="2209800" y="53340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55A243-1492-42C4-A7D0-1CADB6029FA4}"/>
              </a:ext>
            </a:extLst>
          </p:cNvPr>
          <p:cNvSpPr>
            <a:spLocks noGrp="1"/>
          </p:cNvSpPr>
          <p:nvPr/>
        </p:nvSpPr>
        <p:spPr>
          <a:xfrm>
            <a:off x="2209800" y="5334000"/>
            <a:ext cx="76200" cy="9906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7DFE25-A654-4862-8261-03C9D61AD6E1}"/>
              </a:ext>
            </a:extLst>
          </p:cNvPr>
          <p:cNvSpPr>
            <a:spLocks noGrp="1"/>
          </p:cNvSpPr>
          <p:nvPr/>
        </p:nvSpPr>
        <p:spPr>
          <a:xfrm>
            <a:off x="2419350" y="5486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Monitoring surfaces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49FAFF-A2E0-47F1-B495-82FA0F8066AC}"/>
              </a:ext>
            </a:extLst>
          </p:cNvPr>
          <p:cNvSpPr>
            <a:spLocks noGrp="1"/>
          </p:cNvSpPr>
          <p:nvPr/>
        </p:nvSpPr>
        <p:spPr>
          <a:xfrm>
            <a:off x="2419350" y="581025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Monitoring Hub, run history, activity detail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89B3469-A52D-46EE-9A49-F4E4DF8CD9B7}"/>
              </a:ext>
            </a:extLst>
          </p:cNvPr>
          <p:cNvSpPr>
            <a:spLocks noGrp="1"/>
          </p:cNvSpPr>
          <p:nvPr/>
        </p:nvSpPr>
        <p:spPr>
          <a:xfrm>
            <a:off x="6591300" y="5334000"/>
            <a:ext cx="2857500" cy="990600"/>
          </a:xfrm>
          <a:prstGeom prst="roundRect">
            <a:avLst>
              <a:gd name="adj" fmla="val 7692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54D5DA-C22F-4902-A218-E69CD8507F5A}"/>
              </a:ext>
            </a:extLst>
          </p:cNvPr>
          <p:cNvSpPr>
            <a:spLocks noGrp="1"/>
          </p:cNvSpPr>
          <p:nvPr/>
        </p:nvSpPr>
        <p:spPr>
          <a:xfrm>
            <a:off x="6591300" y="5334000"/>
            <a:ext cx="76200" cy="99060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D6426-70FA-41F2-BBE8-52B46E545BD0}"/>
              </a:ext>
            </a:extLst>
          </p:cNvPr>
          <p:cNvSpPr>
            <a:spLocks noGrp="1"/>
          </p:cNvSpPr>
          <p:nvPr/>
        </p:nvSpPr>
        <p:spPr>
          <a:xfrm>
            <a:off x="6800850" y="54864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Automation layer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06C8DC-F944-4219-86B0-D3FEB89CAF49}"/>
              </a:ext>
            </a:extLst>
          </p:cNvPr>
          <p:cNvSpPr>
            <a:spLocks noGrp="1"/>
          </p:cNvSpPr>
          <p:nvPr/>
        </p:nvSpPr>
        <p:spPr>
          <a:xfrm>
            <a:off x="6800850" y="5810250"/>
            <a:ext cx="23241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Observed results file and pytest validation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D25EC0-9AF5-485E-AF36-833BE9F76717}"/>
              </a:ext>
            </a:extLst>
          </p:cNvPr>
          <p:cNvSpPr>
            <a:spLocks noGrp="1"/>
          </p:cNvSpPr>
          <p:nvPr/>
        </p:nvSpPr>
        <p:spPr>
          <a:xfrm>
            <a:off x="3543300" y="4210050"/>
            <a:ext cx="12573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7E87E9-FDF2-46FB-9C79-98A82EF19F94}"/>
              </a:ext>
            </a:extLst>
          </p:cNvPr>
          <p:cNvSpPr>
            <a:spLocks noGrp="1"/>
          </p:cNvSpPr>
          <p:nvPr/>
        </p:nvSpPr>
        <p:spPr>
          <a:xfrm>
            <a:off x="7391400" y="4210050"/>
            <a:ext cx="66675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371474-FEEF-4CA4-8A21-85C7AA6B6CBF}"/>
              </a:ext>
            </a:extLst>
          </p:cNvPr>
          <p:cNvSpPr>
            <a:spLocks noGrp="1"/>
          </p:cNvSpPr>
          <p:nvPr/>
        </p:nvSpPr>
        <p:spPr>
          <a:xfrm>
            <a:off x="5905500" y="5067300"/>
            <a:ext cx="38100" cy="419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494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31B0104-F205-422D-A3C9-8DE179EBDE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B4E44E-67A0-4F32-85C2-5DB4404FF6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E689A66-1E9A-43F7-B8DF-D4BD31E6E98A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DE5E500-A627-4E76-91AD-B14946F9B6BD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251E5F-84AF-44CE-97EA-111B3E8F9C45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C55ABE-5826-4603-8603-D15C1006A138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PIPELINE TIMING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A9DF67-7C87-401B-9008-3F49B3E0D367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4012E5-3D65-4CC6-A866-9308DE9E678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Pipeline duration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A4323-D85B-4428-95A9-32C5F90E05A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A useful QA performance check compares relative behavior, not perfect theoretical speed.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49BD94D-069A-47CD-AAA5-F6729EEA8367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5143500" cy="2819400"/>
          </a:xfrm>
          <a:prstGeom prst="roundRect">
            <a:avLst>
              <a:gd name="adj" fmla="val 2703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1FC230-18EE-46ED-AAE5-FE75E2F9FDA6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76200" cy="28194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C376ED-3B8F-4F27-A03F-F41EEDF27F4B}"/>
              </a:ext>
            </a:extLst>
          </p:cNvPr>
          <p:cNvSpPr>
            <a:spLocks noGrp="1"/>
          </p:cNvSpPr>
          <p:nvPr/>
        </p:nvSpPr>
        <p:spPr>
          <a:xfrm>
            <a:off x="971550" y="33528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What to compare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789114-48F6-4EA8-A7AD-D8328DB881D3}"/>
              </a:ext>
            </a:extLst>
          </p:cNvPr>
          <p:cNvSpPr>
            <a:spLocks noGrp="1"/>
          </p:cNvSpPr>
          <p:nvPr/>
        </p:nvSpPr>
        <p:spPr>
          <a:xfrm>
            <a:off x="971550" y="3771900"/>
            <a:ext cx="4343400" cy="1828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- Fast activity versus slow activity duration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- First run versus successful rerun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- Which activities finished before the failure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- Whether slow behavior is consistent or erratic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- Whether durations changed after a fix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59563F-ED64-40C3-B008-0010F41C1634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5238750" cy="2819400"/>
          </a:xfrm>
          <a:prstGeom prst="roundRect">
            <a:avLst>
              <a:gd name="adj" fmla="val 2703"/>
            </a:avLst>
          </a:prstGeom>
          <a:solidFill>
            <a:srgbClr val="EEE8DF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7A57E9-A956-479D-B651-FD84FC14AE5D}"/>
              </a:ext>
            </a:extLst>
          </p:cNvPr>
          <p:cNvSpPr>
            <a:spLocks noGrp="1"/>
          </p:cNvSpPr>
          <p:nvPr/>
        </p:nvSpPr>
        <p:spPr>
          <a:xfrm>
            <a:off x="6210300" y="3143250"/>
            <a:ext cx="76200" cy="28194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3E5D4-D171-442F-9229-27E837F49DFF}"/>
              </a:ext>
            </a:extLst>
          </p:cNvPr>
          <p:cNvSpPr>
            <a:spLocks noGrp="1"/>
          </p:cNvSpPr>
          <p:nvPr/>
        </p:nvSpPr>
        <p:spPr>
          <a:xfrm>
            <a:off x="6457950" y="335280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What not to assume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026A49-24E8-4316-A220-CFE331F709BD}"/>
              </a:ext>
            </a:extLst>
          </p:cNvPr>
          <p:cNvSpPr>
            <a:spLocks noGrp="1"/>
          </p:cNvSpPr>
          <p:nvPr/>
        </p:nvSpPr>
        <p:spPr>
          <a:xfrm>
            <a:off x="6457950" y="3771900"/>
            <a:ext cx="4914900" cy="163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42332"/>
                </a:solidFill>
                <a:latin typeface="Lato"/>
                <a:ea typeface="Lato"/>
                <a:cs typeface="Lato"/>
              </a:rPr>
              <a:t>- One slow run does not always prove a platform problem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42332"/>
                </a:solidFill>
                <a:latin typeface="Lato"/>
                <a:ea typeface="Lato"/>
                <a:cs typeface="Lato"/>
              </a:rPr>
              <a:t>- One fast run does not guarantee production readiness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42332"/>
                </a:solidFill>
                <a:latin typeface="Lato"/>
                <a:ea typeface="Lato"/>
                <a:cs typeface="Lato"/>
              </a:rPr>
              <a:t>- Exact benchmark targets vary by environment and capacity</a:t>
            </a:r>
          </a:p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42332"/>
                </a:solidFill>
                <a:latin typeface="Lato"/>
                <a:ea typeface="Lato"/>
                <a:cs typeface="Lato"/>
              </a:rPr>
              <a:t>- QA should document the signal even when root cause is unclear</a:t>
            </a:r>
          </a:p>
        </p:txBody>
      </p:sp>
    </p:spTree>
    <p:extLst>
      <p:ext uri="{BB962C8B-B14F-4D97-AF65-F5344CB8AC3E}">
        <p14:creationId xmlns:p14="http://schemas.microsoft.com/office/powerpoint/2010/main" val="541535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263536C-EDBA-44B2-A8AD-E64A5A701D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0E7FF1-1455-462D-8399-E5D6AF417C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F9639E9-7E3D-4923-BFAC-9D3E31641DC5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7D4B2B-37D7-414D-9AB3-8971F90A87C1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4F8419A-13AF-40AE-B321-FD2347F7C7A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0B46E-BA81-492D-A97F-B9BB42C9B394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QUERY TIMING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AC786-8D7C-47AB-B71B-E28E3CE19AE3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131268-0F48-42E1-B03B-67D4E0C9910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Query-duration and workload signals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14B9A7-700A-48EA-A17B-332FB90D34B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Query checks are strongest when paired with a truth set and repeated under similar conditions.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F226EBF-74CD-4398-8773-D7C663B8E0B2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9C76F-5002-4BA3-8354-C1020BBD3385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620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CF691-0CD0-4FE2-AFFE-BBCCDC8A8107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Truth-set first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FD4F17-47BC-4645-B6CA-0555E9609219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Validate counts and totals before interpreting runtime behavior.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F6D39DC-AA45-4F15-88A9-69B1FDF1C1E1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2793AD-56B6-4391-A77D-0C2F78849CA3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620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31C1A3-C107-4B9F-851F-CC595F603DEB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Repeatable patterns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AC8011-CF7F-4A89-8BC7-662A3C135762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Look for repeated slowdowns, not one-off surprises only.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198E30-E178-47BE-B1A4-5CCF3949E5AC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14411F-6E8A-4EFB-A635-E8AEACD0779B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620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EF540A-CB6F-47DB-86B4-C94FEDDC8B8D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Useful signals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6CD2F82-7B21-4144-8D6C-0680C57B6768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High duration, long-running queries, and frequent reruns deserve attention.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FCB893C-4149-42A7-83CF-7FCF902C9D12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487875-4836-4E3D-85B0-09FB830240B1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620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632AD5-106D-45B0-8BB0-8F675E6781D9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QA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810CA4-2421-4257-A4C1-A875F19E4570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Record the query used, the context, and the observed runtime signal.</a:t>
            </a:r>
          </a:p>
        </p:txBody>
      </p:sp>
    </p:spTree>
    <p:extLst>
      <p:ext uri="{BB962C8B-B14F-4D97-AF65-F5344CB8AC3E}">
        <p14:creationId xmlns:p14="http://schemas.microsoft.com/office/powerpoint/2010/main" val="2049373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F908C4E-78DC-414F-8A5C-E786E7C117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CDC7A2-21FD-4AE5-A8F8-5D37E135C6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C5299C-D44F-46F8-A9BF-E81F8BCC1D77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9C5796-C016-47CE-BB67-980A76470DF3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C2C0FF3-61A7-4608-B116-C07218CEE70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AE6FC8-3CBF-448E-888E-BE12546F4119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CAPACITY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15045-8E94-4FCA-81C8-5DAC5C0CF1EB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BD47C-F0C7-4EF7-80D6-94BFC1128AB9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Capacity pressure and throttling symptoms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8E1D22-D64E-4EE2-B9E9-21CF3F390FBA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QA does not need to diagnose the platform fully to recognize useful runtime warning signs.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831F616-CED5-48EB-A34E-E280712429C1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10591800" cy="2971800"/>
          </a:xfrm>
          <a:prstGeom prst="roundRect">
            <a:avLst>
              <a:gd name="adj" fmla="val 2564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F0E21C-6F1C-4A7F-98BB-AFE536BD8CD0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76200" cy="29718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CD35F6C-A92A-4D9D-A8E5-EE34D33426A3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48B82A-FB34-45AE-82B7-83D2B9825A95}"/>
              </a:ext>
            </a:extLst>
          </p:cNvPr>
          <p:cNvSpPr>
            <a:spLocks noGrp="1"/>
          </p:cNvSpPr>
          <p:nvPr/>
        </p:nvSpPr>
        <p:spPr>
          <a:xfrm>
            <a:off x="1200150" y="35623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06B45-37FE-44FF-8916-53F304494B22}"/>
              </a:ext>
            </a:extLst>
          </p:cNvPr>
          <p:cNvSpPr>
            <a:spLocks noGrp="1"/>
          </p:cNvSpPr>
          <p:nvPr/>
        </p:nvSpPr>
        <p:spPr>
          <a:xfrm>
            <a:off x="1714500" y="35052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unexpectedly longer activity durations compared to similar runs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9CDFC1-26B8-4BC3-8BAF-E521E8ECD501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483341-8BEB-46C4-B997-1B7DE5416232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ED328A-FF50-4020-A19F-6FFEE8CEAF74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intermittent slow query behavior without data-shape changes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65D183-7C2B-4D03-82D8-D1790F50DD15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5DA491-1645-49A6-8262-60EF24743CCC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28B477-9033-4268-85F3-C36055CB24CD}"/>
              </a:ext>
            </a:extLst>
          </p:cNvPr>
          <p:cNvSpPr>
            <a:spLocks noGrp="1"/>
          </p:cNvSpPr>
          <p:nvPr/>
        </p:nvSpPr>
        <p:spPr>
          <a:xfrm>
            <a:off x="1714500" y="43053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repeated retries, timeouts, or unstable completion patterns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71DD304-6141-47CA-8A2E-9BB80D6B4F70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47C370-0D5F-4B09-AD10-B05F9C349341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F22D29-26B3-4F68-BA9E-BF5AD3B096B9}"/>
              </a:ext>
            </a:extLst>
          </p:cNvPr>
          <p:cNvSpPr>
            <a:spLocks noGrp="1"/>
          </p:cNvSpPr>
          <p:nvPr/>
        </p:nvSpPr>
        <p:spPr>
          <a:xfrm>
            <a:off x="1714500" y="47053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workload behavior that changes by time window or competing activity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8AE56C2-0BA8-4253-A89F-7E40E4768653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858BA2-9C1C-4E00-9006-6410786B73A3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676F150-985F-4CBE-ACF8-B04861F1A64C}"/>
              </a:ext>
            </a:extLst>
          </p:cNvPr>
          <p:cNvSpPr>
            <a:spLocks noGrp="1"/>
          </p:cNvSpPr>
          <p:nvPr/>
        </p:nvSpPr>
        <p:spPr>
          <a:xfrm>
            <a:off x="1714500" y="51054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user-visible refresh or report delays that conflict with expectations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71DF065-B805-465C-BB8F-3ACB6DC7858B}"/>
              </a:ext>
            </a:extLst>
          </p:cNvPr>
          <p:cNvSpPr>
            <a:spLocks noGrp="1"/>
          </p:cNvSpPr>
          <p:nvPr/>
        </p:nvSpPr>
        <p:spPr>
          <a:xfrm>
            <a:off x="1066800" y="5486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5AB0D3-0295-471A-8442-215E07BF9591}"/>
              </a:ext>
            </a:extLst>
          </p:cNvPr>
          <p:cNvSpPr>
            <a:spLocks noGrp="1"/>
          </p:cNvSpPr>
          <p:nvPr/>
        </p:nvSpPr>
        <p:spPr>
          <a:xfrm>
            <a:off x="1200150" y="55626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1B8A3D-1F5B-4F6E-95ED-A1B53D4A3604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monitoring evidence that suggests capacity or concurrency pressure</a:t>
            </a:r>
          </a:p>
        </p:txBody>
      </p:sp>
    </p:spTree>
    <p:extLst>
      <p:ext uri="{BB962C8B-B14F-4D97-AF65-F5344CB8AC3E}">
        <p14:creationId xmlns:p14="http://schemas.microsoft.com/office/powerpoint/2010/main" val="1320318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FF2D3A1-CB10-4174-AF75-DCFD50F776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75551E-449C-4687-AAAC-7FD68E2054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6759BBF-6264-41EC-95DB-0DFD66538CC8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71AA2BA-545C-4F9F-BE3B-5DF33C0F5D7B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93DE68-D5A5-4F3D-A806-B572FBA4C2C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1EBD5C-3D4F-4E95-BF49-34B381EB416A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MONITORING 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E20C83-92A6-4185-8AAF-0B1B95036A10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A7BE4D-DA5F-4026-A22A-FA1798DA7FA1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Monitoring Hub and run-history evidence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AAA71C-406F-4EE0-9562-7D674F2CA9C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Monitoring surfaces help QA build a clean story of what happened during a release candidate run.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658640C-251F-4471-BEF9-A975B23E48A6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CC5963-56A5-4BAB-A211-BF1DE0F9F968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620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685D6D-57DA-4866-8E35-391D47CA9FB5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Status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CDF26E-E1D9-4061-873F-E8F391E7120C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overall run outcome and per-activity results.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0F93D3A-C46C-4449-8267-846ABD934E71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8F73B7-8AD9-454D-935C-8B22807FD56B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620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D4F1EC-B015-4DAC-85BB-E1EC157A322C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Timing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0FF76D-45CD-4512-90D5-648F9E5D0020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start time, end time, and duration for comparison.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0715F4C-8B79-468A-BD9A-BF2B90ED3E65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27C086-4557-4C0D-93D8-CCEB989A4E2D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620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200A6A-777E-4D7D-9EDE-19B45400BD8E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Failure detail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AA7F61-69FA-499E-96A8-812F300FB202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the actionable message from the failed step.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B7264FF-AAFD-4351-8A1B-FB74B70B2D63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95F236-39F2-410A-B136-B169F4DCA0F3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620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4431BB-9E63-46BC-B5F5-4B49E9AF214C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Retest evidence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00B9846-1388-4B58-A7C6-D66EF91491FA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the later successful rerun and compare it to the failed run.</a:t>
            </a:r>
          </a:p>
        </p:txBody>
      </p:sp>
    </p:spTree>
    <p:extLst>
      <p:ext uri="{BB962C8B-B14F-4D97-AF65-F5344CB8AC3E}">
        <p14:creationId xmlns:p14="http://schemas.microsoft.com/office/powerpoint/2010/main" val="506880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F1D3D39-D762-4076-A299-00F61ECFE9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73B4C-D1AD-4DA7-8D43-CD3630538F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C1EFBAE-147A-486B-94CF-AA1D99006725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843E5BA-D939-49D4-9B8F-B97EF966C8F5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A519DE0-052A-4151-B5D8-7FA7F597975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B1DF41-7AA6-41E2-8113-79E64529335B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WAREHOUSE MONITOR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8255B2-DCFB-4D7A-8636-399FA4296733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75BC11-451C-4686-9535-B06403245D4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Warehouse monitoring artifacts and query history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7D23A-20B6-4157-B811-202B4223BA98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Fabric offers several monitoring surfaces that can support QA investigations.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4DAAC05-3606-48B7-A746-478B9A123E4B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2728D6-0FD5-404C-8B40-7BA919D0E15B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620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60A65C-20D9-43E4-AB99-A367AD35CA4A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Capacity metrics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E81C4-3292-4B47-872A-06FAF2B8559F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Useful when QA sees broader runtime pressure or workload spikes.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3D7897E-DD5B-4D48-96D8-42AEB6DC386C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9571A3-3A6B-49C6-8CE4-F737D17603BA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620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42715D-922E-454F-AB68-3E4CDCFBA9A5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DMVs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08F75D-385E-466D-94A4-2AF9BB63F576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Useful for current activity, sessions, and execution context when investigating live behavior.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036519-5E30-4024-A968-115355FE53E2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9288EB-0533-41CE-80FB-0D8F13A78DAC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620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DF5CCB-7587-49AF-8CD5-DF97BD08B2F5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Query insights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163F6D-D59E-4EB1-85A8-418E97BDAF17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Useful for frequently run or long-running queries and historical patterns.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4ADFEF6-EE60-483D-B39D-1AB85C1DDC2D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B22988-35B1-468A-AA6D-D7809125D900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620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DCCEAF-88AE-449A-A4C5-94E062538E99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Usage caution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5A4814-6ECF-4B30-930C-2BDF9F829969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Not every environment exposes every signal equally, so QA should document what was available.</a:t>
            </a:r>
          </a:p>
        </p:txBody>
      </p:sp>
    </p:spTree>
    <p:extLst>
      <p:ext uri="{BB962C8B-B14F-4D97-AF65-F5344CB8AC3E}">
        <p14:creationId xmlns:p14="http://schemas.microsoft.com/office/powerpoint/2010/main" val="134778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BBC3B0E-06FE-49A8-972B-1FE17B219A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93BBFF-D93E-4165-9119-AE43563563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570F61-9DC2-4915-9CCB-E325B6CB4449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1460CA3-E6C2-43D5-9F98-C706E657DC0A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CE2D1C-8539-455C-8934-DCEA09FE738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B1D1D5-1142-4534-9EC0-CC6AB3DA9772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FAILURE PATTERNS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32308-6A31-449A-8EF0-0FA8CE9C55B0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51E4F-238F-4B27-9E62-3EFCFB596BC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Failure patterns and release readiness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36CBAD-1FBA-4AB6-9AF6-09CF33BF741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lang="en-US"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Module 5 Lab </a:t>
            </a: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uses a deliberate threshold failure to show how QA should document a failure story.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515301-66EA-46CD-B005-03A30F547410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14DE10-C1D8-477E-92ED-C4AFA66419F3}"/>
              </a:ext>
            </a:extLst>
          </p:cNvPr>
          <p:cNvSpPr>
            <a:spLocks noGrp="1"/>
          </p:cNvSpPr>
          <p:nvPr/>
        </p:nvSpPr>
        <p:spPr>
          <a:xfrm>
            <a:off x="800100" y="3752850"/>
            <a:ext cx="76200" cy="14859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D4200E-3793-4357-928F-A871857CFF3A}"/>
              </a:ext>
            </a:extLst>
          </p:cNvPr>
          <p:cNvSpPr>
            <a:spLocks noGrp="1"/>
          </p:cNvSpPr>
          <p:nvPr/>
        </p:nvSpPr>
        <p:spPr>
          <a:xfrm>
            <a:off x="1028700" y="39814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9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Run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B8F9CE-930C-41A1-9D03-D3378F830FBB}"/>
              </a:ext>
            </a:extLst>
          </p:cNvPr>
          <p:cNvSpPr>
            <a:spLocks noGrp="1"/>
          </p:cNvSpPr>
          <p:nvPr/>
        </p:nvSpPr>
        <p:spPr>
          <a:xfrm>
            <a:off x="1028700" y="4419600"/>
            <a:ext cx="209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Build, fast, and slow activities succeed before the threshold gate fails.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8ED7CB0-2AC3-4286-8442-9B6902510CA5}"/>
              </a:ext>
            </a:extLst>
          </p:cNvPr>
          <p:cNvSpPr>
            <a:spLocks noGrp="1"/>
          </p:cNvSpPr>
          <p:nvPr/>
        </p:nvSpPr>
        <p:spPr>
          <a:xfrm>
            <a:off x="4000500" y="375285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164CC2-8CF0-4080-8AD5-26D9576B93C8}"/>
              </a:ext>
            </a:extLst>
          </p:cNvPr>
          <p:cNvSpPr>
            <a:spLocks noGrp="1"/>
          </p:cNvSpPr>
          <p:nvPr/>
        </p:nvSpPr>
        <p:spPr>
          <a:xfrm>
            <a:off x="4000500" y="3752850"/>
            <a:ext cx="76200" cy="14859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F4D549-33B0-4122-A62D-04DC50DE448E}"/>
              </a:ext>
            </a:extLst>
          </p:cNvPr>
          <p:cNvSpPr>
            <a:spLocks noGrp="1"/>
          </p:cNvSpPr>
          <p:nvPr/>
        </p:nvSpPr>
        <p:spPr>
          <a:xfrm>
            <a:off x="4229099" y="3981450"/>
            <a:ext cx="2095499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95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Runtime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99F3BD-3F31-47E9-976C-F86B6C8C12BE}"/>
              </a:ext>
            </a:extLst>
          </p:cNvPr>
          <p:cNvSpPr>
            <a:spLocks noGrp="1"/>
          </p:cNvSpPr>
          <p:nvPr/>
        </p:nvSpPr>
        <p:spPr>
          <a:xfrm>
            <a:off x="4229100" y="4419600"/>
            <a:ext cx="209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QA records the activity statuses, durations, and failure message.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9E9A427-8A09-410E-B0D1-E9C8585E746F}"/>
              </a:ext>
            </a:extLst>
          </p:cNvPr>
          <p:cNvSpPr>
            <a:spLocks noGrp="1"/>
          </p:cNvSpPr>
          <p:nvPr/>
        </p:nvSpPr>
        <p:spPr>
          <a:xfrm>
            <a:off x="7200900" y="3752850"/>
            <a:ext cx="2628900" cy="1485900"/>
          </a:xfrm>
          <a:prstGeom prst="roundRect">
            <a:avLst>
              <a:gd name="adj" fmla="val 5128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6E8061-32FD-43F8-A3F7-7B72F8FFA412}"/>
              </a:ext>
            </a:extLst>
          </p:cNvPr>
          <p:cNvSpPr>
            <a:spLocks noGrp="1"/>
          </p:cNvSpPr>
          <p:nvPr/>
        </p:nvSpPr>
        <p:spPr>
          <a:xfrm>
            <a:off x="7200900" y="3752850"/>
            <a:ext cx="76200" cy="14859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17ADDC-B4E5-440A-8ACD-AD1CA3733A2F}"/>
              </a:ext>
            </a:extLst>
          </p:cNvPr>
          <p:cNvSpPr>
            <a:spLocks noGrp="1"/>
          </p:cNvSpPr>
          <p:nvPr/>
        </p:nvSpPr>
        <p:spPr>
          <a:xfrm>
            <a:off x="7429500" y="39814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9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Run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A002E2-678C-404E-8653-78A96B88DD87}"/>
              </a:ext>
            </a:extLst>
          </p:cNvPr>
          <p:cNvSpPr>
            <a:spLocks noGrp="1"/>
          </p:cNvSpPr>
          <p:nvPr/>
        </p:nvSpPr>
        <p:spPr>
          <a:xfrm>
            <a:off x="7429500" y="4419600"/>
            <a:ext cx="2095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The threshold notebook is replaced and the rerun succeeds cleanly.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41CCF9-8796-4CB0-B0EF-12DE66D26E2E}"/>
              </a:ext>
            </a:extLst>
          </p:cNvPr>
          <p:cNvSpPr>
            <a:spLocks noGrp="1"/>
          </p:cNvSpPr>
          <p:nvPr/>
        </p:nvSpPr>
        <p:spPr>
          <a:xfrm>
            <a:off x="3429000" y="4476750"/>
            <a:ext cx="5715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3" name="Chevron 22">
            <a:extLst>
              <a:ext uri="{FF2B5EF4-FFF2-40B4-BE49-F238E27FC236}">
                <a16:creationId xmlns:a16="http://schemas.microsoft.com/office/drawing/2014/main" id="{2C0A0D7A-29D2-4406-B977-201626E27060}"/>
              </a:ext>
            </a:extLst>
          </p:cNvPr>
          <p:cNvSpPr>
            <a:spLocks noGrp="1"/>
          </p:cNvSpPr>
          <p:nvPr/>
        </p:nvSpPr>
        <p:spPr>
          <a:xfrm>
            <a:off x="3867150" y="438150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1C97D46-FD6E-4590-A535-2E93FC62DD1F}"/>
              </a:ext>
            </a:extLst>
          </p:cNvPr>
          <p:cNvSpPr>
            <a:spLocks noGrp="1"/>
          </p:cNvSpPr>
          <p:nvPr/>
        </p:nvSpPr>
        <p:spPr>
          <a:xfrm>
            <a:off x="6629400" y="4476750"/>
            <a:ext cx="5715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5" name="Chevron 24">
            <a:extLst>
              <a:ext uri="{FF2B5EF4-FFF2-40B4-BE49-F238E27FC236}">
                <a16:creationId xmlns:a16="http://schemas.microsoft.com/office/drawing/2014/main" id="{EB97252C-4425-437F-8CEA-D89D3F380B2F}"/>
              </a:ext>
            </a:extLst>
          </p:cNvPr>
          <p:cNvSpPr>
            <a:spLocks noGrp="1"/>
          </p:cNvSpPr>
          <p:nvPr/>
        </p:nvSpPr>
        <p:spPr>
          <a:xfrm>
            <a:off x="7067550" y="438150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7751C3-4800-4DC1-83DA-48D43ECB0FC6}"/>
              </a:ext>
            </a:extLst>
          </p:cNvPr>
          <p:cNvSpPr>
            <a:spLocks noGrp="1"/>
          </p:cNvSpPr>
          <p:nvPr/>
        </p:nvSpPr>
        <p:spPr>
          <a:xfrm>
            <a:off x="3733800" y="5543550"/>
            <a:ext cx="4686300" cy="304800"/>
          </a:xfrm>
          <a:prstGeom prst="roundRect">
            <a:avLst>
              <a:gd name="adj" fmla="val 25000"/>
            </a:avLst>
          </a:prstGeom>
          <a:solidFill>
            <a:srgbClr val="EEF2F5"/>
          </a:solidFill>
          <a:ln w="0">
            <a:solidFill>
              <a:srgbClr val="EEF2F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8B7ACE-565C-4EB0-86E8-355DA8FCDB7C}"/>
              </a:ext>
            </a:extLst>
          </p:cNvPr>
          <p:cNvSpPr>
            <a:spLocks noGrp="1"/>
          </p:cNvSpPr>
          <p:nvPr/>
        </p:nvSpPr>
        <p:spPr>
          <a:xfrm>
            <a:off x="3867150" y="5619750"/>
            <a:ext cx="4419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2223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22235"/>
                </a:solidFill>
                <a:latin typeface="Aptos Mono"/>
                <a:ea typeface="Aptos Mono"/>
                <a:cs typeface="Aptos Mono"/>
              </a:rPr>
              <a:t>QA STORY: SIGNAL -&gt; DOCUMENT -&gt; RETEST</a:t>
            </a:r>
          </a:p>
        </p:txBody>
      </p:sp>
    </p:spTree>
    <p:extLst>
      <p:ext uri="{BB962C8B-B14F-4D97-AF65-F5344CB8AC3E}">
        <p14:creationId xmlns:p14="http://schemas.microsoft.com/office/powerpoint/2010/main" val="22577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E7BCCDB5-B92C-4A99-817F-CD85F72719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E0E4E4-B67F-4E0C-97E4-E2F2624FDE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A290E98-FA28-46EB-AEB5-1ECC306C7458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D59341-254C-4924-A6DB-869CF4612A03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72AFBB0-4429-4210-A404-E311BAEF18D6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A18CC9-9FEB-4374-8530-571710398A3B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AUTOMATE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1F5F85-D255-4D37-9AAC-F5A6BD33A62E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83B1F8-2082-4991-8674-8F2CACEF83C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What to automate first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7F37C-C855-4A8F-B91E-0BBA9DBD40DF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Good first automation targets are stable, high-value, and easy to explain.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EAC3BDC-0866-4193-B51E-9E7A8BF05E01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7BE6A-7F8A-4F65-A63E-82243A99D00A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620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45E101-91D8-47B9-A186-DE4B9305DF27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Row counts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E45E4B-8221-4AB4-8BC6-0AE84F83EFC0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Simple counts for critical tables are stable and easy to trust.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C49DA99-BD49-4E0D-8F72-A61BD10BD644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C5080A-C92F-4662-A4C1-892F059429B3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620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354DE4-BAB8-4086-8DA3-D93A6C439738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KPI totals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AFFCEB-1603-4DD4-AF4D-04DBC7F54FFA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Stable totals and averages are excellent truth-set checks.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34DB591-B637-447A-BF45-D1B3A2637783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AF08F9-C069-4A6E-AE5B-496661A02388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620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68B59F-44BD-4616-A0EA-640AD305A668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Region aggregates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E267DB-22F7-424C-ACD2-2013D78AC699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Expected grouped values help catch obvious transformation defects.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38F2127-57FF-4D4B-A27B-8B235F027844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4AF44F8-06E0-4C72-A5A7-F9C524EA0100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620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8403C7-0C8E-4FE9-B587-3E59B9ADEE81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Structured statuses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F48282A-EB28-4099-8F36-4514E57CC54F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Pipeline statuses and simple duration comparisons work well once captured as data.</a:t>
            </a:r>
          </a:p>
        </p:txBody>
      </p:sp>
    </p:spTree>
    <p:extLst>
      <p:ext uri="{BB962C8B-B14F-4D97-AF65-F5344CB8AC3E}">
        <p14:creationId xmlns:p14="http://schemas.microsoft.com/office/powerpoint/2010/main" val="1221596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3FFE731C-E0EA-49D5-A56D-B85D449644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1E004-1751-4E49-8153-DD8088E51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0F9D33B-19A0-4AAF-AC04-EE2D25BF3030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0AFC85-6734-44F6-8772-E7CB142C7D39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EA20C-E3FF-42C1-BDC4-9397C21DA9BD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25F88F-74ED-4846-8175-9A04D1C743D1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MANUAL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05E13C-588E-4878-9693-5FA043E772C0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DEB13A-E438-42CE-AB28-DBE6F277B65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What should stay manual at first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7B0714-8228-4EC1-B364-E3D1754C82BB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Some checks still need human interpretation even in a mature QA workflow.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DAFB31E-14C4-4763-BBCB-72A9ED4AA130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10591800" cy="2971800"/>
          </a:xfrm>
          <a:prstGeom prst="roundRect">
            <a:avLst>
              <a:gd name="adj" fmla="val 2564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06378B-B6EA-4975-A62D-4AFF5948D20C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76200" cy="29718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81E6DC-6F27-4B0A-81BA-6DEF4D0B53DF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2AEEC2-A276-4302-A20D-3B12F1590C46}"/>
              </a:ext>
            </a:extLst>
          </p:cNvPr>
          <p:cNvSpPr>
            <a:spLocks noGrp="1"/>
          </p:cNvSpPr>
          <p:nvPr/>
        </p:nvSpPr>
        <p:spPr>
          <a:xfrm>
            <a:off x="1200150" y="35623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B09DF8-D169-4C2E-B14F-668C33B6DA3A}"/>
              </a:ext>
            </a:extLst>
          </p:cNvPr>
          <p:cNvSpPr>
            <a:spLocks noGrp="1"/>
          </p:cNvSpPr>
          <p:nvPr/>
        </p:nvSpPr>
        <p:spPr>
          <a:xfrm>
            <a:off x="1714500" y="35052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142332"/>
                </a:solidFill>
                <a:latin typeface="Lato"/>
                <a:ea typeface="Lato"/>
                <a:cs typeface="Lato"/>
              </a:rPr>
              <a:t>deciding whether a duration is acceptable for a specific production environment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CE8D13-5A50-48B9-9DA8-60D30CCAC931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CDEE59-EADD-4E19-90C1-E1852D52B23D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6BF046-DB4E-4CB8-8C13-CDDDFAB2BDC9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interpreting broad capacity-pressure symptoms across multiple workloads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C44FF38-3AEB-4F8A-B363-90807029016A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5806C4-C6BF-4BEF-A858-9175CB0B2E56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EAA048-5056-4A1C-9D15-1A502C43B600}"/>
              </a:ext>
            </a:extLst>
          </p:cNvPr>
          <p:cNvSpPr>
            <a:spLocks noGrp="1"/>
          </p:cNvSpPr>
          <p:nvPr/>
        </p:nvSpPr>
        <p:spPr>
          <a:xfrm>
            <a:off x="1714500" y="43053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exploratory troubleshooting after an unexpected runtime anomaly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4637E7A-8C93-4CA3-A029-46BDB2073A4D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02686F-0184-4A3D-A22D-BAD342C870F0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D5D2A5-45BB-4D3F-A8B9-C9C6D4A6123A}"/>
              </a:ext>
            </a:extLst>
          </p:cNvPr>
          <p:cNvSpPr>
            <a:spLocks noGrp="1"/>
          </p:cNvSpPr>
          <p:nvPr/>
        </p:nvSpPr>
        <p:spPr>
          <a:xfrm>
            <a:off x="1714500" y="47053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UI-dependent monitoring views that change with filtering or environment setup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891DE82-2DC7-47B8-AAE9-1F4E27EACB6A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0C18C7-F779-4D67-9990-7DCE201F214F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183C68-3C80-4434-A968-BBA7890E2DA4}"/>
              </a:ext>
            </a:extLst>
          </p:cNvPr>
          <p:cNvSpPr>
            <a:spLocks noGrp="1"/>
          </p:cNvSpPr>
          <p:nvPr/>
        </p:nvSpPr>
        <p:spPr>
          <a:xfrm>
            <a:off x="1714500" y="51054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judgment calls about escalation severity and release risk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54A84FB-9468-4A8B-9AF2-4C174408FFC4}"/>
              </a:ext>
            </a:extLst>
          </p:cNvPr>
          <p:cNvSpPr>
            <a:spLocks noGrp="1"/>
          </p:cNvSpPr>
          <p:nvPr/>
        </p:nvSpPr>
        <p:spPr>
          <a:xfrm>
            <a:off x="1066800" y="5486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5E7C5"/>
          </a:solidFill>
          <a:ln w="0">
            <a:solidFill>
              <a:srgbClr val="F5E7C5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1C1BF1C-FD60-4CD5-97D9-223E5A49E929}"/>
              </a:ext>
            </a:extLst>
          </p:cNvPr>
          <p:cNvSpPr>
            <a:spLocks noGrp="1"/>
          </p:cNvSpPr>
          <p:nvPr/>
        </p:nvSpPr>
        <p:spPr>
          <a:xfrm>
            <a:off x="1200150" y="55626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CF972F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6EE764-CA0A-4706-8F36-6EDDF068CB48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root-cause analysis that extends beyond the packaged QA truth set</a:t>
            </a:r>
          </a:p>
        </p:txBody>
      </p:sp>
    </p:spTree>
    <p:extLst>
      <p:ext uri="{BB962C8B-B14F-4D97-AF65-F5344CB8AC3E}">
        <p14:creationId xmlns:p14="http://schemas.microsoft.com/office/powerpoint/2010/main" val="1497357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D390301-F19D-41DA-8197-07CFBBB66A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C39239-B9E1-4416-B088-88C0E9B221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9F2E010-94C8-413D-9D4D-F526A7670588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7B0E7F-AAB0-48CF-AA5D-D10DFB56113C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9FBB06-213B-4198-830B-97A19E974A44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612DA-5FA4-4B6D-A597-A9C3426C7858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PYTEST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F4A6B-62B8-45D2-9DB0-839391B1C85C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46873C-53D2-490F-A1D0-35B9AB23D162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Pytest-oriented automation architecture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09078-60FB-40B4-B633-4AB4E06FEC50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L</a:t>
            </a: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ightweight pattern that is easy to explain and expand.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3C835D1-A1E5-48B9-9E87-8FF835815557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DFCC4C-CE86-43A5-9408-9FDB9733B34A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6200" cy="14668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5E3C35-0069-4970-835E-474B767CA660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1. Observe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967C3B-1998-4845-AB5A-8BA92F12D737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1466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statuses, durations, and SQL results from Fabric.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64D5CA-4D5B-4D5B-BD88-46AE0246FEDE}"/>
              </a:ext>
            </a:extLst>
          </p:cNvPr>
          <p:cNvSpPr>
            <a:spLocks noGrp="1"/>
          </p:cNvSpPr>
          <p:nvPr/>
        </p:nvSpPr>
        <p:spPr>
          <a:xfrm>
            <a:off x="3009900" y="38862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E4C0A5-20AE-49CB-9335-804CBD23EE60}"/>
              </a:ext>
            </a:extLst>
          </p:cNvPr>
          <p:cNvSpPr>
            <a:spLocks noGrp="1"/>
          </p:cNvSpPr>
          <p:nvPr/>
        </p:nvSpPr>
        <p:spPr>
          <a:xfrm>
            <a:off x="3009900" y="3886200"/>
            <a:ext cx="76200" cy="14668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7BA16B-6857-4761-8C87-69A4214866FD}"/>
              </a:ext>
            </a:extLst>
          </p:cNvPr>
          <p:cNvSpPr>
            <a:spLocks noGrp="1"/>
          </p:cNvSpPr>
          <p:nvPr/>
        </p:nvSpPr>
        <p:spPr>
          <a:xfrm>
            <a:off x="3200400" y="409575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2. Structure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091FA6-0402-41DC-9946-3CBDDC8631FB}"/>
              </a:ext>
            </a:extLst>
          </p:cNvPr>
          <p:cNvSpPr>
            <a:spLocks noGrp="1"/>
          </p:cNvSpPr>
          <p:nvPr/>
        </p:nvSpPr>
        <p:spPr>
          <a:xfrm>
            <a:off x="3200400" y="4552950"/>
            <a:ext cx="1466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Copy those observations into a JSON file.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48A9C29-1E6E-4792-B68D-A0F084BAFB48}"/>
              </a:ext>
            </a:extLst>
          </p:cNvPr>
          <p:cNvSpPr>
            <a:spLocks noGrp="1"/>
          </p:cNvSpPr>
          <p:nvPr/>
        </p:nvSpPr>
        <p:spPr>
          <a:xfrm>
            <a:off x="5314950" y="38862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7A3442-939C-4A1C-A851-8C60DF093EFA}"/>
              </a:ext>
            </a:extLst>
          </p:cNvPr>
          <p:cNvSpPr>
            <a:spLocks noGrp="1"/>
          </p:cNvSpPr>
          <p:nvPr/>
        </p:nvSpPr>
        <p:spPr>
          <a:xfrm>
            <a:off x="5314950" y="3886200"/>
            <a:ext cx="76200" cy="14668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269895-D73F-47F4-8B5B-F92BCC6A4697}"/>
              </a:ext>
            </a:extLst>
          </p:cNvPr>
          <p:cNvSpPr>
            <a:spLocks noGrp="1"/>
          </p:cNvSpPr>
          <p:nvPr/>
        </p:nvSpPr>
        <p:spPr>
          <a:xfrm>
            <a:off x="5505450" y="409575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3. Validate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28CA6B-BD73-420C-9F19-9ACCFB9C33C2}"/>
              </a:ext>
            </a:extLst>
          </p:cNvPr>
          <p:cNvSpPr>
            <a:spLocks noGrp="1"/>
          </p:cNvSpPr>
          <p:nvPr/>
        </p:nvSpPr>
        <p:spPr>
          <a:xfrm>
            <a:off x="5505450" y="4552950"/>
            <a:ext cx="1466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Run pytest to compare observations to the truth set.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B055C9-0D4D-473E-9A85-9F035483FC16}"/>
              </a:ext>
            </a:extLst>
          </p:cNvPr>
          <p:cNvSpPr>
            <a:spLocks noGrp="1"/>
          </p:cNvSpPr>
          <p:nvPr/>
        </p:nvSpPr>
        <p:spPr>
          <a:xfrm>
            <a:off x="7620000" y="38862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D28E4A-FAF0-43FF-9939-F44845583045}"/>
              </a:ext>
            </a:extLst>
          </p:cNvPr>
          <p:cNvSpPr>
            <a:spLocks noGrp="1"/>
          </p:cNvSpPr>
          <p:nvPr/>
        </p:nvSpPr>
        <p:spPr>
          <a:xfrm>
            <a:off x="7620000" y="3886200"/>
            <a:ext cx="76200" cy="14668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E147AC-BD9B-4AAD-8394-0B5B82808714}"/>
              </a:ext>
            </a:extLst>
          </p:cNvPr>
          <p:cNvSpPr>
            <a:spLocks noGrp="1"/>
          </p:cNvSpPr>
          <p:nvPr/>
        </p:nvSpPr>
        <p:spPr>
          <a:xfrm>
            <a:off x="7810500" y="4095750"/>
            <a:ext cx="1447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4. Expand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1F8579-54AE-41A0-8C12-7C0DF2CAE3CF}"/>
              </a:ext>
            </a:extLst>
          </p:cNvPr>
          <p:cNvSpPr>
            <a:spLocks noGrp="1"/>
          </p:cNvSpPr>
          <p:nvPr/>
        </p:nvSpPr>
        <p:spPr>
          <a:xfrm>
            <a:off x="7810500" y="4552950"/>
            <a:ext cx="1466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Add more stable checks as the QA suite matures.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9C3924-BABF-4879-8D02-FF772F67E689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7" name="Chevron 26">
            <a:extLst>
              <a:ext uri="{FF2B5EF4-FFF2-40B4-BE49-F238E27FC236}">
                <a16:creationId xmlns:a16="http://schemas.microsoft.com/office/drawing/2014/main" id="{C1D2F802-8B65-481D-8833-499D00843323}"/>
              </a:ext>
            </a:extLst>
          </p:cNvPr>
          <p:cNvSpPr>
            <a:spLocks noGrp="1"/>
          </p:cNvSpPr>
          <p:nvPr/>
        </p:nvSpPr>
        <p:spPr>
          <a:xfrm>
            <a:off x="2876550" y="45148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75A2F9-E53C-4A7C-85A4-4DAEA880ADF9}"/>
              </a:ext>
            </a:extLst>
          </p:cNvPr>
          <p:cNvSpPr>
            <a:spLocks noGrp="1"/>
          </p:cNvSpPr>
          <p:nvPr/>
        </p:nvSpPr>
        <p:spPr>
          <a:xfrm>
            <a:off x="4857750" y="46101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29" name="Chevron 28">
            <a:extLst>
              <a:ext uri="{FF2B5EF4-FFF2-40B4-BE49-F238E27FC236}">
                <a16:creationId xmlns:a16="http://schemas.microsoft.com/office/drawing/2014/main" id="{9B7449B4-B2AD-478F-BB38-9E11CE695AF1}"/>
              </a:ext>
            </a:extLst>
          </p:cNvPr>
          <p:cNvSpPr>
            <a:spLocks noGrp="1"/>
          </p:cNvSpPr>
          <p:nvPr/>
        </p:nvSpPr>
        <p:spPr>
          <a:xfrm>
            <a:off x="5181600" y="45148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CA94943-269D-45C5-818B-33396A166F33}"/>
              </a:ext>
            </a:extLst>
          </p:cNvPr>
          <p:cNvSpPr>
            <a:spLocks noGrp="1"/>
          </p:cNvSpPr>
          <p:nvPr/>
        </p:nvSpPr>
        <p:spPr>
          <a:xfrm>
            <a:off x="7162800" y="46101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E827CB53-4852-4289-BC15-6CBE8E9E6B6A}"/>
              </a:ext>
            </a:extLst>
          </p:cNvPr>
          <p:cNvSpPr>
            <a:spLocks noGrp="1"/>
          </p:cNvSpPr>
          <p:nvPr/>
        </p:nvSpPr>
        <p:spPr>
          <a:xfrm>
            <a:off x="7486650" y="45148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ED18BAB-7110-4776-BA20-AF3500B51648}"/>
              </a:ext>
            </a:extLst>
          </p:cNvPr>
          <p:cNvSpPr>
            <a:spLocks noGrp="1"/>
          </p:cNvSpPr>
          <p:nvPr/>
        </p:nvSpPr>
        <p:spPr>
          <a:xfrm>
            <a:off x="9505950" y="3886200"/>
            <a:ext cx="1885950" cy="1466850"/>
          </a:xfrm>
          <a:prstGeom prst="roundRect">
            <a:avLst>
              <a:gd name="adj" fmla="val 5195"/>
            </a:avLst>
          </a:prstGeom>
          <a:solidFill>
            <a:srgbClr val="EEE8DF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4CDDA1A-20C3-459F-AA3E-4D19FE3B13C4}"/>
              </a:ext>
            </a:extLst>
          </p:cNvPr>
          <p:cNvSpPr>
            <a:spLocks noGrp="1"/>
          </p:cNvSpPr>
          <p:nvPr/>
        </p:nvSpPr>
        <p:spPr>
          <a:xfrm>
            <a:off x="9505950" y="3886200"/>
            <a:ext cx="76200" cy="146685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E93621-2FE7-46C7-9046-4DA471858880}"/>
              </a:ext>
            </a:extLst>
          </p:cNvPr>
          <p:cNvSpPr>
            <a:spLocks noGrp="1"/>
          </p:cNvSpPr>
          <p:nvPr/>
        </p:nvSpPr>
        <p:spPr>
          <a:xfrm>
            <a:off x="9696450" y="41148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513" lnSpcReduction="10000"/>
          </a:bodyPr>
          <a:lstStyle/>
          <a:p>
            <a:pPr algn="l">
              <a:defRPr sz="1425" b="1">
                <a:solidFill>
                  <a:srgbClr val="142332"/>
                </a:solidFill>
                <a:latin typeface="Aptos Mono"/>
                <a:ea typeface="Aptos Mono"/>
                <a:cs typeface="Aptos Mono"/>
              </a:defRPr>
            </a:pPr>
            <a:r>
              <a:rPr sz="1425" b="1" dirty="0" err="1">
                <a:solidFill>
                  <a:srgbClr val="142332"/>
                </a:solidFill>
                <a:latin typeface="Aptos Mono"/>
                <a:ea typeface="Aptos Mono"/>
                <a:cs typeface="Aptos Mono"/>
              </a:rPr>
              <a:t>test_results.py</a:t>
            </a:r>
            <a:endParaRPr sz="1425" b="1" dirty="0">
              <a:solidFill>
                <a:srgbClr val="142332"/>
              </a:solidFill>
              <a:latin typeface="Aptos Mono"/>
              <a:ea typeface="Aptos Mono"/>
              <a:cs typeface="Aptos Mono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68561A-37F3-4BD1-A478-16CE5731576A}"/>
              </a:ext>
            </a:extLst>
          </p:cNvPr>
          <p:cNvSpPr>
            <a:spLocks noGrp="1"/>
          </p:cNvSpPr>
          <p:nvPr/>
        </p:nvSpPr>
        <p:spPr>
          <a:xfrm>
            <a:off x="9696450" y="4476750"/>
            <a:ext cx="1466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Checks statuses,</a:t>
            </a:r>
          </a:p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counts, totals,</a:t>
            </a:r>
          </a:p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and duration pattern.</a:t>
            </a:r>
          </a:p>
        </p:txBody>
      </p:sp>
    </p:spTree>
    <p:extLst>
      <p:ext uri="{BB962C8B-B14F-4D97-AF65-F5344CB8AC3E}">
        <p14:creationId xmlns:p14="http://schemas.microsoft.com/office/powerpoint/2010/main" val="1628254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47AA823-390D-4313-A61B-9B2E80970A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50CC8A-871F-479A-A612-24ADD89E43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18AE950-6E55-40EB-99C1-7BC3239B60CF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1A19C9C-ACE8-44EC-B419-113460E41F50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C710B7-F7AC-43C6-89EA-D1EAEE93479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469C3-4836-4748-9A39-A6B0E7EBA3A6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SCENARIO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93FEED-8894-4844-95DE-20D4E17B9DCC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40CB88-0F54-4D23-9053-9B528DDE647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Module 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5 </a:t>
            </a: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lab 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scenario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13BD92-7F0F-4368-B469-CA6FA6BF4F43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The lab uses one small runtime story so learners can focus on evidence rather than setup complexity.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2D6CC3D-B1ED-4C0D-A09E-727B3E7B6614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F64EA0-96F9-459E-A05A-4A4356DE7F88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620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0A054E-DA33-4F5A-BDAD-0AB5E0FEE897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Build step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94801D-E407-4195-9829-B61C593C3D67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Creates curated Lakehouse tables and a regional sales summary.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B95B115-29B7-4094-B039-4983494B5683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DBC46-8502-4456-8A71-06707E9395DE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620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2971F1-834B-42E0-8456-56F63C9076B0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Fast and slow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A43D88-B69A-41FB-89AE-63E10D837B07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Expose a visible duration difference in the same pipeline.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F3C87E-3A64-4D71-9EC9-52ADF9AFC66A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102196-728A-468E-A1FA-A8B189D20AA1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76200" cy="11620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CE8CA4-2A11-430D-8F3C-336629BAC811}"/>
              </a:ext>
            </a:extLst>
          </p:cNvPr>
          <p:cNvSpPr>
            <a:spLocks noGrp="1"/>
          </p:cNvSpPr>
          <p:nvPr/>
        </p:nvSpPr>
        <p:spPr>
          <a:xfrm>
            <a:off x="1009650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Threshold failure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6550CD-86AB-42EA-8711-617C2DA99B6A}"/>
              </a:ext>
            </a:extLst>
          </p:cNvPr>
          <p:cNvSpPr>
            <a:spLocks noGrp="1"/>
          </p:cNvSpPr>
          <p:nvPr/>
        </p:nvSpPr>
        <p:spPr>
          <a:xfrm>
            <a:off x="1009650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Creates a clear failed run for monitoring and retest evidence.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D83C161-D95F-41FA-BC76-2C3E4CBAB4C3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5191125" cy="1162050"/>
          </a:xfrm>
          <a:prstGeom prst="roundRect">
            <a:avLst>
              <a:gd name="adj" fmla="val 6557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69DE2-4E5E-4E5F-AD65-6D6EAFBCBA87}"/>
              </a:ext>
            </a:extLst>
          </p:cNvPr>
          <p:cNvSpPr>
            <a:spLocks noGrp="1"/>
          </p:cNvSpPr>
          <p:nvPr/>
        </p:nvSpPr>
        <p:spPr>
          <a:xfrm>
            <a:off x="6200775" y="4591050"/>
            <a:ext cx="76200" cy="11620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737514-C953-491F-A011-A735669E8B7C}"/>
              </a:ext>
            </a:extLst>
          </p:cNvPr>
          <p:cNvSpPr>
            <a:spLocks noGrp="1"/>
          </p:cNvSpPr>
          <p:nvPr/>
        </p:nvSpPr>
        <p:spPr>
          <a:xfrm>
            <a:off x="6410325" y="47625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Pytest closeout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1B92FC-9FEA-4E59-9DFC-5E16C78F4296}"/>
              </a:ext>
            </a:extLst>
          </p:cNvPr>
          <p:cNvSpPr>
            <a:spLocks noGrp="1"/>
          </p:cNvSpPr>
          <p:nvPr/>
        </p:nvSpPr>
        <p:spPr>
          <a:xfrm>
            <a:off x="6410325" y="5105400"/>
            <a:ext cx="4772025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Turns the observed results into an automated confidence check.</a:t>
            </a:r>
          </a:p>
        </p:txBody>
      </p:sp>
    </p:spTree>
    <p:extLst>
      <p:ext uri="{BB962C8B-B14F-4D97-AF65-F5344CB8AC3E}">
        <p14:creationId xmlns:p14="http://schemas.microsoft.com/office/powerpoint/2010/main" val="1087231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5F8E9F1-1108-494E-BC4E-9620AD7E09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FB5673-63C8-44F3-A349-AEA0EC0468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094D4D7-4CB8-4B93-B549-5AE6878DA402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386069-9680-4249-AB68-39533DF2170E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B8DEC4-C00B-47AE-BEBA-255E299123D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6A334-283E-4A90-ACA7-4FF5EEAF92CA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LAB 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1DEBBC-0589-46EC-81B4-EAE813C41A55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6B9AB2-B787-4D74-9AE5-DD53215091C3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Module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 5 lab flow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249EC7-66D0-46BA-A204-61878DC5F2C8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The hands-on flow moves from runtime observation into validation and then into automation.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1D1761-74F5-4EE6-8AEC-A69C132A2492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6B8C9-8F78-4B4C-86B3-E7A79E52B000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76200" cy="146685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581371-98C2-4FFB-9975-1B6DD3F63822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1. Upload files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7D3B3-8E61-4959-BB3F-FCAD1E3397D3}"/>
              </a:ext>
            </a:extLst>
          </p:cNvPr>
          <p:cNvSpPr>
            <a:spLocks noGrp="1"/>
          </p:cNvSpPr>
          <p:nvPr/>
        </p:nvSpPr>
        <p:spPr>
          <a:xfrm>
            <a:off x="89535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Create the workspace, Lakehouse, and notebooks.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94A7E7-7115-4B7E-B072-73439DB75E08}"/>
              </a:ext>
            </a:extLst>
          </p:cNvPr>
          <p:cNvSpPr>
            <a:spLocks noGrp="1"/>
          </p:cNvSpPr>
          <p:nvPr/>
        </p:nvSpPr>
        <p:spPr>
          <a:xfrm>
            <a:off x="300990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6DD32C-0284-4AFD-A8BB-81C176032635}"/>
              </a:ext>
            </a:extLst>
          </p:cNvPr>
          <p:cNvSpPr>
            <a:spLocks noGrp="1"/>
          </p:cNvSpPr>
          <p:nvPr/>
        </p:nvSpPr>
        <p:spPr>
          <a:xfrm>
            <a:off x="3009900" y="3848100"/>
            <a:ext cx="76200" cy="146685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2F8B4-A604-4108-A48D-67A04C5B5204}"/>
              </a:ext>
            </a:extLst>
          </p:cNvPr>
          <p:cNvSpPr>
            <a:spLocks noGrp="1"/>
          </p:cNvSpPr>
          <p:nvPr/>
        </p:nvSpPr>
        <p:spPr>
          <a:xfrm>
            <a:off x="320040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6907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2. Run pipeline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029E23-6A71-4AB0-A3DF-A7FF8A01DC88}"/>
              </a:ext>
            </a:extLst>
          </p:cNvPr>
          <p:cNvSpPr>
            <a:spLocks noGrp="1"/>
          </p:cNvSpPr>
          <p:nvPr/>
        </p:nvSpPr>
        <p:spPr>
          <a:xfrm>
            <a:off x="320040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Capture fast, slow, and failed behavior.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707FAF7-12F1-4909-871E-05FEE4BAC461}"/>
              </a:ext>
            </a:extLst>
          </p:cNvPr>
          <p:cNvSpPr>
            <a:spLocks noGrp="1"/>
          </p:cNvSpPr>
          <p:nvPr/>
        </p:nvSpPr>
        <p:spPr>
          <a:xfrm>
            <a:off x="531495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FC3698-4C54-40DD-B8E8-D596D9DFD13D}"/>
              </a:ext>
            </a:extLst>
          </p:cNvPr>
          <p:cNvSpPr>
            <a:spLocks noGrp="1"/>
          </p:cNvSpPr>
          <p:nvPr/>
        </p:nvSpPr>
        <p:spPr>
          <a:xfrm>
            <a:off x="5314950" y="3848100"/>
            <a:ext cx="76200" cy="146685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E5C43A-8667-4C86-A4BB-6F7EBC6E2D5C}"/>
              </a:ext>
            </a:extLst>
          </p:cNvPr>
          <p:cNvSpPr>
            <a:spLocks noGrp="1"/>
          </p:cNvSpPr>
          <p:nvPr/>
        </p:nvSpPr>
        <p:spPr>
          <a:xfrm>
            <a:off x="550545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67179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3. Rerun successfully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8E6BEC-E361-416F-9D15-A174E167AE7E}"/>
              </a:ext>
            </a:extLst>
          </p:cNvPr>
          <p:cNvSpPr>
            <a:spLocks noGrp="1"/>
          </p:cNvSpPr>
          <p:nvPr/>
        </p:nvSpPr>
        <p:spPr>
          <a:xfrm>
            <a:off x="550545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Switch the threshold step and confirm clean completion.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EE47E25-094F-4513-B227-EF17BB6567E2}"/>
              </a:ext>
            </a:extLst>
          </p:cNvPr>
          <p:cNvSpPr>
            <a:spLocks noGrp="1"/>
          </p:cNvSpPr>
          <p:nvPr/>
        </p:nvSpPr>
        <p:spPr>
          <a:xfrm>
            <a:off x="762000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0EECF5-2AC0-4704-882D-0352A5B6DF5C}"/>
              </a:ext>
            </a:extLst>
          </p:cNvPr>
          <p:cNvSpPr>
            <a:spLocks noGrp="1"/>
          </p:cNvSpPr>
          <p:nvPr/>
        </p:nvSpPr>
        <p:spPr>
          <a:xfrm>
            <a:off x="7620000" y="3848100"/>
            <a:ext cx="76200" cy="146685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7CFF763-5EF6-4F08-971A-0FEFDB038E0B}"/>
              </a:ext>
            </a:extLst>
          </p:cNvPr>
          <p:cNvSpPr>
            <a:spLocks noGrp="1"/>
          </p:cNvSpPr>
          <p:nvPr/>
        </p:nvSpPr>
        <p:spPr>
          <a:xfrm>
            <a:off x="781050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880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4. Validate SQL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4AE3E90-BEF5-4A6E-A4AD-DF6DFCBE947E}"/>
              </a:ext>
            </a:extLst>
          </p:cNvPr>
          <p:cNvSpPr>
            <a:spLocks noGrp="1"/>
          </p:cNvSpPr>
          <p:nvPr/>
        </p:nvSpPr>
        <p:spPr>
          <a:xfrm>
            <a:off x="781050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Load the Warehouse and confirm the truth set.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E917A69-F90B-4836-A218-52E4C90F0AA2}"/>
              </a:ext>
            </a:extLst>
          </p:cNvPr>
          <p:cNvSpPr>
            <a:spLocks noGrp="1"/>
          </p:cNvSpPr>
          <p:nvPr/>
        </p:nvSpPr>
        <p:spPr>
          <a:xfrm>
            <a:off x="9925050" y="3848100"/>
            <a:ext cx="1847850" cy="1466850"/>
          </a:xfrm>
          <a:prstGeom prst="roundRect">
            <a:avLst>
              <a:gd name="adj" fmla="val 5195"/>
            </a:avLst>
          </a:prstGeom>
          <a:solidFill>
            <a:srgbClr val="EEE8DF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79DE06-F2CA-4416-B89A-42A3AACE2E9B}"/>
              </a:ext>
            </a:extLst>
          </p:cNvPr>
          <p:cNvSpPr>
            <a:spLocks noGrp="1"/>
          </p:cNvSpPr>
          <p:nvPr/>
        </p:nvSpPr>
        <p:spPr>
          <a:xfrm>
            <a:off x="9925050" y="3848100"/>
            <a:ext cx="76200" cy="146685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731211-F709-4CEC-BE7A-D5EB91B8A784}"/>
              </a:ext>
            </a:extLst>
          </p:cNvPr>
          <p:cNvSpPr>
            <a:spLocks noGrp="1"/>
          </p:cNvSpPr>
          <p:nvPr/>
        </p:nvSpPr>
        <p:spPr>
          <a:xfrm>
            <a:off x="10115550" y="40576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5. Run pytest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CC29010-D4D2-4ADF-9708-965D44E0534E}"/>
              </a:ext>
            </a:extLst>
          </p:cNvPr>
          <p:cNvSpPr>
            <a:spLocks noGrp="1"/>
          </p:cNvSpPr>
          <p:nvPr/>
        </p:nvSpPr>
        <p:spPr>
          <a:xfrm>
            <a:off x="10115550" y="4514850"/>
            <a:ext cx="146685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83333"/>
          </a:bodyPr>
          <a:lstStyle/>
          <a:p>
            <a:pPr algn="l">
              <a:defRPr sz="112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Populate the observed-results file and automate the stable checks.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934888-CD14-410B-8875-51E71042B97D}"/>
              </a:ext>
            </a:extLst>
          </p:cNvPr>
          <p:cNvSpPr>
            <a:spLocks noGrp="1"/>
          </p:cNvSpPr>
          <p:nvPr/>
        </p:nvSpPr>
        <p:spPr>
          <a:xfrm>
            <a:off x="2552700" y="45720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1" name="Chevron 30">
            <a:extLst>
              <a:ext uri="{FF2B5EF4-FFF2-40B4-BE49-F238E27FC236}">
                <a16:creationId xmlns:a16="http://schemas.microsoft.com/office/drawing/2014/main" id="{846B9806-F252-4B00-88A3-8CFB798999C3}"/>
              </a:ext>
            </a:extLst>
          </p:cNvPr>
          <p:cNvSpPr>
            <a:spLocks noGrp="1"/>
          </p:cNvSpPr>
          <p:nvPr/>
        </p:nvSpPr>
        <p:spPr>
          <a:xfrm>
            <a:off x="2876550" y="44767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8E60BA-73BA-44F6-8200-627E98051F04}"/>
              </a:ext>
            </a:extLst>
          </p:cNvPr>
          <p:cNvSpPr>
            <a:spLocks noGrp="1"/>
          </p:cNvSpPr>
          <p:nvPr/>
        </p:nvSpPr>
        <p:spPr>
          <a:xfrm>
            <a:off x="4857750" y="45720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3" name="Chevron 32">
            <a:extLst>
              <a:ext uri="{FF2B5EF4-FFF2-40B4-BE49-F238E27FC236}">
                <a16:creationId xmlns:a16="http://schemas.microsoft.com/office/drawing/2014/main" id="{DA737B5E-CD2E-409D-9DFB-4ECBF5541AC0}"/>
              </a:ext>
            </a:extLst>
          </p:cNvPr>
          <p:cNvSpPr>
            <a:spLocks noGrp="1"/>
          </p:cNvSpPr>
          <p:nvPr/>
        </p:nvSpPr>
        <p:spPr>
          <a:xfrm>
            <a:off x="5181600" y="44767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367DBC-92EA-4559-A574-7D1A98859CBB}"/>
              </a:ext>
            </a:extLst>
          </p:cNvPr>
          <p:cNvSpPr>
            <a:spLocks noGrp="1"/>
          </p:cNvSpPr>
          <p:nvPr/>
        </p:nvSpPr>
        <p:spPr>
          <a:xfrm>
            <a:off x="7162800" y="45720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5" name="Chevron 34">
            <a:extLst>
              <a:ext uri="{FF2B5EF4-FFF2-40B4-BE49-F238E27FC236}">
                <a16:creationId xmlns:a16="http://schemas.microsoft.com/office/drawing/2014/main" id="{51E1D582-7721-41C9-B0AE-19AE96E58DE6}"/>
              </a:ext>
            </a:extLst>
          </p:cNvPr>
          <p:cNvSpPr>
            <a:spLocks noGrp="1"/>
          </p:cNvSpPr>
          <p:nvPr/>
        </p:nvSpPr>
        <p:spPr>
          <a:xfrm>
            <a:off x="7486650" y="44767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CFAE7C-FB72-422C-99EE-760DC9A2F5BF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457200" cy="38100"/>
          </a:xfrm>
          <a:prstGeom prst="rect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  <p:sp>
        <p:nvSpPr>
          <p:cNvPr id="37" name="Chevron 36">
            <a:extLst>
              <a:ext uri="{FF2B5EF4-FFF2-40B4-BE49-F238E27FC236}">
                <a16:creationId xmlns:a16="http://schemas.microsoft.com/office/drawing/2014/main" id="{78055A0F-8CFA-443A-BA49-03C661AE57BB}"/>
              </a:ext>
            </a:extLst>
          </p:cNvPr>
          <p:cNvSpPr>
            <a:spLocks noGrp="1"/>
          </p:cNvSpPr>
          <p:nvPr/>
        </p:nvSpPr>
        <p:spPr>
          <a:xfrm>
            <a:off x="9791700" y="4476750"/>
            <a:ext cx="209550" cy="228600"/>
          </a:xfrm>
          <a:prstGeom prst="chevron">
            <a:avLst/>
          </a:prstGeom>
          <a:solidFill>
            <a:srgbClr val="DBE2E7"/>
          </a:solidFill>
          <a:ln w="0">
            <a:solidFill>
              <a:srgbClr val="DBE2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2304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918B12-FD61-4A52-A6F2-AF5EE3390A0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80D2979-07B3-49B8-86E6-3CDFD2057CCA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B81204C-E82D-4321-B783-1B04E06B41BA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CD3CFE-99E0-4BED-BB6C-441D133E9DB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A95967-8C12-4BE2-90D5-C2BF341B36D4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EXPECTED OUTPUTS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F46BE-2698-4ECB-B5E7-E63A43DFAF93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B35525-80AA-4076-9492-00974BD266FF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Expected outputs and automation results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477687-5025-43BC-98B6-66B7E48A153C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The </a:t>
            </a:r>
            <a:r>
              <a:rPr lang="en-US"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Lab</a:t>
            </a: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 5 truth set is intentionally compact so both manual and automated checks stay readable.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31BDE96-6F3C-498A-ABCB-AF08D190000B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3390900" cy="236220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E2F594-F522-4371-B1A2-4F734B83681F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76200" cy="23622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C223A7-4459-474E-A8A8-4C36E52D6B27}"/>
              </a:ext>
            </a:extLst>
          </p:cNvPr>
          <p:cNvSpPr>
            <a:spLocks noGrp="1"/>
          </p:cNvSpPr>
          <p:nvPr/>
        </p:nvSpPr>
        <p:spPr>
          <a:xfrm>
            <a:off x="1028700" y="34290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Warehouse KPIs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EF65E1-53EF-4760-BE4E-AE49EB754406}"/>
              </a:ext>
            </a:extLst>
          </p:cNvPr>
          <p:cNvSpPr>
            <a:spLocks noGrp="1"/>
          </p:cNvSpPr>
          <p:nvPr/>
        </p:nvSpPr>
        <p:spPr>
          <a:xfrm>
            <a:off x="1028700" y="3848100"/>
            <a:ext cx="3024316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Total Sales: 5070.00</a:t>
            </a:r>
          </a:p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Order Count: 10</a:t>
            </a:r>
          </a:p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Average Order Value: 507.00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60E6449-EF8D-4C9D-9E59-B4F1D88427B3}"/>
              </a:ext>
            </a:extLst>
          </p:cNvPr>
          <p:cNvSpPr>
            <a:spLocks noGrp="1"/>
          </p:cNvSpPr>
          <p:nvPr/>
        </p:nvSpPr>
        <p:spPr>
          <a:xfrm>
            <a:off x="4419600" y="3219450"/>
            <a:ext cx="3524250" cy="2362200"/>
          </a:xfrm>
          <a:prstGeom prst="roundRect">
            <a:avLst>
              <a:gd name="adj" fmla="val 3226"/>
            </a:avLst>
          </a:prstGeom>
          <a:solidFill>
            <a:srgbClr val="EEE8DF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3388DAE-CD88-414B-8ABE-3CC4962F49E8}"/>
              </a:ext>
            </a:extLst>
          </p:cNvPr>
          <p:cNvSpPr>
            <a:spLocks noGrp="1"/>
          </p:cNvSpPr>
          <p:nvPr/>
        </p:nvSpPr>
        <p:spPr>
          <a:xfrm>
            <a:off x="4419600" y="3219450"/>
            <a:ext cx="76200" cy="23622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AF1B66-00A2-4696-AD62-BE72D6F551D6}"/>
              </a:ext>
            </a:extLst>
          </p:cNvPr>
          <p:cNvSpPr>
            <a:spLocks noGrp="1"/>
          </p:cNvSpPr>
          <p:nvPr/>
        </p:nvSpPr>
        <p:spPr>
          <a:xfrm>
            <a:off x="4667250" y="34290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Region totals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CF7FF9-FF26-4513-B517-54F24BA6C0BB}"/>
              </a:ext>
            </a:extLst>
          </p:cNvPr>
          <p:cNvSpPr>
            <a:spLocks noGrp="1"/>
          </p:cNvSpPr>
          <p:nvPr/>
        </p:nvSpPr>
        <p:spPr>
          <a:xfrm>
            <a:off x="4667250" y="3848100"/>
            <a:ext cx="200025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East: 1590.00</a:t>
            </a:r>
          </a:p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North: 1530.00</a:t>
            </a:r>
          </a:p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South: 390.00</a:t>
            </a:r>
          </a:p>
          <a:p>
            <a:pPr algn="l">
              <a:defRPr sz="165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West: 1560.00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C6CD91B-0C04-4B62-BFB9-EF9B2E9296A1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3200400" cy="2362200"/>
          </a:xfrm>
          <a:prstGeom prst="roundRect">
            <a:avLst>
              <a:gd name="adj" fmla="val 3226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C138AE-1F9D-430F-9F45-F95DEC1B2553}"/>
              </a:ext>
            </a:extLst>
          </p:cNvPr>
          <p:cNvSpPr>
            <a:spLocks noGrp="1"/>
          </p:cNvSpPr>
          <p:nvPr/>
        </p:nvSpPr>
        <p:spPr>
          <a:xfrm>
            <a:off x="8191500" y="3219450"/>
            <a:ext cx="76200" cy="23622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6920EA-FC2D-43C7-884D-75D83ED93AF8}"/>
              </a:ext>
            </a:extLst>
          </p:cNvPr>
          <p:cNvSpPr>
            <a:spLocks noGrp="1"/>
          </p:cNvSpPr>
          <p:nvPr/>
        </p:nvSpPr>
        <p:spPr>
          <a:xfrm>
            <a:off x="8439150" y="3429000"/>
            <a:ext cx="27241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8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Runtime expectation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F3A552-94C3-489C-B70B-568E41E508AC}"/>
              </a:ext>
            </a:extLst>
          </p:cNvPr>
          <p:cNvSpPr>
            <a:spLocks noGrp="1"/>
          </p:cNvSpPr>
          <p:nvPr/>
        </p:nvSpPr>
        <p:spPr>
          <a:xfrm>
            <a:off x="8439149" y="3848100"/>
            <a:ext cx="2607791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5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Run 1 fails</a:t>
            </a:r>
          </a:p>
          <a:p>
            <a:pPr algn="l">
              <a:defRPr sz="15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5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Run 2 succeeds</a:t>
            </a:r>
          </a:p>
          <a:p>
            <a:pPr algn="l">
              <a:defRPr sz="15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5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Slow step &gt; Fast step</a:t>
            </a:r>
          </a:p>
          <a:p>
            <a:pPr algn="l">
              <a:defRPr sz="15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575" b="0" dirty="0" err="1">
                <a:solidFill>
                  <a:srgbClr val="586573"/>
                </a:solidFill>
                <a:latin typeface="Lato"/>
                <a:ea typeface="Lato"/>
                <a:cs typeface="Lato"/>
              </a:rPr>
              <a:t>Pytest</a:t>
            </a:r>
            <a:r>
              <a:rPr sz="15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 passes after JSON is populated</a:t>
            </a:r>
          </a:p>
        </p:txBody>
      </p:sp>
    </p:spTree>
    <p:extLst>
      <p:ext uri="{BB962C8B-B14F-4D97-AF65-F5344CB8AC3E}">
        <p14:creationId xmlns:p14="http://schemas.microsoft.com/office/powerpoint/2010/main" val="1949766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F69FFA32-CEB9-41B0-8843-2B6A141FF2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F045DB-9061-432F-8ABC-83A028BA4F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9D5EC0-B266-4DED-8A9E-E9FE9372B81C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F873BB-585C-4B30-B554-E1EBB3641872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76E467-0F65-4C8D-A6BD-AA21DE1EABF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E0E834-A23D-4025-AC0A-C8567D11D027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PITFALLS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189DD-5DF9-4E9D-8985-E8EF271ABEBC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C56C6C-7F99-49AA-832A-F1B0DBC19C7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Common </a:t>
            </a: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Lab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 5 pitfalls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E5DBE9-F4C4-4BBB-8DFB-3D29D0779C3D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These are the mistakes most likely to weaken release-readiness evidence.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CA19E1-FC74-44CE-B92E-BB2240FF288F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10591800" cy="2971800"/>
          </a:xfrm>
          <a:prstGeom prst="roundRect">
            <a:avLst>
              <a:gd name="adj" fmla="val 2564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CE423-5B26-483B-8710-DE74D4F45599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76200" cy="29718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D1D98C6-4498-49BD-9610-020856A31867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7DF65C-1CB1-4FFB-B3C2-3786684CD06B}"/>
              </a:ext>
            </a:extLst>
          </p:cNvPr>
          <p:cNvSpPr>
            <a:spLocks noGrp="1"/>
          </p:cNvSpPr>
          <p:nvPr/>
        </p:nvSpPr>
        <p:spPr>
          <a:xfrm>
            <a:off x="1200150" y="35623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71D385-FD1F-4064-B035-9C1590430310}"/>
              </a:ext>
            </a:extLst>
          </p:cNvPr>
          <p:cNvSpPr>
            <a:spLocks noGrp="1"/>
          </p:cNvSpPr>
          <p:nvPr/>
        </p:nvSpPr>
        <p:spPr>
          <a:xfrm>
            <a:off x="1714500" y="35052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interpreting one noisy slow run as a definitive platform defect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20BB889-EAE5-4223-800B-2EC81F0DCDF4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CE89CE-C882-486B-B9B5-268998C7F013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857266-55B6-44E4-9AD9-9AB60113FD27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skipping truth-set validation and focusing on timing alone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B50932-9196-45D8-A30C-828625ED4F48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13E7E6-C1D6-454A-8351-359E380F49F8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8EB61C-DE4D-46AD-A7B4-65C545A97DEF}"/>
              </a:ext>
            </a:extLst>
          </p:cNvPr>
          <p:cNvSpPr>
            <a:spLocks noGrp="1"/>
          </p:cNvSpPr>
          <p:nvPr/>
        </p:nvSpPr>
        <p:spPr>
          <a:xfrm>
            <a:off x="1714500" y="43053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forgetting to capture the failed run before rerunning the pipeline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E4F4330-8C2C-45D0-81B1-0FE8B58C4FD2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8A953A-DAE8-4DC7-B4BE-C0016F0C57AF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EA4B9A-476C-41FF-AB20-8078C5504847}"/>
              </a:ext>
            </a:extLst>
          </p:cNvPr>
          <p:cNvSpPr>
            <a:spLocks noGrp="1"/>
          </p:cNvSpPr>
          <p:nvPr/>
        </p:nvSpPr>
        <p:spPr>
          <a:xfrm>
            <a:off x="1714500" y="47053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trying to automate subjective monitoring-screen observations too early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808BC18-D89D-4D87-B6F7-3D52FD17883C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FC01BA-5950-4931-B787-5EC791DA2FF9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0C8713-F4C9-4B61-A469-870CA1D8A481}"/>
              </a:ext>
            </a:extLst>
          </p:cNvPr>
          <p:cNvSpPr>
            <a:spLocks noGrp="1"/>
          </p:cNvSpPr>
          <p:nvPr/>
        </p:nvSpPr>
        <p:spPr>
          <a:xfrm>
            <a:off x="1714500" y="510540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hard-coding values without documenting where the observations came from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511BED5-5174-45BA-B9D8-162F333D09E1}"/>
              </a:ext>
            </a:extLst>
          </p:cNvPr>
          <p:cNvSpPr>
            <a:spLocks noGrp="1"/>
          </p:cNvSpPr>
          <p:nvPr/>
        </p:nvSpPr>
        <p:spPr>
          <a:xfrm>
            <a:off x="1066800" y="5486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F6DED8"/>
          </a:solidFill>
          <a:ln w="0">
            <a:solidFill>
              <a:srgbClr val="F6DED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6BDCC2-44E7-44A6-8F8D-768524BD3516}"/>
              </a:ext>
            </a:extLst>
          </p:cNvPr>
          <p:cNvSpPr>
            <a:spLocks noGrp="1"/>
          </p:cNvSpPr>
          <p:nvPr/>
        </p:nvSpPr>
        <p:spPr>
          <a:xfrm>
            <a:off x="1200150" y="55626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96B57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26152E-D69D-4FC1-886C-BED9A6A02A4E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904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assuming passing pytest means no manual review is needed</a:t>
            </a:r>
          </a:p>
        </p:txBody>
      </p:sp>
    </p:spTree>
    <p:extLst>
      <p:ext uri="{BB962C8B-B14F-4D97-AF65-F5344CB8AC3E}">
        <p14:creationId xmlns:p14="http://schemas.microsoft.com/office/powerpoint/2010/main" val="1083866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1DB08F31-3D21-4FD2-8AF4-5C9604BF75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983F12-37AC-4BA8-A746-9A59F10AE3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E6D1798-54FF-4BF5-A575-D3CF7BE5C4C1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73D4E6-30A6-4B4E-A9B7-E29D9B78D31F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FCCBC57-4F3A-4AE6-8BDD-6E69DAD748B8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FBFF86-69E1-4D9A-9F62-391EFEF18BCE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CHECKLIST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E3618E-00E2-4438-AF53-05DFF99CF578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58452A-CDFB-486A-9471-F3C0CD802687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lang="en-US"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Lab</a:t>
            </a:r>
            <a:r>
              <a:rPr sz="2400" b="1" dirty="0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 5 validation checklist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FF1A23-2533-4FD3-B82E-91FE3D8805F5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586573"/>
                </a:solidFill>
                <a:latin typeface="Lato"/>
                <a:ea typeface="Lato"/>
                <a:cs typeface="Lato"/>
              </a:rPr>
              <a:t>This is the summary slide learners can reuse after the course.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F9BA4C-7B5A-4518-92F2-9838F7F565A4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10591800" cy="2971800"/>
          </a:xfrm>
          <a:prstGeom prst="roundRect">
            <a:avLst>
              <a:gd name="adj" fmla="val 2564"/>
            </a:avLst>
          </a:prstGeom>
          <a:solidFill>
            <a:srgbClr val="FFFDFC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20F24E-8A66-423B-B3CB-5265E95EE529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76200" cy="29718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EBDE18B-8F9C-49BE-B298-6333E9D22ECD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F0977F-D076-45FB-B656-6F4989DB4516}"/>
              </a:ext>
            </a:extLst>
          </p:cNvPr>
          <p:cNvSpPr>
            <a:spLocks noGrp="1"/>
          </p:cNvSpPr>
          <p:nvPr/>
        </p:nvSpPr>
        <p:spPr>
          <a:xfrm>
            <a:off x="1200150" y="35623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3283C8-F696-4B8E-AF2C-02EEED1BF02D}"/>
              </a:ext>
            </a:extLst>
          </p:cNvPr>
          <p:cNvSpPr>
            <a:spLocks noGrp="1"/>
          </p:cNvSpPr>
          <p:nvPr/>
        </p:nvSpPr>
        <p:spPr>
          <a:xfrm>
            <a:off x="1714500" y="350520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Validate the truth set before interpreting runtime behavior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1F2F55-5D03-47B5-9986-92EEC197553B}"/>
              </a:ext>
            </a:extLst>
          </p:cNvPr>
          <p:cNvSpPr>
            <a:spLocks noGrp="1"/>
          </p:cNvSpPr>
          <p:nvPr/>
        </p:nvSpPr>
        <p:spPr>
          <a:xfrm>
            <a:off x="1066800" y="38862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F068B9-8687-4625-9429-82F38041438B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34DA6A-AE77-4D03-9E12-91DF94DE40DC}"/>
              </a:ext>
            </a:extLst>
          </p:cNvPr>
          <p:cNvSpPr>
            <a:spLocks noGrp="1"/>
          </p:cNvSpPr>
          <p:nvPr/>
        </p:nvSpPr>
        <p:spPr>
          <a:xfrm>
            <a:off x="1714500" y="390525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Capture failed and successful run evidence from history or Monitoring Hub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F40A29B-35CA-4D0A-A8AD-19512ECB708C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D09350-3293-4837-B1C2-6EA51A7FE011}"/>
              </a:ext>
            </a:extLst>
          </p:cNvPr>
          <p:cNvSpPr>
            <a:spLocks noGrp="1"/>
          </p:cNvSpPr>
          <p:nvPr/>
        </p:nvSpPr>
        <p:spPr>
          <a:xfrm>
            <a:off x="1200150" y="43624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D642AC-2BE1-4970-9F67-B24D709C9E47}"/>
              </a:ext>
            </a:extLst>
          </p:cNvPr>
          <p:cNvSpPr>
            <a:spLocks noGrp="1"/>
          </p:cNvSpPr>
          <p:nvPr/>
        </p:nvSpPr>
        <p:spPr>
          <a:xfrm>
            <a:off x="1714500" y="430530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Compare fast and slow activity durations under similar conditions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CF76FFD-4CEF-4910-830A-2CD992A8AB93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147626-8859-4F9C-B7B9-EEFF25ABDA22}"/>
              </a:ext>
            </a:extLst>
          </p:cNvPr>
          <p:cNvSpPr>
            <a:spLocks noGrp="1"/>
          </p:cNvSpPr>
          <p:nvPr/>
        </p:nvSpPr>
        <p:spPr>
          <a:xfrm>
            <a:off x="1200150" y="47625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392E16-E875-4230-BE60-67F01B3BC587}"/>
              </a:ext>
            </a:extLst>
          </p:cNvPr>
          <p:cNvSpPr>
            <a:spLocks noGrp="1"/>
          </p:cNvSpPr>
          <p:nvPr/>
        </p:nvSpPr>
        <p:spPr>
          <a:xfrm>
            <a:off x="1714500" y="470535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Document runtime signals and release-readiness concerns clearly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1325655-E69B-48EC-BC3B-31B477BA97F0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F770F5-99F1-4A7F-8F78-7EE788B9981A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9CB826-B40F-41FD-9E5B-1832831A8B97}"/>
              </a:ext>
            </a:extLst>
          </p:cNvPr>
          <p:cNvSpPr>
            <a:spLocks noGrp="1"/>
          </p:cNvSpPr>
          <p:nvPr/>
        </p:nvSpPr>
        <p:spPr>
          <a:xfrm>
            <a:off x="1714500" y="510540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Automate the stable checks with structured observed results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E2E0691-C60A-4204-8150-6E9202DF603D}"/>
              </a:ext>
            </a:extLst>
          </p:cNvPr>
          <p:cNvSpPr>
            <a:spLocks noGrp="1"/>
          </p:cNvSpPr>
          <p:nvPr/>
        </p:nvSpPr>
        <p:spPr>
          <a:xfrm>
            <a:off x="1066800" y="548640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40EBBF6-6CE9-4644-ADC5-E259C023D8EB}"/>
              </a:ext>
            </a:extLst>
          </p:cNvPr>
          <p:cNvSpPr>
            <a:spLocks noGrp="1"/>
          </p:cNvSpPr>
          <p:nvPr/>
        </p:nvSpPr>
        <p:spPr>
          <a:xfrm>
            <a:off x="1200150" y="5562600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5F85EE-A147-4EB6-9808-C2CE6CDA0B3D}"/>
              </a:ext>
            </a:extLst>
          </p:cNvPr>
          <p:cNvSpPr>
            <a:spLocks noGrp="1"/>
          </p:cNvSpPr>
          <p:nvPr/>
        </p:nvSpPr>
        <p:spPr>
          <a:xfrm>
            <a:off x="1714500" y="5505450"/>
            <a:ext cx="901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142332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42332"/>
                </a:solidFill>
                <a:latin typeface="Lato"/>
                <a:ea typeface="Lato"/>
                <a:cs typeface="Lato"/>
              </a:rPr>
              <a:t>Keep subjective or environment-dependent checks manual at first</a:t>
            </a:r>
          </a:p>
        </p:txBody>
      </p:sp>
    </p:spTree>
    <p:extLst>
      <p:ext uri="{BB962C8B-B14F-4D97-AF65-F5344CB8AC3E}">
        <p14:creationId xmlns:p14="http://schemas.microsoft.com/office/powerpoint/2010/main" val="178877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F9FF194-5E64-4385-BB34-4FD980D6B1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2E9"/>
          </a:solidFill>
          <a:ln w="0">
            <a:solidFill>
              <a:srgbClr val="F6F2E9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A8CDDE-29C1-46A2-8C81-EDF7AEB002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22235"/>
          </a:solidFill>
          <a:ln w="0">
            <a:solidFill>
              <a:srgbClr val="122235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00F4712-B7A1-4A1F-A720-DA3BE14675AB}"/>
              </a:ext>
            </a:extLst>
          </p:cNvPr>
          <p:cNvSpPr>
            <a:spLocks noGrp="1"/>
          </p:cNvSpPr>
          <p:nvPr/>
        </p:nvSpPr>
        <p:spPr>
          <a:xfrm>
            <a:off x="9772650" y="-666750"/>
            <a:ext cx="2667000" cy="2667000"/>
          </a:xfrm>
          <a:prstGeom prst="ellipse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C475E29-2736-4DB2-BD02-B7A155930B92}"/>
              </a:ext>
            </a:extLst>
          </p:cNvPr>
          <p:cNvSpPr>
            <a:spLocks noGrp="1"/>
          </p:cNvSpPr>
          <p:nvPr/>
        </p:nvSpPr>
        <p:spPr>
          <a:xfrm>
            <a:off x="10915650" y="171450"/>
            <a:ext cx="914400" cy="914400"/>
          </a:xfrm>
          <a:prstGeom prst="ellipse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725C2C-F2C3-4579-8BD7-2CC85397FBB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2362200" cy="304800"/>
          </a:xfrm>
          <a:prstGeom prst="roundRect">
            <a:avLst>
              <a:gd name="adj" fmla="val 25000"/>
            </a:avLst>
          </a:prstGeom>
          <a:solidFill>
            <a:srgbClr val="D8EFF1"/>
          </a:solidFill>
          <a:ln w="0">
            <a:solidFill>
              <a:srgbClr val="D8EFF1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F39743-9B25-4D80-B229-6282D92642C6}"/>
              </a:ext>
            </a:extLst>
          </p:cNvPr>
          <p:cNvSpPr>
            <a:spLocks noGrp="1"/>
          </p:cNvSpPr>
          <p:nvPr/>
        </p:nvSpPr>
        <p:spPr>
          <a:xfrm>
            <a:off x="742950" y="1143000"/>
            <a:ext cx="2095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0C7B85"/>
                </a:solidFill>
                <a:latin typeface="Aptos Mono"/>
                <a:ea typeface="Aptos Mono"/>
                <a:cs typeface="Aptos Mono"/>
              </a:rPr>
              <a:t>CLOSE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A038C-D4DF-4550-826E-D9CBB9C4DF8D}"/>
              </a:ext>
            </a:extLst>
          </p:cNvPr>
          <p:cNvSpPr>
            <a:spLocks noGrp="1"/>
          </p:cNvSpPr>
          <p:nvPr/>
        </p:nvSpPr>
        <p:spPr>
          <a:xfrm>
            <a:off x="10801350" y="3048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DB8A28-446D-469A-90CE-439F30AA8E56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8191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240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Recap and course close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6E9C3F-4AB7-43C5-A6E2-616A856D513E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93916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lang="en-US" sz="1275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Module </a:t>
            </a:r>
            <a:r>
              <a:rPr sz="1275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5 completes the QA journey from Fabric basics into operational confidence and sensible automation.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4AA344-BFBB-46BC-A457-93C9F6255022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D8EFF1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BEE7E5-E649-4582-8654-A3C0DF7303E2}"/>
              </a:ext>
            </a:extLst>
          </p:cNvPr>
          <p:cNvSpPr>
            <a:spLocks noGrp="1"/>
          </p:cNvSpPr>
          <p:nvPr/>
        </p:nvSpPr>
        <p:spPr>
          <a:xfrm>
            <a:off x="800100" y="3219450"/>
            <a:ext cx="76200" cy="1181100"/>
          </a:xfrm>
          <a:prstGeom prst="rect">
            <a:avLst/>
          </a:prstGeom>
          <a:solidFill>
            <a:srgbClr val="0C7B85"/>
          </a:solidFill>
          <a:ln w="0">
            <a:solidFill>
              <a:srgbClr val="0C7B8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66BD57-0753-442C-BB8B-A7C086BB9C51}"/>
              </a:ext>
            </a:extLst>
          </p:cNvPr>
          <p:cNvSpPr>
            <a:spLocks noGrp="1"/>
          </p:cNvSpPr>
          <p:nvPr/>
        </p:nvSpPr>
        <p:spPr>
          <a:xfrm>
            <a:off x="1009650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Performance is comparative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5EF3EC-21D9-43A7-958B-1E41DD5831E5}"/>
              </a:ext>
            </a:extLst>
          </p:cNvPr>
          <p:cNvSpPr>
            <a:spLocks noGrp="1"/>
          </p:cNvSpPr>
          <p:nvPr/>
        </p:nvSpPr>
        <p:spPr>
          <a:xfrm>
            <a:off x="1009650" y="3733800"/>
            <a:ext cx="47720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QA should compare behavior and document signals rather than promise universal benchmarks.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D691117-D9D8-49FC-B1F9-F6A3B8D6E03A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F5E7C5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FB04ED-8FA5-4CD3-9F43-009ED62C8BA5}"/>
              </a:ext>
            </a:extLst>
          </p:cNvPr>
          <p:cNvSpPr>
            <a:spLocks noGrp="1"/>
          </p:cNvSpPr>
          <p:nvPr/>
        </p:nvSpPr>
        <p:spPr>
          <a:xfrm>
            <a:off x="6200775" y="3219450"/>
            <a:ext cx="76200" cy="1181100"/>
          </a:xfrm>
          <a:prstGeom prst="rect">
            <a:avLst/>
          </a:prstGeom>
          <a:solidFill>
            <a:srgbClr val="CF972F"/>
          </a:solidFill>
          <a:ln w="0">
            <a:solidFill>
              <a:srgbClr val="CF972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1DFE67-A027-4A26-BBDA-59D7FC8B7759}"/>
              </a:ext>
            </a:extLst>
          </p:cNvPr>
          <p:cNvSpPr>
            <a:spLocks noGrp="1"/>
          </p:cNvSpPr>
          <p:nvPr/>
        </p:nvSpPr>
        <p:spPr>
          <a:xfrm>
            <a:off x="6410325" y="339090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Monitoring is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BC47E2-5A29-4506-8C37-93A07EAD364F}"/>
              </a:ext>
            </a:extLst>
          </p:cNvPr>
          <p:cNvSpPr>
            <a:spLocks noGrp="1"/>
          </p:cNvSpPr>
          <p:nvPr/>
        </p:nvSpPr>
        <p:spPr>
          <a:xfrm>
            <a:off x="6410325" y="3733800"/>
            <a:ext cx="47720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Run history and monitoring details belong in release-readiness validation.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9B4929C-9C9F-495E-9075-36DC0347E6CC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F6DED8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4BBAD2-42CE-4C5A-934D-431C716845C7}"/>
              </a:ext>
            </a:extLst>
          </p:cNvPr>
          <p:cNvSpPr>
            <a:spLocks noGrp="1"/>
          </p:cNvSpPr>
          <p:nvPr/>
        </p:nvSpPr>
        <p:spPr>
          <a:xfrm>
            <a:off x="800100" y="4610100"/>
            <a:ext cx="76200" cy="1181100"/>
          </a:xfrm>
          <a:prstGeom prst="rect">
            <a:avLst/>
          </a:prstGeom>
          <a:solidFill>
            <a:srgbClr val="D96B57"/>
          </a:solidFill>
          <a:ln w="0">
            <a:solidFill>
              <a:srgbClr val="D96B5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F19121-7623-43F3-B4B8-DE8B8430BA39}"/>
              </a:ext>
            </a:extLst>
          </p:cNvPr>
          <p:cNvSpPr>
            <a:spLocks noGrp="1"/>
          </p:cNvSpPr>
          <p:nvPr/>
        </p:nvSpPr>
        <p:spPr>
          <a:xfrm>
            <a:off x="1009650" y="47815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Automation starts small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5475C7-B4A4-4D40-B03B-A3B21CFBD4F4}"/>
              </a:ext>
            </a:extLst>
          </p:cNvPr>
          <p:cNvSpPr>
            <a:spLocks noGrp="1"/>
          </p:cNvSpPr>
          <p:nvPr/>
        </p:nvSpPr>
        <p:spPr>
          <a:xfrm>
            <a:off x="1009650" y="5124450"/>
            <a:ext cx="47720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86573"/>
                </a:solidFill>
                <a:latin typeface="Lato"/>
                <a:ea typeface="Lato"/>
                <a:cs typeface="Lato"/>
              </a:rPr>
              <a:t>Stable truth-set checks are the best first pytest targets.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93203CD-5124-4FA6-B025-E24A8CA35BBF}"/>
              </a:ext>
            </a:extLst>
          </p:cNvPr>
          <p:cNvSpPr>
            <a:spLocks noGrp="1"/>
          </p:cNvSpPr>
          <p:nvPr/>
        </p:nvSpPr>
        <p:spPr>
          <a:xfrm>
            <a:off x="6200775" y="4610100"/>
            <a:ext cx="5191125" cy="1181100"/>
          </a:xfrm>
          <a:prstGeom prst="roundRect">
            <a:avLst>
              <a:gd name="adj" fmla="val 6452"/>
            </a:avLst>
          </a:prstGeom>
          <a:solidFill>
            <a:srgbClr val="E3EAF2"/>
          </a:solidFill>
          <a:ln w="9525">
            <a:solidFill>
              <a:srgbClr val="DBE2E7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97DA7E-5F90-48F8-9217-5383F6944AA2}"/>
              </a:ext>
            </a:extLst>
          </p:cNvPr>
          <p:cNvSpPr>
            <a:spLocks noGrp="1"/>
          </p:cNvSpPr>
          <p:nvPr/>
        </p:nvSpPr>
        <p:spPr>
          <a:xfrm>
            <a:off x="6200775" y="4610100"/>
            <a:ext cx="76200" cy="1181100"/>
          </a:xfrm>
          <a:prstGeom prst="rect">
            <a:avLst/>
          </a:prstGeom>
          <a:solidFill>
            <a:srgbClr val="607390"/>
          </a:solidFill>
          <a:ln w="0">
            <a:solidFill>
              <a:srgbClr val="60739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6FB5CF-35BB-4BDC-861B-1BC992AE2817}"/>
              </a:ext>
            </a:extLst>
          </p:cNvPr>
          <p:cNvSpPr>
            <a:spLocks noGrp="1"/>
          </p:cNvSpPr>
          <p:nvPr/>
        </p:nvSpPr>
        <p:spPr>
          <a:xfrm>
            <a:off x="6410325" y="4781550"/>
            <a:ext cx="47720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8485"/>
          </a:bodyPr>
          <a:lstStyle/>
          <a:p>
            <a:pPr algn="l">
              <a:defRPr sz="1650" b="1">
                <a:solidFill>
                  <a:srgbClr val="142332"/>
                </a:solidFill>
                <a:latin typeface="Caladea"/>
                <a:ea typeface="Caladea"/>
                <a:cs typeface="Caladea"/>
              </a:defRPr>
            </a:pPr>
            <a:r>
              <a:rPr sz="1650" b="1">
                <a:solidFill>
                  <a:srgbClr val="142332"/>
                </a:solidFill>
                <a:latin typeface="Caladea"/>
                <a:ea typeface="Caladea"/>
                <a:cs typeface="Caladea"/>
              </a:rPr>
              <a:t>Full-course outcome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4A1AAA-0124-4B78-A952-853C8F07345A}"/>
              </a:ext>
            </a:extLst>
          </p:cNvPr>
          <p:cNvSpPr>
            <a:spLocks noGrp="1"/>
          </p:cNvSpPr>
          <p:nvPr/>
        </p:nvSpPr>
        <p:spPr>
          <a:xfrm>
            <a:off x="6410325" y="5124450"/>
            <a:ext cx="47720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86573"/>
                </a:solidFill>
                <a:latin typeface="Lato"/>
                <a:ea typeface="Lato"/>
                <a:cs typeface="Lato"/>
              </a:defRPr>
            </a:pPr>
            <a:r>
              <a:rPr lang="en-US" sz="1200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You </a:t>
            </a:r>
            <a:r>
              <a:rPr sz="1200" b="0" dirty="0">
                <a:solidFill>
                  <a:srgbClr val="586573"/>
                </a:solidFill>
                <a:latin typeface="Lato"/>
                <a:ea typeface="Lato"/>
                <a:cs typeface="Lato"/>
              </a:rPr>
              <a:t>can now validate Fabric architecture, data quality, storage, reporting, security, and runtime readiness.</a:t>
            </a:r>
          </a:p>
        </p:txBody>
      </p:sp>
    </p:spTree>
    <p:extLst>
      <p:ext uri="{BB962C8B-B14F-4D97-AF65-F5344CB8AC3E}">
        <p14:creationId xmlns:p14="http://schemas.microsoft.com/office/powerpoint/2010/main" val="4326877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5099</Words>
  <Application>Microsoft Macintosh PowerPoint</Application>
  <DocSecurity>0</DocSecurity>
  <PresentationFormat>Widescreen</PresentationFormat>
  <Paragraphs>847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 Mono</vt:lpstr>
      <vt:lpstr>Caladea</vt:lpstr>
      <vt:lpstr>Calibri</vt:lpstr>
      <vt:lpstr>Lato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Kishore Chowdary</cp:lastModifiedBy>
  <cp:revision>1</cp:revision>
  <dcterms:created xsi:type="dcterms:W3CDTF">2026-04-28T13:45:03Z</dcterms:created>
  <dcterms:modified xsi:type="dcterms:W3CDTF">2026-05-13T05:06:04Z</dcterms:modified>
</cp:coreProperties>
</file>