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67748"/>
  </p:normalViewPr>
  <p:slideViewPr>
    <p:cSldViewPr snapToGrid="0">
      <p:cViewPr varScale="1">
        <p:scale>
          <a:sx n="95" d="100"/>
          <a:sy n="95" d="100"/>
        </p:scale>
        <p:origin x="1240" y="168"/>
      </p:cViewPr>
      <p:guideLst/>
    </p:cSldViewPr>
  </p:slideViewPr>
  <p:notesTextViewPr>
    <p:cViewPr>
      <p:scale>
        <a:sx n="1" d="1"/>
        <a:sy n="1" d="1"/>
      </p:scale>
      <p:origin x="0" y="-274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2: Data Validation &amp; Quality Testing"</a:t>
            </a:r>
          </a:p>
          <a:p>
            <a:r>
              <a:rPr lang="en-IN" dirty="0"/>
              <a:t>This slide is answering the Day 2 kickoff question:</a:t>
            </a:r>
          </a:p>
          <a:p>
            <a:r>
              <a:rPr lang="en-IN" dirty="0"/>
              <a:t>❓ "What changes after QA understands the Fabric platform?"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Module 1 gave learners the map.</a:t>
            </a:r>
          </a:p>
          <a:p>
            <a:r>
              <a:rPr lang="en-IN" dirty="0"/>
              <a:t>Day 2 starts turning that map into actual validation behavior.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1. The Focus Shifts From Navigation to Validation</a:t>
            </a:r>
          </a:p>
          <a:p>
            <a:r>
              <a:rPr lang="en-IN" dirty="0"/>
              <a:t>Yesterday was about understanding:</a:t>
            </a:r>
          </a:p>
          <a:p>
            <a:r>
              <a:rPr lang="en-IN" dirty="0"/>
              <a:t>Workspaces</a:t>
            </a:r>
          </a:p>
          <a:p>
            <a:r>
              <a:rPr lang="en-IN" dirty="0"/>
              <a:t>Lakehouse</a:t>
            </a:r>
          </a:p>
          <a:p>
            <a:r>
              <a:rPr lang="en-IN" dirty="0"/>
              <a:t>Warehouse</a:t>
            </a:r>
          </a:p>
          <a:p>
            <a:r>
              <a:rPr lang="en-IN" dirty="0"/>
              <a:t>Pipelines</a:t>
            </a:r>
          </a:p>
          <a:p>
            <a:r>
              <a:rPr lang="en-IN" dirty="0"/>
              <a:t>Access surfaces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Today is about checking whether the data moving through those surfaces is actually correct.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2. QA Is Not Just Checking That Data Exists</a:t>
            </a:r>
          </a:p>
          <a:p>
            <a:r>
              <a:rPr lang="en-IN" dirty="0"/>
              <a:t>The module outcomes point to four important QA moves:</a:t>
            </a:r>
          </a:p>
          <a:p>
            <a:r>
              <a:rPr lang="en-IN" dirty="0"/>
              <a:t>Map checks to Bronze, Silver, and Gold layers</a:t>
            </a:r>
          </a:p>
          <a:p>
            <a:r>
              <a:rPr lang="en-IN" dirty="0"/>
              <a:t>Run structural and business-rule validations</a:t>
            </a:r>
          </a:p>
          <a:p>
            <a:r>
              <a:rPr lang="en-IN" dirty="0"/>
              <a:t>Understand why incremental loads are tricky</a:t>
            </a:r>
          </a:p>
          <a:p>
            <a:r>
              <a:rPr lang="en-IN" dirty="0"/>
              <a:t>Recognize bad data as a test scenario, not an accident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means QA is moving from platform awareness to evidence-based data testing.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3. The Module Is QA-First</a:t>
            </a:r>
          </a:p>
          <a:p>
            <a:r>
              <a:rPr lang="en-IN" dirty="0"/>
              <a:t>The subtitle makes that clear:</a:t>
            </a:r>
          </a:p>
          <a:p>
            <a:r>
              <a:rPr lang="en-IN" dirty="0"/>
              <a:t>This is not a generic data engineering session.</a:t>
            </a:r>
          </a:p>
          <a:p>
            <a:r>
              <a:rPr lang="en-IN" dirty="0"/>
              <a:t>It is a QA-first walkthrough of how to test data quality in a Fabric solution.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2 teaches learners how to think like data QA engineers, not just Fabric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"What we will cover in 30 minutes"</a:t>
            </a:r>
          </a:p>
          <a:p>
            <a:r>
              <a:rPr lang="en-IN" dirty="0"/>
              <a:t>This slide is answering one practical learner question:</a:t>
            </a:r>
          </a:p>
          <a:p>
            <a:r>
              <a:rPr lang="en-IN" dirty="0"/>
              <a:t>❓ "What is the path from concepts to usable QA checks in this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pacing slide.</a:t>
            </a:r>
          </a:p>
          <a:p>
            <a:r>
              <a:rPr lang="en-IN" dirty="0"/>
              <a:t>It helps learners see that the session moves from concepts into concrete validation decisions.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🧱 1. Layer Thinking</a:t>
            </a:r>
          </a:p>
          <a:p>
            <a:r>
              <a:rPr lang="en-IN" dirty="0"/>
              <a:t>The first part teaches:</a:t>
            </a:r>
          </a:p>
          <a:p>
            <a:r>
              <a:rPr lang="en-IN" dirty="0"/>
              <a:t>How Bronze, Silver, and Gold change what QA should expect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should stop treating every table the same.</a:t>
            </a:r>
          </a:p>
          <a:p>
            <a:r>
              <a:rPr lang="en-IN" dirty="0"/>
              <a:t>A raw landing layer should not be judged the same way as a business-ready output layer.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Quality Checks</a:t>
            </a:r>
          </a:p>
          <a:p>
            <a:r>
              <a:rPr lang="en-IN" dirty="0"/>
              <a:t>The core of the session covers:</a:t>
            </a:r>
          </a:p>
          <a:p>
            <a:r>
              <a:rPr lang="en-IN" dirty="0"/>
              <a:t>Schema</a:t>
            </a:r>
          </a:p>
          <a:p>
            <a:r>
              <a:rPr lang="en-IN" dirty="0"/>
              <a:t>Nulls</a:t>
            </a:r>
          </a:p>
          <a:p>
            <a:r>
              <a:rPr lang="en-IN" dirty="0"/>
              <a:t>Duplicates</a:t>
            </a:r>
          </a:p>
          <a:p>
            <a:r>
              <a:rPr lang="en-IN" dirty="0"/>
              <a:t>Types</a:t>
            </a:r>
          </a:p>
          <a:p>
            <a:r>
              <a:rPr lang="en-IN" dirty="0"/>
              <a:t>Business rules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These are the day-to-day validation surfaces where real defects usually show up first.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3. Load Strategy</a:t>
            </a:r>
          </a:p>
          <a:p>
            <a:r>
              <a:rPr lang="en-IN" dirty="0"/>
              <a:t>This section teaches why:</a:t>
            </a:r>
          </a:p>
          <a:p>
            <a:r>
              <a:rPr lang="en-IN" dirty="0"/>
              <a:t>Full loads and incremental loads need different QA approaches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Example:</a:t>
            </a:r>
          </a:p>
          <a:p>
            <a:r>
              <a:rPr lang="en-IN" dirty="0"/>
              <a:t>A full load can look correct in the final state.</a:t>
            </a:r>
          </a:p>
          <a:p>
            <a:r>
              <a:rPr lang="en-IN" dirty="0"/>
              <a:t>An incremental load may still be wrong if update, replay, or late-arriving logic behaves badly.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🛠️ 4. Day 2 Lab</a:t>
            </a:r>
          </a:p>
          <a:p>
            <a:r>
              <a:rPr lang="en-IN" dirty="0"/>
              <a:t>The roadmap ends with execution.</a:t>
            </a:r>
          </a:p>
          <a:p>
            <a:r>
              <a:rPr lang="en-IN" dirty="0"/>
              <a:t>Learners will apply these ideas in a realistic QA scenario instead of stopping at theory.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session is structured to move from "what to think" into "what to test".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"Why data validation matters for QA"</a:t>
            </a:r>
          </a:p>
          <a:p>
            <a:r>
              <a:rPr lang="en-IN" dirty="0"/>
              <a:t>This slide is answering one core QA question:</a:t>
            </a:r>
          </a:p>
          <a:p>
            <a:r>
              <a:rPr lang="en-IN" dirty="0"/>
              <a:t>❓ "Why is checking that data landed not enough?"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subtitle gives the whole message:</a:t>
            </a:r>
          </a:p>
          <a:p>
            <a:r>
              <a:rPr lang="en-IN" dirty="0"/>
              <a:t>Data can be structurally correct and still be business-wrong.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🧩 1. Layered Defects</a:t>
            </a:r>
          </a:p>
          <a:p>
            <a:r>
              <a:rPr lang="en-IN" dirty="0"/>
              <a:t>A record can:</a:t>
            </a:r>
          </a:p>
          <a:p>
            <a:r>
              <a:rPr lang="en-IN" dirty="0"/>
              <a:t>Land in Bronze correctly</a:t>
            </a:r>
          </a:p>
          <a:p>
            <a:r>
              <a:rPr lang="en-IN" dirty="0"/>
              <a:t>Fail business logic in Silver</a:t>
            </a:r>
          </a:p>
          <a:p>
            <a:r>
              <a:rPr lang="en-IN" dirty="0"/>
              <a:t>Still distort Gold outputs later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If QA checks only one layer, defects can pass through unnoticed.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👀 2. Hidden Issues</a:t>
            </a:r>
          </a:p>
          <a:p>
            <a:r>
              <a:rPr lang="en-IN" dirty="0"/>
              <a:t>The slide calls out common hidden problems:</a:t>
            </a:r>
          </a:p>
          <a:p>
            <a:r>
              <a:rPr lang="en-IN" dirty="0"/>
              <a:t>Nulls</a:t>
            </a:r>
          </a:p>
          <a:p>
            <a:r>
              <a:rPr lang="en-IN" dirty="0"/>
              <a:t>Duplicates</a:t>
            </a:r>
          </a:p>
          <a:p>
            <a:r>
              <a:rPr lang="en-IN" dirty="0"/>
              <a:t>Invalid keys</a:t>
            </a:r>
          </a:p>
          <a:p>
            <a:r>
              <a:rPr lang="en-IN" dirty="0"/>
              <a:t>Bad statuses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These often stay invisible until QA asks the right question.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Are required values present?</a:t>
            </a:r>
          </a:p>
          <a:p>
            <a:r>
              <a:rPr lang="en-IN" dirty="0"/>
              <a:t>Are identifiers unique?</a:t>
            </a:r>
          </a:p>
          <a:p>
            <a:r>
              <a:rPr lang="en-IN" dirty="0"/>
              <a:t>Do values belong to the allowed business set?</a:t>
            </a:r>
          </a:p>
          <a:p>
            <a:r>
              <a:rPr lang="en-IN" dirty="0"/>
              <a:t>Do related tables still reconcile?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⚠️ 3. Operational Impact</a:t>
            </a:r>
          </a:p>
          <a:p>
            <a:r>
              <a:rPr lang="en-IN" dirty="0"/>
              <a:t>The slide also reminds learners that:</a:t>
            </a:r>
          </a:p>
          <a:p>
            <a:r>
              <a:rPr lang="en-IN" dirty="0"/>
              <a:t>Load strategy and timing change what "correct" means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A row missing from the first run may be acceptable if it is truly late-arriving.</a:t>
            </a:r>
          </a:p>
          <a:p>
            <a:r>
              <a:rPr lang="en-IN" dirty="0"/>
              <a:t>The same result could be a defect if the pipeline should already have processed it.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QA is validating structure, logic, and behavior across the flow, not just whether a file 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2 learning objectives"</a:t>
            </a:r>
          </a:p>
          <a:p>
            <a:r>
              <a:rPr lang="en-IN" dirty="0"/>
              <a:t>This slide is answering one expectation-setting question:</a:t>
            </a:r>
          </a:p>
          <a:p>
            <a:r>
              <a:rPr lang="en-IN" dirty="0"/>
              <a:t>❓ "What should learners actually know how to do after this session?"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contract slide for Day 2.</a:t>
            </a:r>
          </a:p>
          <a:p>
            <a:r>
              <a:rPr lang="en-IN" dirty="0"/>
              <a:t>It defines what "good enough" looks like by the end of the module.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🎯 1. Explain Medallion QA Checkpoints</a:t>
            </a:r>
          </a:p>
          <a:p>
            <a:r>
              <a:rPr lang="en-IN" dirty="0"/>
              <a:t>Learners should be able to describe how:</a:t>
            </a:r>
          </a:p>
          <a:p>
            <a:r>
              <a:rPr lang="en-IN" dirty="0"/>
              <a:t>Bronze = landing and visibility checks</a:t>
            </a:r>
          </a:p>
          <a:p>
            <a:r>
              <a:rPr lang="en-IN" dirty="0"/>
              <a:t>Silver = cleansing and validation checks</a:t>
            </a:r>
          </a:p>
          <a:p>
            <a:r>
              <a:rPr lang="en-IN" dirty="0"/>
              <a:t>Gold = business-ready output checks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2. Validate Structural Quality</a:t>
            </a:r>
          </a:p>
          <a:p>
            <a:r>
              <a:rPr lang="en-IN" dirty="0"/>
              <a:t>Learners should know how to check:</a:t>
            </a:r>
          </a:p>
          <a:p>
            <a:r>
              <a:rPr lang="en-IN" dirty="0"/>
              <a:t>Schema</a:t>
            </a:r>
          </a:p>
          <a:p>
            <a:r>
              <a:rPr lang="en-IN" dirty="0"/>
              <a:t>Nulls</a:t>
            </a:r>
          </a:p>
          <a:p>
            <a:r>
              <a:rPr lang="en-IN" dirty="0"/>
              <a:t>Duplicates</a:t>
            </a:r>
          </a:p>
          <a:p>
            <a:r>
              <a:rPr lang="en-IN" dirty="0"/>
              <a:t>Data types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These are baseline QA validations before deeper business logic begins.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📏 3. Apply Business-Rule and Cross-Table Checks</a:t>
            </a:r>
          </a:p>
          <a:p>
            <a:r>
              <a:rPr lang="en-IN" dirty="0"/>
              <a:t>This objective moves QA beyond technical correctness.</a:t>
            </a:r>
          </a:p>
          <a:p>
            <a:r>
              <a:rPr lang="en-IN" dirty="0"/>
              <a:t>A table can be well-formed and still be wrong for the business.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4. Compare Full and Incremental Validation</a:t>
            </a:r>
          </a:p>
          <a:p>
            <a:r>
              <a:rPr lang="en-IN" dirty="0"/>
              <a:t>Learners should understand that different load strategies create different defect risks.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5. Reason About Late and Incorrect Data</a:t>
            </a:r>
          </a:p>
          <a:p>
            <a:r>
              <a:rPr lang="en-IN" dirty="0"/>
              <a:t>Bad records, delayed records, and replayed records should be treated as planned QA scenarios.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By the end of Day 2, learners should know what to check, why it matters, and what evidence should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"Medallion architecture from a QA perspective"</a:t>
            </a:r>
          </a:p>
          <a:p>
            <a:r>
              <a:rPr lang="en-IN" dirty="0"/>
              <a:t>This slide is answering one important QA question:</a:t>
            </a:r>
          </a:p>
          <a:p>
            <a:r>
              <a:rPr lang="en-IN" dirty="0"/>
              <a:t>❓ "How does the same record change meaning as it moves through Bronze, Silver, and Gold?"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where medallion stops being just an architecture diagram and becomes a QA model.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🥉 1. Bronze = Raw Ingest</a:t>
            </a:r>
          </a:p>
          <a:p>
            <a:r>
              <a:rPr lang="en-IN" dirty="0"/>
              <a:t>The QA question here is:</a:t>
            </a:r>
          </a:p>
          <a:p>
            <a:r>
              <a:rPr lang="en-IN" dirty="0"/>
              <a:t>Did the raw records land as expected?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checks:</a:t>
            </a:r>
          </a:p>
          <a:p>
            <a:r>
              <a:rPr lang="en-IN" dirty="0"/>
              <a:t>Did files arrive?</a:t>
            </a:r>
          </a:p>
          <a:p>
            <a:r>
              <a:rPr lang="en-IN" dirty="0"/>
              <a:t>Are rows present?</a:t>
            </a:r>
          </a:p>
          <a:p>
            <a:r>
              <a:rPr lang="en-IN" dirty="0"/>
              <a:t>Is the schema readable?</a:t>
            </a:r>
          </a:p>
          <a:p>
            <a:r>
              <a:rPr lang="en-IN" dirty="0"/>
              <a:t>Are obvious raw defects visible?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🥈 2. Silver = Cleansed and Validated</a:t>
            </a:r>
          </a:p>
          <a:p>
            <a:r>
              <a:rPr lang="en-IN" dirty="0"/>
              <a:t>The QA question here is:</a:t>
            </a:r>
          </a:p>
          <a:p>
            <a:r>
              <a:rPr lang="en-IN" dirty="0"/>
              <a:t>Were quality rules applied correctly?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checks:</a:t>
            </a:r>
          </a:p>
          <a:p>
            <a:r>
              <a:rPr lang="en-IN" dirty="0"/>
              <a:t>Were bad rows rejected or corrected properly?</a:t>
            </a:r>
          </a:p>
          <a:p>
            <a:r>
              <a:rPr lang="en-IN" dirty="0"/>
              <a:t>Were keys standardized?</a:t>
            </a:r>
          </a:p>
          <a:p>
            <a:r>
              <a:rPr lang="en-IN" dirty="0"/>
              <a:t>Were type conversions handled correctly?</a:t>
            </a:r>
          </a:p>
          <a:p>
            <a:r>
              <a:rPr lang="en-IN" dirty="0"/>
              <a:t>Did validation logic run as intended?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🥇 3. Gold = Business-Ready Outputs</a:t>
            </a:r>
          </a:p>
          <a:p>
            <a:r>
              <a:rPr lang="en-IN" dirty="0"/>
              <a:t>The QA question here is:</a:t>
            </a:r>
          </a:p>
          <a:p>
            <a:r>
              <a:rPr lang="en-IN" dirty="0"/>
              <a:t>Do curated outputs reflect the truth?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checks:</a:t>
            </a:r>
          </a:p>
          <a:p>
            <a:r>
              <a:rPr lang="en-IN" dirty="0"/>
              <a:t>Do summaries reconcile?</a:t>
            </a:r>
          </a:p>
          <a:p>
            <a:r>
              <a:rPr lang="en-IN" dirty="0"/>
              <a:t>Do curated datasets support business reporting correctly?</a:t>
            </a:r>
          </a:p>
          <a:p>
            <a:r>
              <a:rPr lang="en-IN" dirty="0"/>
              <a:t>Would downstream users get the right answer?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📈 4. Quality Expectations Tighten as Data Moves Forward</a:t>
            </a:r>
          </a:p>
          <a:p>
            <a:r>
              <a:rPr lang="en-IN" dirty="0"/>
              <a:t>That is the main takeaway of the slide.</a:t>
            </a:r>
          </a:p>
          <a:p>
            <a:r>
              <a:rPr lang="en-IN" dirty="0"/>
              <a:t>A defect that may be acceptable in Bronze becomes much less acceptable in Silver or Gold.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Medallion layers are not just storage stages. They are QA checkpoints with increasingly strict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"Bronze, Silver, and Gold validation questions"</a:t>
            </a:r>
          </a:p>
          <a:p>
            <a:r>
              <a:rPr lang="en-IN" dirty="0"/>
              <a:t>This slide is answering one strategy question:</a:t>
            </a:r>
          </a:p>
          <a:p>
            <a:r>
              <a:rPr lang="en-IN" dirty="0"/>
              <a:t>❓ "How should QA change its questions at each medallion layer?"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message is simple:</a:t>
            </a:r>
          </a:p>
          <a:p>
            <a:r>
              <a:rPr lang="en-IN" dirty="0"/>
              <a:t>QA should not repeat the same checks everywhere.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🥉 1. Bronze Questions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Did the files arrive?</a:t>
            </a:r>
          </a:p>
          <a:p>
            <a:r>
              <a:rPr lang="en-IN" dirty="0"/>
              <a:t>Is the schema readable?</a:t>
            </a:r>
          </a:p>
          <a:p>
            <a:r>
              <a:rPr lang="en-IN" dirty="0"/>
              <a:t>What obvious defects are present?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Bronze is about visibility and landing confidence, not perfect business quality.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🥈 2. Silver Questions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Were bad rows handled correctly?</a:t>
            </a:r>
          </a:p>
          <a:p>
            <a:r>
              <a:rPr lang="en-IN" dirty="0"/>
              <a:t>Were keys and types standardized?</a:t>
            </a:r>
          </a:p>
          <a:p>
            <a:r>
              <a:rPr lang="en-IN" dirty="0"/>
              <a:t>Do business rules hold after cleansing?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Silver is where validation logic becomes central.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🥇 3. Gold Questions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Do summaries reconcile?</a:t>
            </a:r>
          </a:p>
          <a:p>
            <a:r>
              <a:rPr lang="en-IN" dirty="0"/>
              <a:t>Do outputs look trustworthy?</a:t>
            </a:r>
          </a:p>
          <a:p>
            <a:r>
              <a:rPr lang="en-IN" dirty="0"/>
              <a:t>Would downstream users get the right answer?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Gold is where QA tests whether the curated answer is ready for business use.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If QA uses Bronze-style checks on Gold data, testing will be too shallow.</a:t>
            </a:r>
          </a:p>
          <a:p>
            <a:r>
              <a:rPr lang="en-IN" dirty="0"/>
              <a:t>If QA expects Gold-level cleanliness in Bronze, testing will be unrealistic.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Good QA changes the question set when the layer purpose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"Core data quality dimensions"</a:t>
            </a:r>
          </a:p>
          <a:p>
            <a:r>
              <a:rPr lang="en-IN" dirty="0"/>
              <a:t>This slide is answering one foundational question:</a:t>
            </a:r>
          </a:p>
          <a:p>
            <a:r>
              <a:rPr lang="en-IN" dirty="0"/>
              <a:t>❓ "What kinds of defects should QA actively look for in Day 2?"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introduces the main quality buckets learners will use in the lab.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🧱 1. Schema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names, columns, and types match expectations?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If schema is wrong, later logic may fail before any business rule is even evaluated.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📭 2. Completeness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Are required values present, or do nulls break downstream logic?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🧬 3. Uniqueness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Are keys or business identifiers duplicated unexpectedly?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📏 4. Validity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values fall within allowed ranges, sets, or formats?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5. Consistency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related tables and layers agree with each other?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understand:</a:t>
            </a:r>
          </a:p>
          <a:p>
            <a:r>
              <a:rPr lang="en-IN" dirty="0"/>
              <a:t>These are not five separate theory terms.</a:t>
            </a:r>
          </a:p>
          <a:p>
            <a:r>
              <a:rPr lang="en-IN" dirty="0"/>
              <a:t>They are five practical ways defects appear in real data systems.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A row can pass schema checks but fail validity.</a:t>
            </a:r>
          </a:p>
          <a:p>
            <a:r>
              <a:rPr lang="en-IN" dirty="0"/>
              <a:t>A row can pass validity but still break consistency with related tables.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strong Day 2 lab should force learners to recognize more than one kind of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"Schema validation"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"Before I check business logic, is the shape of the data even correct?"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Schema validation is often the first meaningful checkpoint in data QA.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🧱 1. Typical Schema Checks</a:t>
            </a:r>
          </a:p>
          <a:p>
            <a:r>
              <a:rPr lang="en-IN" dirty="0"/>
              <a:t>The slide highlights checks such as:</a:t>
            </a:r>
          </a:p>
          <a:p>
            <a:r>
              <a:rPr lang="en-IN" dirty="0"/>
              <a:t>Expected columns exist</a:t>
            </a:r>
          </a:p>
          <a:p>
            <a:r>
              <a:rPr lang="en-IN" dirty="0"/>
              <a:t>Columns appear in the right structure</a:t>
            </a:r>
          </a:p>
          <a:p>
            <a:r>
              <a:rPr lang="en-IN" dirty="0"/>
              <a:t>Data types match downstream expectations</a:t>
            </a:r>
          </a:p>
          <a:p>
            <a:r>
              <a:rPr lang="en-IN" dirty="0"/>
              <a:t>Optional vs. required fields are understood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A schema defect often shows up before any business-rule validation begins.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🥉 2. Bronze Example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Did the raw file include the expected columns?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If a raw source drops a column, the whole downstream flow may break quietly or incorrectly.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🥈 3. Silver Example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Was OrderDate converted to a usable date field?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a good reminder that schema is not only about column presence. It is also about usable data type behavior.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🥇 4. Gold Example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Are summaries built from the intended columns only?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Cross-layer question:</a:t>
            </a:r>
          </a:p>
          <a:p>
            <a:r>
              <a:rPr lang="en-IN" dirty="0"/>
              <a:t>Did any column disappear or change type without an agreed design change?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Test Case:</a:t>
            </a:r>
          </a:p>
          <a:p>
            <a:r>
              <a:rPr lang="en-IN" dirty="0"/>
              <a:t>If Quantity becomes text instead of numeric, the table may still load, but aggregations and rules can fail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Schema checks answer whether the data shape matches what the solution expects to consume.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"Null, duplicate, and type validation"</a:t>
            </a:r>
          </a:p>
          <a:p>
            <a:r>
              <a:rPr lang="en-IN" dirty="0"/>
              <a:t>This slide is answering one everyday QA question:</a:t>
            </a:r>
          </a:p>
          <a:p>
            <a:r>
              <a:rPr lang="en-IN" dirty="0"/>
              <a:t>❓ "What are the high-signal checks that reveal common data defects quickly?"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These are the bread-and-butter validations for Day 2.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📭 1. Null Checks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Are required values missing where business logic depends on them?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Required IDs</a:t>
            </a:r>
          </a:p>
          <a:p>
            <a:r>
              <a:rPr lang="en-IN" dirty="0"/>
              <a:t>Dates</a:t>
            </a:r>
          </a:p>
          <a:p>
            <a:r>
              <a:rPr lang="en-IN" dirty="0"/>
              <a:t>Amounts</a:t>
            </a:r>
          </a:p>
          <a:p>
            <a:r>
              <a:rPr lang="en-IN" dirty="0"/>
              <a:t>Statuses</a:t>
            </a:r>
          </a:p>
          <a:p>
            <a:r>
              <a:rPr lang="en-IN" dirty="0"/>
              <a:t>Any field used by joins, grouping, or filters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🔁 2. Duplicate Checks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Are primary or business identifiers repeated unexpectedly?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Two orders with the same OrderID may indicate replay, ingestion duplication, or broken upsert logic.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🔤 3. Type Checks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Did fields convert to the right numeric, date, or text form?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Numeric fields stay numeric</a:t>
            </a:r>
          </a:p>
          <a:p>
            <a:r>
              <a:rPr lang="en-IN" dirty="0"/>
              <a:t>Dates convert correctly</a:t>
            </a:r>
          </a:p>
          <a:p>
            <a:r>
              <a:rPr lang="en-IN" dirty="0"/>
              <a:t>Text codes remain readable and valid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4. Evidence Matters</a:t>
            </a:r>
          </a:p>
          <a:p>
            <a:r>
              <a:rPr lang="en-IN" dirty="0"/>
              <a:t>The slide points to evidence such as:</a:t>
            </a:r>
          </a:p>
          <a:p>
            <a:r>
              <a:rPr lang="en-IN" dirty="0"/>
              <a:t>Query results</a:t>
            </a:r>
          </a:p>
          <a:p>
            <a:r>
              <a:rPr lang="en-IN" dirty="0"/>
              <a:t>Row samples</a:t>
            </a:r>
          </a:p>
          <a:p>
            <a:r>
              <a:rPr lang="en-IN" dirty="0"/>
              <a:t>Exception lists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should not just say "nulls exist" or "duplicates found".</a:t>
            </a:r>
          </a:p>
          <a:p>
            <a:r>
              <a:rPr lang="en-IN" dirty="0"/>
              <a:t>QA should preserve evidence that proves what happened.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Even when business rules are more interesting, these checks often reveal the first real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"Business-rule validation"</a:t>
            </a:r>
          </a:p>
          <a:p>
            <a:r>
              <a:rPr lang="en-IN" dirty="0"/>
              <a:t>This slide is answering one higher-level QA question:</a:t>
            </a:r>
          </a:p>
          <a:p>
            <a:r>
              <a:rPr lang="en-IN" dirty="0"/>
              <a:t>❓ "How do we test whether the data is right for the business, not just technically well-formed?"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where QA thinking moves beyond structure into meaning.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📘 1. Example Rule Types</a:t>
            </a:r>
          </a:p>
          <a:p>
            <a:r>
              <a:rPr lang="en-IN" dirty="0"/>
              <a:t>The slide lists useful business rules such as:</a:t>
            </a:r>
          </a:p>
          <a:p>
            <a:r>
              <a:rPr lang="en-IN" dirty="0"/>
              <a:t>Order status must be one of the approved values</a:t>
            </a:r>
          </a:p>
          <a:p>
            <a:r>
              <a:rPr lang="en-IN" dirty="0"/>
              <a:t>OrderAmount should equal Quantity multiplied by UnitPrice</a:t>
            </a:r>
          </a:p>
          <a:p>
            <a:r>
              <a:rPr lang="en-IN" dirty="0"/>
              <a:t>Inactive customers should not produce new shipped orders</a:t>
            </a:r>
          </a:p>
          <a:p>
            <a:r>
              <a:rPr lang="en-IN" dirty="0"/>
              <a:t>Products should belong to recognized business categories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A dataset can pass schema checks and still fail every one of these business expectations.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🧠 2. QA Mindset Shift</a:t>
            </a:r>
          </a:p>
          <a:p>
            <a:r>
              <a:rPr lang="en-IN" dirty="0"/>
              <a:t>The slide tells learners to ask:</a:t>
            </a:r>
          </a:p>
          <a:p>
            <a:r>
              <a:rPr lang="en-IN" dirty="0"/>
              <a:t>What does the business expect?</a:t>
            </a:r>
          </a:p>
          <a:p>
            <a:r>
              <a:rPr lang="en-IN" dirty="0"/>
              <a:t>Not only:</a:t>
            </a:r>
          </a:p>
          <a:p>
            <a:r>
              <a:rPr lang="en-IN" dirty="0"/>
              <a:t>What did the pipeline produce?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do:</a:t>
            </a:r>
          </a:p>
          <a:p>
            <a:r>
              <a:rPr lang="en-IN" dirty="0"/>
              <a:t>Document the rule</a:t>
            </a:r>
          </a:p>
          <a:p>
            <a:r>
              <a:rPr lang="en-IN" dirty="0"/>
              <a:t>Document the evidence</a:t>
            </a:r>
          </a:p>
          <a:p>
            <a:r>
              <a:rPr lang="en-IN" dirty="0"/>
              <a:t>Define expected failure behavior</a:t>
            </a:r>
          </a:p>
          <a:p>
            <a:r>
              <a:rPr lang="en-IN" dirty="0"/>
              <a:t>Decide whether exceptions are defects or controlled cases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a row contains a valid status field but the status is "CompletedX", the schema may be fine while the business rule is broken.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Business-rule testing is where QA proves that technically valid data is also operationally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"Referential and cross-table validation"</a:t>
            </a:r>
          </a:p>
          <a:p>
            <a:r>
              <a:rPr lang="en-IN" dirty="0"/>
              <a:t>This slide is answering one trust question:</a:t>
            </a:r>
          </a:p>
          <a:p>
            <a:r>
              <a:rPr lang="en-IN" dirty="0"/>
              <a:t>❓ "Can good-looking data in one table still fail when I compare it with related data?"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answer is yes, and this slide explains where that happens.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👤 1. Customer Reference Check</a:t>
            </a:r>
          </a:p>
          <a:p>
            <a:r>
              <a:rPr lang="en-IN" dirty="0"/>
              <a:t>Every order should point to a known customer.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Are there orphan orders with missing CustomerID matches?</a:t>
            </a:r>
          </a:p>
          <a:p>
            <a:r>
              <a:rPr lang="en-IN" dirty="0"/>
              <a:t>If yes, were they rejected, quarantined, or passed incorrectly?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2. Product Reference Check</a:t>
            </a:r>
          </a:p>
          <a:p>
            <a:r>
              <a:rPr lang="en-IN" dirty="0"/>
              <a:t>Every order should point to a known product.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Missing product references often reveal lookup, timing, or source-data problems.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🌍 3. Regional Summary Reconciliation</a:t>
            </a:r>
          </a:p>
          <a:p>
            <a:r>
              <a:rPr lang="en-IN" dirty="0"/>
              <a:t>Aggregated order totals by region should reconcile with detail records.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Gold regional revenue does not match the sum of valid Silver order lines, reconciliation has failed somewhere in the flow.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4. Layer Consistency</a:t>
            </a:r>
          </a:p>
          <a:p>
            <a:r>
              <a:rPr lang="en-IN" dirty="0"/>
              <a:t>Bronze, Silver, and Gold counts should reconcile after expected filtering and rejection.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should understand:</a:t>
            </a:r>
          </a:p>
          <a:p>
            <a:r>
              <a:rPr lang="en-IN" dirty="0"/>
              <a:t>A row-count difference is not always a bug.</a:t>
            </a:r>
          </a:p>
          <a:p>
            <a:r>
              <a:rPr lang="en-IN" dirty="0"/>
              <a:t>The question is whether the difference is expected and explainable.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Row-level checks build confidence, but cross-table and cross-layer checks build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"Full load vs. incremental load"</a:t>
            </a:r>
          </a:p>
          <a:p>
            <a:r>
              <a:rPr lang="en-IN" dirty="0"/>
              <a:t>This slide is answering one very important QA strategy question:</a:t>
            </a:r>
          </a:p>
          <a:p>
            <a:r>
              <a:rPr lang="en-IN" dirty="0"/>
              <a:t>❓ "How does the loading pattern change what QA needs to prove?"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helps learners see why incremental testing is more subtle than full-load testing.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1. Full Load Validation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Was the complete dataset reloaded?</a:t>
            </a:r>
          </a:p>
          <a:p>
            <a:r>
              <a:rPr lang="en-IN" dirty="0"/>
              <a:t>Do row counts and totals match the expected full state?</a:t>
            </a:r>
          </a:p>
          <a:p>
            <a:r>
              <a:rPr lang="en-IN" dirty="0"/>
              <a:t>Were old rows replaced correctly where required?</a:t>
            </a:r>
          </a:p>
          <a:p>
            <a:r>
              <a:rPr lang="en-IN" dirty="0"/>
              <a:t>Did the load accidentally duplicate or omit records?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Full-load testing mainly proves the end state after a complete refresh.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2. Incremental Load Validation</a:t>
            </a:r>
          </a:p>
          <a:p>
            <a:r>
              <a:rPr lang="en-IN" dirty="0"/>
              <a:t>The slide asks:</a:t>
            </a:r>
          </a:p>
          <a:p>
            <a:r>
              <a:rPr lang="en-IN" dirty="0"/>
              <a:t>Did only the intended changed records land?</a:t>
            </a:r>
          </a:p>
          <a:p>
            <a:r>
              <a:rPr lang="en-IN" dirty="0"/>
              <a:t>Were existing rows updated without unwanted duplication?</a:t>
            </a:r>
          </a:p>
          <a:p>
            <a:r>
              <a:rPr lang="en-IN" dirty="0"/>
              <a:t>Did history or current-state logic behave as designed?</a:t>
            </a:r>
          </a:p>
          <a:p>
            <a:r>
              <a:rPr lang="en-IN" dirty="0"/>
              <a:t>Can QA explain why row counts changed between runs?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3. Why Incremental Loads Are Tricky</a:t>
            </a:r>
          </a:p>
          <a:p>
            <a:r>
              <a:rPr lang="en-IN" dirty="0"/>
              <a:t>With incremental logic, QA must prove:</a:t>
            </a:r>
          </a:p>
          <a:p>
            <a:r>
              <a:rPr lang="en-IN" dirty="0"/>
              <a:t>Change behavior</a:t>
            </a:r>
          </a:p>
          <a:p>
            <a:r>
              <a:rPr lang="en-IN" dirty="0"/>
              <a:t>Update behavior</a:t>
            </a:r>
          </a:p>
          <a:p>
            <a:r>
              <a:rPr lang="en-IN" dirty="0"/>
              <a:t>Replay handling</a:t>
            </a:r>
          </a:p>
          <a:p>
            <a:r>
              <a:rPr lang="en-IN" dirty="0"/>
              <a:t>Late-arrival handling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A row-count increase may be correct in one run and a duplicate defect in another.</a:t>
            </a:r>
          </a:p>
          <a:p>
            <a:r>
              <a:rPr lang="en-IN" dirty="0"/>
              <a:t>Without change context, QA cannot judge the result properly.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Full loads prove the final state. Incremental loads must also prove how change was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"Late-arriving and incorrect data scenarios"</a:t>
            </a:r>
          </a:p>
          <a:p>
            <a:r>
              <a:rPr lang="en-IN" dirty="0"/>
              <a:t>This slide is answering one realism question:</a:t>
            </a:r>
          </a:p>
          <a:p>
            <a:r>
              <a:rPr lang="en-IN" dirty="0"/>
              <a:t>❓ "What kinds of messy data situations should QA expect in a real project?"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is important because it makes the lab scenario feel realistic instead of mechanical.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⏰ 1. Late-Arriving Record</a:t>
            </a:r>
          </a:p>
          <a:p>
            <a:r>
              <a:rPr lang="en-IN" dirty="0"/>
              <a:t>A valid order shows up after the first load window.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Was it picked up later as designed?</a:t>
            </a:r>
          </a:p>
          <a:p>
            <a:r>
              <a:rPr lang="en-IN" dirty="0"/>
              <a:t>Did the later arrival change totals correctly?</a:t>
            </a:r>
          </a:p>
          <a:p>
            <a:r>
              <a:rPr lang="en-IN" dirty="0"/>
              <a:t>Did history remain accurate?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❌ 2. Invalid Reference</a:t>
            </a:r>
          </a:p>
          <a:p>
            <a:r>
              <a:rPr lang="en-IN" dirty="0"/>
              <a:t>An order arrives with a CustomerID not found in the customer dataset.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Was the row rejected, flagged, or allowed through incorrectly?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📏 3. Bad Business Value</a:t>
            </a:r>
          </a:p>
          <a:p>
            <a:r>
              <a:rPr lang="en-IN" dirty="0"/>
              <a:t>An order has an unapproved status or an impossible amount.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a classic business-rule defect.</a:t>
            </a:r>
          </a:p>
          <a:p>
            <a:r>
              <a:rPr lang="en-IN" dirty="0"/>
              <a:t>The row may be technically present but still logically invalid.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🔁 4. Duplicate Replay</a:t>
            </a:r>
          </a:p>
          <a:p>
            <a:r>
              <a:rPr lang="en-IN" dirty="0"/>
              <a:t>An already-processed order arrives again during an incremental load.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Was it deduplicated?</a:t>
            </a:r>
          </a:p>
          <a:p>
            <a:r>
              <a:rPr lang="en-IN" dirty="0"/>
              <a:t>Was it updated?</a:t>
            </a:r>
          </a:p>
          <a:p>
            <a:r>
              <a:rPr lang="en-IN" dirty="0"/>
              <a:t>Was it loaded twice by mistake?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These are not edge cases.</a:t>
            </a:r>
          </a:p>
          <a:p>
            <a:r>
              <a:rPr lang="en-IN" dirty="0"/>
              <a:t>They are exactly the scenarios that expose real QA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"Tools and execution options in Fabric"</a:t>
            </a:r>
          </a:p>
          <a:p>
            <a:r>
              <a:rPr lang="en-IN" dirty="0"/>
              <a:t>This slide is answering one execution question:</a:t>
            </a:r>
          </a:p>
          <a:p>
            <a:r>
              <a:rPr lang="en-IN" dirty="0"/>
              <a:t>❓ "Where can QA actually run and observe these quality checks?"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purpose is not to teach every tool deeply.</a:t>
            </a:r>
          </a:p>
          <a:p>
            <a:r>
              <a:rPr lang="en-IN" dirty="0"/>
              <a:t>It is to show that Fabric gives several places where quality logic can be executed and observed.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1. SQL Endpoint</a:t>
            </a:r>
          </a:p>
          <a:p>
            <a:r>
              <a:rPr lang="en-IN" dirty="0"/>
              <a:t>Best for: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Joins</a:t>
            </a:r>
          </a:p>
          <a:p>
            <a:r>
              <a:rPr lang="en-IN" dirty="0"/>
              <a:t>Aggregates</a:t>
            </a:r>
          </a:p>
          <a:p>
            <a:r>
              <a:rPr lang="en-IN" dirty="0"/>
              <a:t>Anomaly checks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Fast, readable, and great for evidence gathering.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📓 2. Notebooks</a:t>
            </a:r>
          </a:p>
          <a:p>
            <a:r>
              <a:rPr lang="en-IN" dirty="0"/>
              <a:t>Best for:</a:t>
            </a:r>
          </a:p>
          <a:p>
            <a:r>
              <a:rPr lang="en-IN" dirty="0"/>
              <a:t>Profiling</a:t>
            </a:r>
          </a:p>
          <a:p>
            <a:r>
              <a:rPr lang="en-IN" dirty="0"/>
              <a:t>Transformations</a:t>
            </a:r>
          </a:p>
          <a:p>
            <a:r>
              <a:rPr lang="en-IN" dirty="0"/>
              <a:t>Richer validation logic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Useful when rules are more complex than a simple query can express.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3. Dataflows Gen2</a:t>
            </a:r>
          </a:p>
          <a:p>
            <a:r>
              <a:rPr lang="en-IN" dirty="0"/>
              <a:t>Best for:</a:t>
            </a:r>
          </a:p>
          <a:p>
            <a:r>
              <a:rPr lang="en-IN" dirty="0"/>
              <a:t>Visible low-code transformations</a:t>
            </a:r>
          </a:p>
          <a:p>
            <a:r>
              <a:rPr lang="en-IN" dirty="0"/>
              <a:t>Cleansing steps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Helpful when learners need to see transformation behavior in a more visual flow.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4. Validation Frameworks</a:t>
            </a:r>
          </a:p>
          <a:p>
            <a:r>
              <a:rPr lang="en-IN" dirty="0"/>
              <a:t>Examples mentioned:</a:t>
            </a:r>
          </a:p>
          <a:p>
            <a:r>
              <a:rPr lang="en-IN" dirty="0"/>
              <a:t>Great Expectations</a:t>
            </a:r>
          </a:p>
          <a:p>
            <a:r>
              <a:rPr lang="en-IN" dirty="0"/>
              <a:t>Pandera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Why they matter:</a:t>
            </a:r>
          </a:p>
          <a:p>
            <a:r>
              <a:rPr lang="en-IN" dirty="0"/>
              <a:t>They can turn rules into reusable checks instead of one-off validation steps.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best QA tool is the one that makes the rule observable, repeatable, and easy to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"Turning rules into test cases"</a:t>
            </a:r>
          </a:p>
          <a:p>
            <a:r>
              <a:rPr lang="en-IN" dirty="0"/>
              <a:t>This slide is answering one QA process question:</a:t>
            </a:r>
          </a:p>
          <a:p>
            <a:r>
              <a:rPr lang="en-IN" dirty="0"/>
              <a:t>❓ "How do we convert a validation idea into a repeatable test case?"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is the bridge from concepts into reusable QA assets.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📘 1. Rule</a:t>
            </a:r>
          </a:p>
          <a:p>
            <a:r>
              <a:rPr lang="en-IN" dirty="0"/>
              <a:t>Start by stating the expected business or structural behavior clearly.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Example:</a:t>
            </a:r>
          </a:p>
          <a:p>
            <a:r>
              <a:rPr lang="en-IN" dirty="0"/>
              <a:t>OrderAmount must equal Quantity multiplied by UnitPrice.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📥 2. Input</a:t>
            </a:r>
          </a:p>
          <a:p>
            <a:r>
              <a:rPr lang="en-IN" dirty="0"/>
              <a:t>Identify where the check runs:</a:t>
            </a:r>
          </a:p>
          <a:p>
            <a:r>
              <a:rPr lang="en-IN" dirty="0"/>
              <a:t>Layer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File</a:t>
            </a:r>
          </a:p>
          <a:p>
            <a:r>
              <a:rPr lang="en-IN" dirty="0"/>
              <a:t>Dataset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A rule without a target surface is not yet a useful test.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3. Method</a:t>
            </a:r>
          </a:p>
          <a:p>
            <a:r>
              <a:rPr lang="en-IN" dirty="0"/>
              <a:t>Describe how the check is executed:</a:t>
            </a:r>
          </a:p>
          <a:p>
            <a:r>
              <a:rPr lang="en-IN" dirty="0"/>
              <a:t>SQL query</a:t>
            </a:r>
          </a:p>
          <a:p>
            <a:r>
              <a:rPr lang="en-IN" dirty="0"/>
              <a:t>Notebook logic</a:t>
            </a:r>
          </a:p>
          <a:p>
            <a:r>
              <a:rPr lang="en-IN" dirty="0"/>
              <a:t>Framework rule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4. Expected Result</a:t>
            </a:r>
          </a:p>
          <a:p>
            <a:r>
              <a:rPr lang="en-IN" dirty="0"/>
              <a:t>Define what pass, fail, reject, or warning means.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critical because QA must know whether a bad row should:</a:t>
            </a:r>
          </a:p>
          <a:p>
            <a:r>
              <a:rPr lang="en-IN" dirty="0"/>
              <a:t>Be blocked</a:t>
            </a:r>
          </a:p>
          <a:p>
            <a:r>
              <a:rPr lang="en-IN" dirty="0"/>
              <a:t>Be corrected</a:t>
            </a:r>
          </a:p>
          <a:p>
            <a:r>
              <a:rPr lang="en-IN" dirty="0"/>
              <a:t>Be isolated</a:t>
            </a:r>
          </a:p>
          <a:p>
            <a:r>
              <a:rPr lang="en-IN" dirty="0"/>
              <a:t>Be logged as an exception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5. Evidence</a:t>
            </a:r>
          </a:p>
          <a:p>
            <a:r>
              <a:rPr lang="en-IN" dirty="0"/>
              <a:t>Record the output that proves what happened.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best Day 2 outcome is not only finding issues. It is learning how to describe checks repeatably and defensibly.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2 scenario"</a:t>
            </a:r>
          </a:p>
          <a:p>
            <a:r>
              <a:rPr lang="en-IN" dirty="0"/>
              <a:t>This slide is answering one practical learner question:</a:t>
            </a:r>
          </a:p>
          <a:p>
            <a:r>
              <a:rPr lang="en-IN" dirty="0"/>
              <a:t>❓ "What data story are we using to practice all these quality checks?"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Day 2 lab uses a medallion-style quality-testing scenario for Contoso Outdoor Retail.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📥 1. Raw Inputs</a:t>
            </a:r>
          </a:p>
          <a:p>
            <a:r>
              <a:rPr lang="en-IN" dirty="0"/>
              <a:t>The scenario includes:</a:t>
            </a:r>
          </a:p>
          <a:p>
            <a:r>
              <a:rPr lang="en-IN" dirty="0"/>
              <a:t>Customer, product, and order files</a:t>
            </a:r>
          </a:p>
          <a:p>
            <a:r>
              <a:rPr lang="en-IN" dirty="0"/>
              <a:t>A small dataset with quality issues</a:t>
            </a:r>
          </a:p>
          <a:p>
            <a:r>
              <a:rPr lang="en-IN" dirty="0"/>
              <a:t>An incremental order file with late-arriving and invalid records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intentional.</a:t>
            </a:r>
          </a:p>
          <a:p>
            <a:r>
              <a:rPr lang="en-IN" dirty="0"/>
              <a:t>The lab needs flawed records to become QA training instead of a simple happy-path demo.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🧱 2. Bronze Outputs</a:t>
            </a:r>
          </a:p>
          <a:p>
            <a:r>
              <a:rPr lang="en-IN" dirty="0"/>
              <a:t>Bronze tables expose:</a:t>
            </a:r>
          </a:p>
          <a:p>
            <a:r>
              <a:rPr lang="en-IN" dirty="0"/>
              <a:t>Raw landed data</a:t>
            </a:r>
          </a:p>
          <a:p>
            <a:r>
              <a:rPr lang="en-IN" dirty="0"/>
              <a:t>Visible defects</a:t>
            </a:r>
          </a:p>
          <a:p>
            <a:r>
              <a:rPr lang="en-IN" dirty="0"/>
              <a:t>Initial landing evidence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🧼 3. Silver Outputs</a:t>
            </a:r>
          </a:p>
          <a:p>
            <a:r>
              <a:rPr lang="en-IN" dirty="0"/>
              <a:t>Silver tables apply:</a:t>
            </a:r>
          </a:p>
          <a:p>
            <a:r>
              <a:rPr lang="en-IN" dirty="0"/>
              <a:t>Cleansing</a:t>
            </a:r>
          </a:p>
          <a:p>
            <a:r>
              <a:rPr lang="en-IN" dirty="0"/>
              <a:t>Validation logic</a:t>
            </a:r>
          </a:p>
          <a:p>
            <a:r>
              <a:rPr lang="en-IN" dirty="0"/>
              <a:t>Quality handling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🥇 4. Gold Outputs</a:t>
            </a:r>
          </a:p>
          <a:p>
            <a:r>
              <a:rPr lang="en-IN" dirty="0"/>
              <a:t>Gold outputs support:</a:t>
            </a:r>
          </a:p>
          <a:p>
            <a:r>
              <a:rPr lang="en-IN" dirty="0"/>
              <a:t>Business-ready summaries</a:t>
            </a:r>
          </a:p>
          <a:p>
            <a:r>
              <a:rPr lang="en-IN" dirty="0"/>
              <a:t>Reporting-style checks</a:t>
            </a:r>
          </a:p>
          <a:p>
            <a:r>
              <a:rPr lang="en-IN" dirty="0"/>
              <a:t>Trust validation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5. Rejected or Issue View</a:t>
            </a:r>
          </a:p>
          <a:p>
            <a:r>
              <a:rPr lang="en-IN" dirty="0"/>
              <a:t>The scenario also includes a rejection or issue view learners can inspect as QA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2 intentionally includes flawed records because defects are what make the exercise realistic and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2 lab flow"</a:t>
            </a:r>
          </a:p>
          <a:p>
            <a:r>
              <a:rPr lang="en-IN" dirty="0"/>
              <a:t>This slide is answering one practical lab question:</a:t>
            </a:r>
          </a:p>
          <a:p>
            <a:r>
              <a:rPr lang="en-IN" dirty="0"/>
              <a:t>❓ "What sequence should learners follow during the hands-on exercise?"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lab flow is designed to move from raw data to validation evidence in a clear order.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Create the Day 2 workspace and Lakehouse</a:t>
            </a:r>
          </a:p>
          <a:p>
            <a:r>
              <a:rPr lang="en-IN" dirty="0"/>
              <a:t>👉 Set up the environment before testing begins.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Load raw files and build Bronze tables</a:t>
            </a:r>
          </a:p>
          <a:p>
            <a:r>
              <a:rPr lang="en-IN" dirty="0"/>
              <a:t>👉 Confirm that landing happened and raw visibility exists.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Run quality checks and identify defects</a:t>
            </a:r>
          </a:p>
          <a:p>
            <a:r>
              <a:rPr lang="en-IN" dirty="0"/>
              <a:t>👉 This is where learners start doing true QA work.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Create Silver and Gold outputs</a:t>
            </a:r>
          </a:p>
          <a:p>
            <a:r>
              <a:rPr lang="en-IN" dirty="0"/>
              <a:t>👉 Observe how cleansing and curation change the data shape and trust level.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5. Test the incremental file and record findings</a:t>
            </a:r>
          </a:p>
          <a:p>
            <a:r>
              <a:rPr lang="en-IN" dirty="0"/>
              <a:t>👉 This is where learners prove they understand change behavior, not just static data.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understand:</a:t>
            </a:r>
          </a:p>
          <a:p>
            <a:r>
              <a:rPr lang="en-IN" dirty="0"/>
              <a:t>The lab is not complete when the tables exist.</a:t>
            </a:r>
          </a:p>
          <a:p>
            <a:r>
              <a:rPr lang="en-IN" dirty="0"/>
              <a:t>It is complete when learners can show what they checked, what failed, and what evidence supports the conclusion.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flow is intentionally simple so learners can focus on testing behavior rather than guessing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"Expected outputs and QA evidence"</a:t>
            </a:r>
          </a:p>
          <a:p>
            <a:r>
              <a:rPr lang="en-IN" dirty="0"/>
              <a:t>This slide is answering one proof question:</a:t>
            </a:r>
          </a:p>
          <a:p>
            <a:r>
              <a:rPr lang="en-IN" dirty="0"/>
              <a:t>❓ "What should Day 2 produce if learners do the lab correctly?"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answer is:</a:t>
            </a:r>
          </a:p>
          <a:p>
            <a:r>
              <a:rPr lang="en-IN" dirty="0"/>
              <a:t>Both data outputs and explicit evidence of how the rules behaved.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🥉 1. Bronze Evidence</a:t>
            </a:r>
          </a:p>
          <a:p>
            <a:r>
              <a:rPr lang="en-IN" dirty="0"/>
              <a:t>Expected proof includes:</a:t>
            </a:r>
          </a:p>
          <a:p>
            <a:r>
              <a:rPr lang="en-IN" dirty="0"/>
              <a:t>Raw row counts</a:t>
            </a:r>
          </a:p>
          <a:p>
            <a:r>
              <a:rPr lang="en-IN" dirty="0"/>
              <a:t>Visible defects</a:t>
            </a:r>
          </a:p>
          <a:p>
            <a:r>
              <a:rPr lang="en-IN" dirty="0"/>
              <a:t>File-to-table landing proof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🥈 2. Silver Evidence</a:t>
            </a:r>
          </a:p>
          <a:p>
            <a:r>
              <a:rPr lang="en-IN" dirty="0"/>
              <a:t>Expected proof includes:</a:t>
            </a:r>
          </a:p>
          <a:p>
            <a:r>
              <a:rPr lang="en-IN" dirty="0"/>
              <a:t>Cleansed rows</a:t>
            </a:r>
          </a:p>
          <a:p>
            <a:r>
              <a:rPr lang="en-IN" dirty="0"/>
              <a:t>Filtered rejects</a:t>
            </a:r>
          </a:p>
          <a:p>
            <a:r>
              <a:rPr lang="en-IN" dirty="0"/>
              <a:t>Validation query outputs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🥇 3. Gold Evidence</a:t>
            </a:r>
          </a:p>
          <a:p>
            <a:r>
              <a:rPr lang="en-IN" dirty="0"/>
              <a:t>Expected proof includes:</a:t>
            </a:r>
          </a:p>
          <a:p>
            <a:r>
              <a:rPr lang="en-IN" dirty="0"/>
              <a:t>Reconciled totals</a:t>
            </a:r>
          </a:p>
          <a:p>
            <a:r>
              <a:rPr lang="en-IN" dirty="0"/>
              <a:t>Summaries</a:t>
            </a:r>
          </a:p>
          <a:p>
            <a:r>
              <a:rPr lang="en-IN" dirty="0"/>
              <a:t>Business-facing sanity checks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4. QA Evidence</a:t>
            </a:r>
          </a:p>
          <a:p>
            <a:r>
              <a:rPr lang="en-IN" dirty="0"/>
              <a:t>Expected learner evidence includes:</a:t>
            </a:r>
          </a:p>
          <a:p>
            <a:r>
              <a:rPr lang="en-IN" dirty="0"/>
              <a:t>Worksheet notes</a:t>
            </a:r>
          </a:p>
          <a:p>
            <a:r>
              <a:rPr lang="en-IN" dirty="0"/>
              <a:t>Query results</a:t>
            </a:r>
          </a:p>
          <a:p>
            <a:r>
              <a:rPr lang="en-IN" dirty="0"/>
              <a:t>Issue counts</a:t>
            </a:r>
          </a:p>
          <a:p>
            <a:r>
              <a:rPr lang="en-IN" dirty="0"/>
              <a:t>Proposed test cases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the most important layer for the learner.</a:t>
            </a:r>
          </a:p>
          <a:p>
            <a:r>
              <a:rPr lang="en-IN" dirty="0"/>
              <a:t>The goal is not just that the data changes.</a:t>
            </a:r>
          </a:p>
          <a:p>
            <a:r>
              <a:rPr lang="en-IN" dirty="0"/>
              <a:t>The goal is that QA can explain what happened and prove it.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2 is not complete when tables are built. It is complete when evidence exists for what was checked and what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"Common Day 2 pitfalls"</a:t>
            </a:r>
          </a:p>
          <a:p>
            <a:r>
              <a:rPr lang="en-IN" dirty="0"/>
              <a:t>This slide is answering one coaching question:</a:t>
            </a:r>
          </a:p>
          <a:p>
            <a:r>
              <a:rPr lang="en-IN" dirty="0"/>
              <a:t>❓ "What mistakes do teams commonly make when they are new to data quality testing?"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normalizes common mistakes so learners can avoid them early.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1. Common Mistakes</a:t>
            </a:r>
          </a:p>
          <a:p>
            <a:r>
              <a:rPr lang="en-IN" dirty="0"/>
              <a:t>The slide warns against:</a:t>
            </a:r>
          </a:p>
          <a:p>
            <a:r>
              <a:rPr lang="en-IN" dirty="0"/>
              <a:t>Checking only row counts and skipping business rules</a:t>
            </a:r>
          </a:p>
          <a:p>
            <a:r>
              <a:rPr lang="en-IN" dirty="0"/>
              <a:t>Treating Bronze data as if it should already be clean</a:t>
            </a:r>
          </a:p>
          <a:p>
            <a:r>
              <a:rPr lang="en-IN" dirty="0"/>
              <a:t>Ignoring incremental-load behavior and replays</a:t>
            </a:r>
          </a:p>
          <a:p>
            <a:r>
              <a:rPr lang="en-IN" dirty="0"/>
              <a:t>Recording results without enough QA evidence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These mistakes happen when teams confuse data loading with data quality validation.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Better Habits</a:t>
            </a:r>
          </a:p>
          <a:p>
            <a:r>
              <a:rPr lang="en-IN" dirty="0"/>
              <a:t>The slide recommends:</a:t>
            </a:r>
          </a:p>
          <a:p>
            <a:r>
              <a:rPr lang="en-IN" dirty="0"/>
              <a:t>Match checks to the purpose of each medallion layer</a:t>
            </a:r>
          </a:p>
          <a:p>
            <a:r>
              <a:rPr lang="en-IN" dirty="0"/>
              <a:t>Separate structural failures from business-rule failures</a:t>
            </a:r>
          </a:p>
          <a:p>
            <a:r>
              <a:rPr lang="en-IN" dirty="0"/>
              <a:t>Track expected and unexpected record rejection behavior</a:t>
            </a:r>
          </a:p>
          <a:p>
            <a:r>
              <a:rPr lang="en-IN" dirty="0"/>
              <a:t>Turn findings into reusable test cases for future runs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A row count alone rarely proves quality.</a:t>
            </a:r>
          </a:p>
          <a:p>
            <a:r>
              <a:rPr lang="en-IN" dirty="0"/>
              <a:t>A passed pipeline alone rarely proves correctness.</a:t>
            </a:r>
          </a:p>
          <a:p>
            <a:r>
              <a:rPr lang="en-IN" dirty="0"/>
              <a:t>Evidence and intent are both required.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Supportive discipline early on prevents shallow testing and repeated QA blind spots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"Recap and transition to Module 3"</a:t>
            </a:r>
          </a:p>
          <a:p>
            <a:r>
              <a:rPr lang="en-IN" dirty="0"/>
              <a:t>This slide is answering the closeout question:</a:t>
            </a:r>
          </a:p>
          <a:p>
            <a:r>
              <a:rPr lang="en-IN" dirty="0"/>
              <a:t>❓ "What should learners now understand after Day 2, and how does that prepare them for the next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1. Medallion Layers Are QA Checkpoints</a:t>
            </a:r>
          </a:p>
          <a:p>
            <a:r>
              <a:rPr lang="en-IN" dirty="0"/>
              <a:t>Each layer changes what "correct" should mean.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Bronze, Silver, and Gold are not just architecture labels.</a:t>
            </a:r>
          </a:p>
          <a:p>
            <a:r>
              <a:rPr lang="en-IN" dirty="0"/>
              <a:t>They define different QA expectations.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📏 2. Data Quality Has Multiple Dimensions</a:t>
            </a:r>
          </a:p>
          <a:p>
            <a:r>
              <a:rPr lang="en-IN" dirty="0"/>
              <a:t>The slide reinforces:</a:t>
            </a:r>
          </a:p>
          <a:p>
            <a:r>
              <a:rPr lang="en-IN" dirty="0"/>
              <a:t>Schema</a:t>
            </a:r>
          </a:p>
          <a:p>
            <a:r>
              <a:rPr lang="en-IN" dirty="0"/>
              <a:t>Completeness</a:t>
            </a:r>
          </a:p>
          <a:p>
            <a:r>
              <a:rPr lang="en-IN" dirty="0"/>
              <a:t>Uniqueness</a:t>
            </a:r>
          </a:p>
          <a:p>
            <a:r>
              <a:rPr lang="en-IN" dirty="0"/>
              <a:t>Validity</a:t>
            </a:r>
          </a:p>
          <a:p>
            <a:r>
              <a:rPr lang="en-IN" dirty="0"/>
              <a:t>Consistency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Good QA must consider all of them, not just one.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3. Load Strategy Changes the Test Plan</a:t>
            </a:r>
          </a:p>
          <a:p>
            <a:r>
              <a:rPr lang="en-IN" dirty="0"/>
              <a:t>Full loads and incremental loads require different evidence and different questions.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4. Evidence Matters as Much as the Result</a:t>
            </a:r>
          </a:p>
          <a:p>
            <a:r>
              <a:rPr lang="en-IN" dirty="0"/>
              <a:t>Good QA records:</a:t>
            </a:r>
          </a:p>
          <a:p>
            <a:r>
              <a:rPr lang="en-IN" dirty="0"/>
              <a:t>Queries</a:t>
            </a:r>
          </a:p>
          <a:p>
            <a:r>
              <a:rPr lang="en-IN" dirty="0"/>
              <a:t>Findings</a:t>
            </a:r>
          </a:p>
          <a:p>
            <a:r>
              <a:rPr lang="en-IN" dirty="0"/>
              <a:t>Exception behavior</a:t>
            </a:r>
          </a:p>
          <a:p>
            <a:r>
              <a:rPr lang="en-IN" dirty="0"/>
              <a:t>The logic behind each check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➡️ 5. Transition to Module 3</a:t>
            </a:r>
          </a:p>
          <a:p>
            <a:r>
              <a:rPr lang="en-IN" dirty="0"/>
              <a:t>The next module goes deeper into:</a:t>
            </a:r>
          </a:p>
          <a:p>
            <a:r>
              <a:rPr lang="en-IN" dirty="0"/>
              <a:t>Lakehouse testing</a:t>
            </a:r>
          </a:p>
          <a:p>
            <a:r>
              <a:rPr lang="en-IN" dirty="0"/>
              <a:t>Warehouse testing</a:t>
            </a:r>
          </a:p>
          <a:p>
            <a:r>
              <a:rPr lang="en-IN" dirty="0"/>
              <a:t>Delta details</a:t>
            </a:r>
          </a:p>
          <a:p>
            <a:r>
              <a:rPr lang="en-IN" dirty="0"/>
              <a:t>SQL validation</a:t>
            </a:r>
          </a:p>
          <a:p>
            <a:r>
              <a:rPr lang="en-IN" dirty="0"/>
              <a:t>Reconciliation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2 turns platform awareness into data-validation behavior, and Module 3 builds on that foundation with deeper technical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93F7E1C-DD8E-4AE2-BB47-197CE426F1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16C999-3441-43C2-9756-1C030F2B0DF8}"/>
              </a:ext>
            </a:extLst>
          </p:cNvPr>
          <p:cNvSpPr>
            <a:spLocks noGrp="1"/>
          </p:cNvSpPr>
          <p:nvPr/>
        </p:nvSpPr>
        <p:spPr>
          <a:xfrm>
            <a:off x="8362950" y="781050"/>
            <a:ext cx="3143250" cy="3143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D19369-BC1F-4D9F-974D-D354A79490B5}"/>
              </a:ext>
            </a:extLst>
          </p:cNvPr>
          <p:cNvSpPr>
            <a:spLocks noGrp="1"/>
          </p:cNvSpPr>
          <p:nvPr/>
        </p:nvSpPr>
        <p:spPr>
          <a:xfrm>
            <a:off x="9791700" y="2457450"/>
            <a:ext cx="1619250" cy="161925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D99EAF-DB20-4033-94BA-452DA826DF43}"/>
              </a:ext>
            </a:extLst>
          </p:cNvPr>
          <p:cNvSpPr>
            <a:spLocks noGrp="1"/>
          </p:cNvSpPr>
          <p:nvPr/>
        </p:nvSpPr>
        <p:spPr>
          <a:xfrm>
            <a:off x="9124950" y="4343400"/>
            <a:ext cx="2095500" cy="2095500"/>
          </a:xfrm>
          <a:prstGeom prst="ellipse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F86E141-F348-4F5F-ADC6-CC07A6FFE8C8}"/>
              </a:ext>
            </a:extLst>
          </p:cNvPr>
          <p:cNvSpPr>
            <a:spLocks noGrp="1"/>
          </p:cNvSpPr>
          <p:nvPr/>
        </p:nvSpPr>
        <p:spPr>
          <a:xfrm>
            <a:off x="7753350" y="1200150"/>
            <a:ext cx="19621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10196"/>
            </a:srgbClr>
          </a:solidFill>
          <a:ln w="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33E7B9-F371-4338-A863-626CFEA00411}"/>
              </a:ext>
            </a:extLst>
          </p:cNvPr>
          <p:cNvSpPr>
            <a:spLocks noGrp="1"/>
          </p:cNvSpPr>
          <p:nvPr/>
        </p:nvSpPr>
        <p:spPr>
          <a:xfrm>
            <a:off x="8096250" y="2324100"/>
            <a:ext cx="24384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549"/>
            </a:srgbClr>
          </a:solidFill>
          <a:ln w="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14A2A3-BD7C-482C-A18B-AAD505B40A78}"/>
              </a:ext>
            </a:extLst>
          </p:cNvPr>
          <p:cNvSpPr>
            <a:spLocks noGrp="1"/>
          </p:cNvSpPr>
          <p:nvPr/>
        </p:nvSpPr>
        <p:spPr>
          <a:xfrm>
            <a:off x="7448550" y="3714750"/>
            <a:ext cx="234315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10196"/>
            </a:srgbClr>
          </a:solidFill>
          <a:ln w="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3BCD0-70C5-42C4-B50B-6387997A9B47}"/>
              </a:ext>
            </a:extLst>
          </p:cNvPr>
          <p:cNvSpPr>
            <a:spLocks noGrp="1"/>
          </p:cNvSpPr>
          <p:nvPr/>
        </p:nvSpPr>
        <p:spPr>
          <a:xfrm>
            <a:off x="723900" y="80010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FEDE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FEDEE"/>
                </a:solidFill>
                <a:latin typeface="Aptos Mono"/>
                <a:ea typeface="Aptos Mono"/>
                <a:cs typeface="Aptos Mono"/>
              </a:rPr>
              <a:t>MICROSOFT FABRIC QA 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E01834-13F3-4294-A8D5-7E4218DC452E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6477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sz="3000" b="1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Day 2: Data Validation &amp; Quality Testing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0B72A5-CE0E-4718-A576-0148D70C0613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57721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5EEF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E5EEF2"/>
                </a:solidFill>
                <a:latin typeface="Lato"/>
                <a:ea typeface="Lato"/>
                <a:cs typeface="Lato"/>
              </a:rPr>
              <a:t>A QA-first walkthrough of medallion validation, data quality checks, business rules, and how to test full and incremental data flows.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965D759-52D9-4072-8936-0E9B7BC4A5EB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C19C89-591F-4C6B-9766-11F2A337A122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30 MINUTE SESSION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2BF0B2-C40B-4415-8BDC-B2EA852F9438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21145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7C2D92-844A-47B3-AB58-66978AA447F7}"/>
              </a:ext>
            </a:extLst>
          </p:cNvPr>
          <p:cNvSpPr>
            <a:spLocks noGrp="1"/>
          </p:cNvSpPr>
          <p:nvPr/>
        </p:nvSpPr>
        <p:spPr>
          <a:xfrm>
            <a:off x="2781300" y="34194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rPr>
              <a:t>20 PRESENTATION SLIDES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9DA0A78-1BA5-4A8A-B332-73632D173BAD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5543550" cy="1733550"/>
          </a:xfrm>
          <a:prstGeom prst="roundRect">
            <a:avLst>
              <a:gd name="adj" fmla="val 4396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3750C-0F0C-4EAB-97F4-28C7206E482B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76200" cy="17335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063498-54B9-482C-905F-670EDE5AEF0F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By the end of this module, learners should be able to: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A04BD0-B9A1-493E-8FC1-956DA14A6D3D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47244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Map data validation questions to Bronze, Silver, and Gold layers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Run structural and business-rule checks with confidence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Explain why incremental loads need different QA thinking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Recognize late-arriving and incorrect data as test scenarios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A66C9-868F-440B-A9C5-7A8D2DE9FB80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DE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FEDEE"/>
                </a:solidFill>
                <a:latin typeface="Aptos Mono"/>
                <a:ea typeface="Aptos Mono"/>
                <a:cs typeface="Aptos Mono"/>
              </a:rPr>
              <a:t>Module 2</a:t>
            </a:r>
          </a:p>
        </p:txBody>
      </p:sp>
    </p:spTree>
    <p:extLst>
      <p:ext uri="{BB962C8B-B14F-4D97-AF65-F5344CB8AC3E}">
        <p14:creationId xmlns:p14="http://schemas.microsoft.com/office/powerpoint/2010/main" val="128467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D452A76-8601-4BDF-B72A-8BA906BC28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239441-97B4-43D9-BF65-0A026382B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F1BDC4-E078-48A0-8274-839372F3A3B9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8762AC-FD1C-4E78-9927-2E595EEFCF52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DAFF6D-90E3-4B6A-BAF4-AD12F9B2DB0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3B626-EE8B-4DE2-93C9-4A5499697FA6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6AF16-0217-4AE0-937E-9D65D15E6593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BDA468-0A22-4CA3-B8BD-28E57C64BAC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we will cover in 30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66C886-E997-498A-8B88-A57946A6384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This session moves from medallion concepts into concrete data quality testing decisions.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7722F5-D56C-436F-930E-20AB96779407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ECE264-DFAA-48AF-8DA1-E88CFF08B073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2343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3953B-B356-4BCD-8C4B-5CCF0DFFB5A1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1. Layer thinking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EB606-3BFB-469A-9C08-D9C1B71E3D8F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Bronze, Silver, and Gold change what QA should expect.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78A6FC1-7483-40B9-8275-448D4A15BBB1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F8DBDD-4DE8-4062-9E7B-098B3622CD50}"/>
              </a:ext>
            </a:extLst>
          </p:cNvPr>
          <p:cNvSpPr>
            <a:spLocks noGrp="1"/>
          </p:cNvSpPr>
          <p:nvPr/>
        </p:nvSpPr>
        <p:spPr>
          <a:xfrm>
            <a:off x="9525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7 MIN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0146C98-9C04-4718-891F-A78798661673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CFF7F2-77A6-4C4D-850A-D3E4AE07C264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76200" cy="23431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B5BF74-3C44-4FAD-91A6-6301F70E5854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2. Quality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3A4F56-C3A3-428D-BB09-5362F645847D}"/>
              </a:ext>
            </a:extLst>
          </p:cNvPr>
          <p:cNvSpPr>
            <a:spLocks noGrp="1"/>
          </p:cNvSpPr>
          <p:nvPr/>
        </p:nvSpPr>
        <p:spPr>
          <a:xfrm>
            <a:off x="36004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to validate schema, nulls, duplicates, types, and business rules.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5B18241-B360-44E3-AA0B-0FC512B56D5D}"/>
              </a:ext>
            </a:extLst>
          </p:cNvPr>
          <p:cNvSpPr>
            <a:spLocks noGrp="1"/>
          </p:cNvSpPr>
          <p:nvPr/>
        </p:nvSpPr>
        <p:spPr>
          <a:xfrm>
            <a:off x="36004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540D6B-1D25-48F3-B3F6-ED3823415392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rPr>
              <a:t>14 MIN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6D21EB7-4033-44FA-A780-FA84113AAFEA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9B639-B4DB-4A7E-8DD3-67737B561C58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76200" cy="23431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A75B67-62D3-4A40-9C49-E9521D14ECD6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3. Load strategy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2F49EC-356A-40BB-86C5-3AE19341B319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Why full and incremental loads need different QA approaches.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C31DF35-D619-4FFD-A82B-F63D7A4A085A}"/>
              </a:ext>
            </a:extLst>
          </p:cNvPr>
          <p:cNvSpPr>
            <a:spLocks noGrp="1"/>
          </p:cNvSpPr>
          <p:nvPr/>
        </p:nvSpPr>
        <p:spPr>
          <a:xfrm>
            <a:off x="63817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7DED8"/>
          </a:solidFill>
          <a:ln w="0">
            <a:solidFill>
              <a:srgbClr val="F7DED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E0FB4-2690-479C-A45C-622996457089}"/>
              </a:ext>
            </a:extLst>
          </p:cNvPr>
          <p:cNvSpPr>
            <a:spLocks noGrp="1"/>
          </p:cNvSpPr>
          <p:nvPr/>
        </p:nvSpPr>
        <p:spPr>
          <a:xfrm>
            <a:off x="65151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F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F6B57"/>
                </a:solidFill>
                <a:latin typeface="Aptos Mono"/>
                <a:ea typeface="Aptos Mono"/>
                <a:cs typeface="Aptos Mono"/>
              </a:rPr>
              <a:t>21 MIN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6333EF9-2B66-48F9-A957-5D5BAC67A0E9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70A1A4-13AA-4BC1-B2F3-53A3E3CEEFFB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76200" cy="23431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50762E-DBF0-4AD6-9376-DBAA62EEA4A7}"/>
              </a:ext>
            </a:extLst>
          </p:cNvPr>
          <p:cNvSpPr>
            <a:spLocks noGrp="1"/>
          </p:cNvSpPr>
          <p:nvPr/>
        </p:nvSpPr>
        <p:spPr>
          <a:xfrm>
            <a:off x="91630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4. Day 2 lab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38B86D-AAFF-4156-8A1D-DE012DD0D406}"/>
              </a:ext>
            </a:extLst>
          </p:cNvPr>
          <p:cNvSpPr>
            <a:spLocks noGrp="1"/>
          </p:cNvSpPr>
          <p:nvPr/>
        </p:nvSpPr>
        <p:spPr>
          <a:xfrm>
            <a:off x="91630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learners will execute quality checks in a realistic scenario.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99A1C80-966B-41EF-97F0-AD38813C73B4}"/>
              </a:ext>
            </a:extLst>
          </p:cNvPr>
          <p:cNvSpPr>
            <a:spLocks noGrp="1"/>
          </p:cNvSpPr>
          <p:nvPr/>
        </p:nvSpPr>
        <p:spPr>
          <a:xfrm>
            <a:off x="91630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E1F1EA"/>
          </a:solidFill>
          <a:ln w="0">
            <a:solidFill>
              <a:srgbClr val="E1F1E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AF23BF-FFD9-4BE4-9CF0-9B72FE03A3F8}"/>
              </a:ext>
            </a:extLst>
          </p:cNvPr>
          <p:cNvSpPr>
            <a:spLocks noGrp="1"/>
          </p:cNvSpPr>
          <p:nvPr/>
        </p:nvSpPr>
        <p:spPr>
          <a:xfrm>
            <a:off x="92964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8B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8B62"/>
                </a:solidFill>
                <a:latin typeface="Aptos Mono"/>
                <a:ea typeface="Aptos Mono"/>
                <a:cs typeface="Aptos Mono"/>
              </a:rPr>
              <a:t>28 MIN</a:t>
            </a:r>
          </a:p>
        </p:txBody>
      </p:sp>
    </p:spTree>
    <p:extLst>
      <p:ext uri="{BB962C8B-B14F-4D97-AF65-F5344CB8AC3E}">
        <p14:creationId xmlns:p14="http://schemas.microsoft.com/office/powerpoint/2010/main" val="193612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30AE3F3-B96B-443D-93E6-6E4A1B220C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F1E77F-D6E3-46ED-B61F-6FC3C5F731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C0CCE9-DD34-4B09-A247-6DCE1BE72D0D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087B6C-98A0-47BF-AD54-DC875291CC22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4E6D665-6AEF-4010-A819-6244D0ACBD6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3D4DE6-C5D7-4639-9C71-E035A58AD408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QA LENS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A0FFF-61D1-4284-9FC1-BE7F3662B4E5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DA881C-DB20-43F8-B5C9-5B35AC34106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Why data validation matters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E3128-A934-4C79-B902-DC3A56C6143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Data problems can be structurally correct and still be business-wrong.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1D7B34-D8B6-4DFF-BF72-C26730F6A4D1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8C91B-14D0-40E9-8EBA-5FCC201F88D4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76200" cy="8953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3D57C8-5B9E-4D37-B92A-E50EF6E38506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Layered defects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CA8EE-CF83-4CF0-BDD6-226414215135}"/>
              </a:ext>
            </a:extLst>
          </p:cNvPr>
          <p:cNvSpPr>
            <a:spLocks noGrp="1"/>
          </p:cNvSpPr>
          <p:nvPr/>
        </p:nvSpPr>
        <p:spPr>
          <a:xfrm>
            <a:off x="4000500" y="3257550"/>
            <a:ext cx="7010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record can pass into Bronze, fail Silver business checks, and still distort Gold outputs if QA does not look across layers.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5AECF-68B2-4D01-8BCA-AE580FC0A71C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29A3E9-E7DA-4AD8-A26A-F1C45F6244EF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76200" cy="8953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49EE81-D563-4D7D-A73A-2BC0A77EF4CA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Hidden issues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7254D5-11CF-4726-8E22-02F9D2BB39D3}"/>
              </a:ext>
            </a:extLst>
          </p:cNvPr>
          <p:cNvSpPr>
            <a:spLocks noGrp="1"/>
          </p:cNvSpPr>
          <p:nvPr/>
        </p:nvSpPr>
        <p:spPr>
          <a:xfrm>
            <a:off x="4000500" y="4362450"/>
            <a:ext cx="7010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Nulls, duplicates, invalid keys, and bad statuses often stay invisible until someone asks the right question.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1E3065-83A5-4F15-A17B-35F07BA75223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CFCEC5-A9F6-4686-AD68-32373454F65C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76200" cy="8953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81DF2B-FE6D-4617-8F40-11D12064325E}"/>
              </a:ext>
            </a:extLst>
          </p:cNvPr>
          <p:cNvSpPr>
            <a:spLocks noGrp="1"/>
          </p:cNvSpPr>
          <p:nvPr/>
        </p:nvSpPr>
        <p:spPr>
          <a:xfrm>
            <a:off x="1047750" y="54483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Operational impact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BCF02-DD82-4428-8CA3-64B8A46700AC}"/>
              </a:ext>
            </a:extLst>
          </p:cNvPr>
          <p:cNvSpPr>
            <a:spLocks noGrp="1"/>
          </p:cNvSpPr>
          <p:nvPr/>
        </p:nvSpPr>
        <p:spPr>
          <a:xfrm>
            <a:off x="4000500" y="5467350"/>
            <a:ext cx="7010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Load strategy and data timing change what 'correct' means from a QA perspective.</a:t>
            </a:r>
          </a:p>
        </p:txBody>
      </p:sp>
    </p:spTree>
    <p:extLst>
      <p:ext uri="{BB962C8B-B14F-4D97-AF65-F5344CB8AC3E}">
        <p14:creationId xmlns:p14="http://schemas.microsoft.com/office/powerpoint/2010/main" val="196773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AB00A2D-89D9-418B-AEB5-3298691FE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C7B950-EB43-4998-80F5-E7F85423B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0EFC29-DD4D-462D-A287-DB9C229D6866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6F5AF8-5161-43B4-A024-E75B50836D87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D7C830-9CEC-480B-A400-193FAE8C277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BA588-2062-42F5-8EA7-11B9336F6505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F572A-36A5-4D35-B34D-D2225156C0E1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8EA6C4-3A65-4918-BC09-10238179AAB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Day 2 learning objectives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C5103-8135-4639-8C40-8C5B75481117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By the end of this session, learners should know what to check and why.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711C509-12A6-4AB0-8E9D-F7023F665736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931D8A-67BC-4D0C-8892-3F6A3256BDA0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11239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BCD1A-23ED-4563-9BA7-DBA495BDD4F0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Explain medallion QA checkpoints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8DF826-1CB3-46C2-8B57-AFC8AB40C2E3}"/>
              </a:ext>
            </a:extLst>
          </p:cNvPr>
          <p:cNvSpPr>
            <a:spLocks noGrp="1"/>
          </p:cNvSpPr>
          <p:nvPr/>
        </p:nvSpPr>
        <p:spPr>
          <a:xfrm>
            <a:off x="4286250" y="31051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9025EC-C008-4A6A-9ACB-1467A9020AFF}"/>
              </a:ext>
            </a:extLst>
          </p:cNvPr>
          <p:cNvSpPr>
            <a:spLocks noGrp="1"/>
          </p:cNvSpPr>
          <p:nvPr/>
        </p:nvSpPr>
        <p:spPr>
          <a:xfrm>
            <a:off x="4286250" y="3105150"/>
            <a:ext cx="76200" cy="11239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3E4ED-71FF-4992-BE7D-524DF80143AC}"/>
              </a:ext>
            </a:extLst>
          </p:cNvPr>
          <p:cNvSpPr>
            <a:spLocks noGrp="1"/>
          </p:cNvSpPr>
          <p:nvPr/>
        </p:nvSpPr>
        <p:spPr>
          <a:xfrm>
            <a:off x="4476750" y="331470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Validate schema, nulls, duplicates, and data types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28D5D1-5521-4056-A188-E8E10E32A6E4}"/>
              </a:ext>
            </a:extLst>
          </p:cNvPr>
          <p:cNvSpPr>
            <a:spLocks noGrp="1"/>
          </p:cNvSpPr>
          <p:nvPr/>
        </p:nvSpPr>
        <p:spPr>
          <a:xfrm>
            <a:off x="7962900" y="31051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833038-0D61-4BAF-8635-8BFD1AA6284A}"/>
              </a:ext>
            </a:extLst>
          </p:cNvPr>
          <p:cNvSpPr>
            <a:spLocks noGrp="1"/>
          </p:cNvSpPr>
          <p:nvPr/>
        </p:nvSpPr>
        <p:spPr>
          <a:xfrm>
            <a:off x="7962900" y="3105150"/>
            <a:ext cx="76200" cy="11239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2DB53B-E9CA-4A6F-90FF-4A22FF8585F2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Apply business-rule and cross-table checks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2E0D5B-5CF9-4486-A3AD-2B10438682A3}"/>
              </a:ext>
            </a:extLst>
          </p:cNvPr>
          <p:cNvSpPr>
            <a:spLocks noGrp="1"/>
          </p:cNvSpPr>
          <p:nvPr/>
        </p:nvSpPr>
        <p:spPr>
          <a:xfrm>
            <a:off x="2447925" y="47434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CFCE56-BE4F-489A-8930-5B2B378AB6D1}"/>
              </a:ext>
            </a:extLst>
          </p:cNvPr>
          <p:cNvSpPr>
            <a:spLocks noGrp="1"/>
          </p:cNvSpPr>
          <p:nvPr/>
        </p:nvSpPr>
        <p:spPr>
          <a:xfrm>
            <a:off x="2447925" y="4743450"/>
            <a:ext cx="76200" cy="11239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3BF758-4C40-4C5D-9A31-36FFA06E7653}"/>
              </a:ext>
            </a:extLst>
          </p:cNvPr>
          <p:cNvSpPr>
            <a:spLocks noGrp="1"/>
          </p:cNvSpPr>
          <p:nvPr/>
        </p:nvSpPr>
        <p:spPr>
          <a:xfrm>
            <a:off x="2638425" y="495300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Compare full and incremental load validation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AF0C0A-5C6C-4561-A529-600026CD200E}"/>
              </a:ext>
            </a:extLst>
          </p:cNvPr>
          <p:cNvSpPr>
            <a:spLocks noGrp="1"/>
          </p:cNvSpPr>
          <p:nvPr/>
        </p:nvSpPr>
        <p:spPr>
          <a:xfrm>
            <a:off x="6124575" y="47434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8795C4-FC5B-47EA-B506-CBF962014914}"/>
              </a:ext>
            </a:extLst>
          </p:cNvPr>
          <p:cNvSpPr>
            <a:spLocks noGrp="1"/>
          </p:cNvSpPr>
          <p:nvPr/>
        </p:nvSpPr>
        <p:spPr>
          <a:xfrm>
            <a:off x="6124575" y="4743450"/>
            <a:ext cx="76200" cy="11239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C2F313-82BC-4D71-A93D-087BF79F6B9C}"/>
              </a:ext>
            </a:extLst>
          </p:cNvPr>
          <p:cNvSpPr>
            <a:spLocks noGrp="1"/>
          </p:cNvSpPr>
          <p:nvPr/>
        </p:nvSpPr>
        <p:spPr>
          <a:xfrm>
            <a:off x="6315075" y="495300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Reason about late-arriving and incorrect data</a:t>
            </a:r>
          </a:p>
        </p:txBody>
      </p:sp>
    </p:spTree>
    <p:extLst>
      <p:ext uri="{BB962C8B-B14F-4D97-AF65-F5344CB8AC3E}">
        <p14:creationId xmlns:p14="http://schemas.microsoft.com/office/powerpoint/2010/main" val="107362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09FDAF4-6E19-4085-A0EB-F9205F56B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973A2-9DF1-4792-B98D-775C85E0C1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46C76D-5E08-4056-B3DC-CC2A29175108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9E127F-BCBB-4869-A2E7-8461621934A2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408A05-B90A-47CA-8F3A-0EB4AEA1053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4B50A-ECD7-4681-8F2D-36A3FBDB6627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MEDALLION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A3C3B7-E5DE-4EE2-87B3-0A61AEEE0FD2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FBB02-00B3-473A-88B5-AB80E085989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Medallion architecture from a QA perspective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08ACA1-FF33-4DAA-8F6F-3D11972A367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same record means something different in Bronze, Silver, and Gold.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03A7E3-535B-433D-9D97-583C1B86E97C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2781300" cy="2000250"/>
          </a:xfrm>
          <a:prstGeom prst="roundRect">
            <a:avLst>
              <a:gd name="adj" fmla="val 381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B3CA1-B469-4A0B-AB3D-49B362BFD1A9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76200" cy="2000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8400BC-49EB-47D4-80FB-59DE5A73CFBC}"/>
              </a:ext>
            </a:extLst>
          </p:cNvPr>
          <p:cNvSpPr>
            <a:spLocks noGrp="1"/>
          </p:cNvSpPr>
          <p:nvPr/>
        </p:nvSpPr>
        <p:spPr>
          <a:xfrm>
            <a:off x="1123950" y="36195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Bronze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B5FFA8-CEB4-4291-A3D9-01FDD93BF8CA}"/>
              </a:ext>
            </a:extLst>
          </p:cNvPr>
          <p:cNvSpPr>
            <a:spLocks noGrp="1"/>
          </p:cNvSpPr>
          <p:nvPr/>
        </p:nvSpPr>
        <p:spPr>
          <a:xfrm>
            <a:off x="1123950" y="40386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Raw ingest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992001-2B72-427D-B11A-1CF951CB25AB}"/>
              </a:ext>
            </a:extLst>
          </p:cNvPr>
          <p:cNvSpPr>
            <a:spLocks noGrp="1"/>
          </p:cNvSpPr>
          <p:nvPr/>
        </p:nvSpPr>
        <p:spPr>
          <a:xfrm>
            <a:off x="1123950" y="4495800"/>
            <a:ext cx="2266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Did the raw records land as expected?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2057E7-4878-4D0B-A150-069303E93371}"/>
              </a:ext>
            </a:extLst>
          </p:cNvPr>
          <p:cNvSpPr>
            <a:spLocks noGrp="1"/>
          </p:cNvSpPr>
          <p:nvPr/>
        </p:nvSpPr>
        <p:spPr>
          <a:xfrm>
            <a:off x="4324350" y="3352800"/>
            <a:ext cx="2781300" cy="2000250"/>
          </a:xfrm>
          <a:prstGeom prst="roundRect">
            <a:avLst>
              <a:gd name="adj" fmla="val 381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0F7572-C9DB-4F0F-9B4A-1E53BF490208}"/>
              </a:ext>
            </a:extLst>
          </p:cNvPr>
          <p:cNvSpPr>
            <a:spLocks noGrp="1"/>
          </p:cNvSpPr>
          <p:nvPr/>
        </p:nvSpPr>
        <p:spPr>
          <a:xfrm>
            <a:off x="4324350" y="3352800"/>
            <a:ext cx="76200" cy="20002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F80819-6865-4C37-B7DA-3946BC70A740}"/>
              </a:ext>
            </a:extLst>
          </p:cNvPr>
          <p:cNvSpPr>
            <a:spLocks noGrp="1"/>
          </p:cNvSpPr>
          <p:nvPr/>
        </p:nvSpPr>
        <p:spPr>
          <a:xfrm>
            <a:off x="4533900" y="36195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Silver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83DAB-E545-4046-AAE8-9ED9194E4AB3}"/>
              </a:ext>
            </a:extLst>
          </p:cNvPr>
          <p:cNvSpPr>
            <a:spLocks noGrp="1"/>
          </p:cNvSpPr>
          <p:nvPr/>
        </p:nvSpPr>
        <p:spPr>
          <a:xfrm>
            <a:off x="4533900" y="40386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Cleansed and validated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BA84C3-DD1E-460F-AA45-43768C62B6F4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266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Were quality rules applied correctly?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4CE2EC6-21DC-4147-92CB-B20EF8D67923}"/>
              </a:ext>
            </a:extLst>
          </p:cNvPr>
          <p:cNvSpPr>
            <a:spLocks noGrp="1"/>
          </p:cNvSpPr>
          <p:nvPr/>
        </p:nvSpPr>
        <p:spPr>
          <a:xfrm>
            <a:off x="7734300" y="3352800"/>
            <a:ext cx="2781300" cy="2000250"/>
          </a:xfrm>
          <a:prstGeom prst="roundRect">
            <a:avLst>
              <a:gd name="adj" fmla="val 381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E4E08B-61F9-402F-813D-E392B9CA0396}"/>
              </a:ext>
            </a:extLst>
          </p:cNvPr>
          <p:cNvSpPr>
            <a:spLocks noGrp="1"/>
          </p:cNvSpPr>
          <p:nvPr/>
        </p:nvSpPr>
        <p:spPr>
          <a:xfrm>
            <a:off x="7734300" y="3352800"/>
            <a:ext cx="76200" cy="20002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D5A2DC-871F-4500-A92E-E49DE512E3C7}"/>
              </a:ext>
            </a:extLst>
          </p:cNvPr>
          <p:cNvSpPr>
            <a:spLocks noGrp="1"/>
          </p:cNvSpPr>
          <p:nvPr/>
        </p:nvSpPr>
        <p:spPr>
          <a:xfrm>
            <a:off x="7943850" y="36195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Gold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0953D9-C25D-43F4-B54E-60A0BB054544}"/>
              </a:ext>
            </a:extLst>
          </p:cNvPr>
          <p:cNvSpPr>
            <a:spLocks noGrp="1"/>
          </p:cNvSpPr>
          <p:nvPr/>
        </p:nvSpPr>
        <p:spPr>
          <a:xfrm>
            <a:off x="7943850" y="40386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Business-ready outputs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44B82E-B33B-485E-89F0-C339BAF9297D}"/>
              </a:ext>
            </a:extLst>
          </p:cNvPr>
          <p:cNvSpPr>
            <a:spLocks noGrp="1"/>
          </p:cNvSpPr>
          <p:nvPr/>
        </p:nvSpPr>
        <p:spPr>
          <a:xfrm>
            <a:off x="7943850" y="4495800"/>
            <a:ext cx="2266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Do summaries and curated outputs reflect the truth?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6FE871BD-BF87-48D0-9312-1D6CCFAB238D}"/>
              </a:ext>
            </a:extLst>
          </p:cNvPr>
          <p:cNvSpPr>
            <a:spLocks noGrp="1"/>
          </p:cNvSpPr>
          <p:nvPr/>
        </p:nvSpPr>
        <p:spPr>
          <a:xfrm>
            <a:off x="3733800" y="4171950"/>
            <a:ext cx="457200" cy="2286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C2F03DE-1DF6-4921-AFDE-93EBBDDB9F8C}"/>
              </a:ext>
            </a:extLst>
          </p:cNvPr>
          <p:cNvSpPr>
            <a:spLocks noGrp="1"/>
          </p:cNvSpPr>
          <p:nvPr/>
        </p:nvSpPr>
        <p:spPr>
          <a:xfrm>
            <a:off x="7143750" y="4171950"/>
            <a:ext cx="457200" cy="2286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E145969-E4F7-466E-85EE-BAFA8AD79AAA}"/>
              </a:ext>
            </a:extLst>
          </p:cNvPr>
          <p:cNvSpPr>
            <a:spLocks noGrp="1"/>
          </p:cNvSpPr>
          <p:nvPr/>
        </p:nvSpPr>
        <p:spPr>
          <a:xfrm>
            <a:off x="2990850" y="5772150"/>
            <a:ext cx="6229350" cy="304800"/>
          </a:xfrm>
          <a:prstGeom prst="roundRect">
            <a:avLst>
              <a:gd name="adj" fmla="val 25000"/>
            </a:avLst>
          </a:prstGeom>
          <a:solidFill>
            <a:srgbClr val="F1ECE4"/>
          </a:solidFill>
          <a:ln w="0">
            <a:solidFill>
              <a:srgbClr val="F1ECE4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767FB-C90A-4B75-A176-E346923E4B94}"/>
              </a:ext>
            </a:extLst>
          </p:cNvPr>
          <p:cNvSpPr>
            <a:spLocks noGrp="1"/>
          </p:cNvSpPr>
          <p:nvPr/>
        </p:nvSpPr>
        <p:spPr>
          <a:xfrm>
            <a:off x="3124200" y="5838825"/>
            <a:ext cx="596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QA takeaway: quality expectations become stricter as data moves forward.</a:t>
            </a:r>
          </a:p>
        </p:txBody>
      </p:sp>
    </p:spTree>
    <p:extLst>
      <p:ext uri="{BB962C8B-B14F-4D97-AF65-F5344CB8AC3E}">
        <p14:creationId xmlns:p14="http://schemas.microsoft.com/office/powerpoint/2010/main" val="102504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05094D0-F5A1-405E-B556-88E714F027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5978B-AC71-477A-BCCF-231D613270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EC55F29-8336-419E-929B-9B1078D7B755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27E7D6-99E0-4198-9001-8C652079B83B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91DDBF-9F67-4BFD-8947-6571DA6D578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2CAD8-52D9-4AEA-A5C8-5FF8933F2B16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LAYERS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EF411-25F7-49A3-9E6C-514863A66623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D0A1F8-7AC8-44F2-8663-79123D074E5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Bronze, Silver, and Gold validation questions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C2E86-8430-4E14-8659-FC15038400A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QA should ask different questions at each layer instead of repeating the same checks everywhere.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34B8EE3-BD05-4C51-808B-D4389CB89C04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972800" cy="2876550"/>
          </a:xfrm>
          <a:prstGeom prst="roundRect">
            <a:avLst>
              <a:gd name="adj" fmla="val 26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77064-84BE-4C70-BB60-033BAF2F6AF3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28765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5B2ACA-9745-4E1C-A745-424703BCD6A7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89B18B-B349-4AC4-8034-483386BCAA8E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Question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51E8CE-E052-4B8A-B559-AAD155D5A4DA}"/>
              </a:ext>
            </a:extLst>
          </p:cNvPr>
          <p:cNvSpPr>
            <a:spLocks noGrp="1"/>
          </p:cNvSpPr>
          <p:nvPr/>
        </p:nvSpPr>
        <p:spPr>
          <a:xfrm>
            <a:off x="5448300" y="3333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Question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EFBA45-ECC1-4A36-9BC8-A73F4A0315E2}"/>
              </a:ext>
            </a:extLst>
          </p:cNvPr>
          <p:cNvSpPr>
            <a:spLocks noGrp="1"/>
          </p:cNvSpPr>
          <p:nvPr/>
        </p:nvSpPr>
        <p:spPr>
          <a:xfrm>
            <a:off x="8439150" y="3333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Question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F0A2-8CA2-4459-A1BF-BD4F41867755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610731-B186-440F-8DE1-9BBA3F79B5CA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Bronze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4A8C2-E11B-4BD2-A4D0-12B52BB35665}"/>
              </a:ext>
            </a:extLst>
          </p:cNvPr>
          <p:cNvSpPr>
            <a:spLocks noGrp="1"/>
          </p:cNvSpPr>
          <p:nvPr/>
        </p:nvSpPr>
        <p:spPr>
          <a:xfrm>
            <a:off x="2381250" y="38481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the files arrive?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9B82E6-D9FE-42DA-8FEE-23C519C38644}"/>
              </a:ext>
            </a:extLst>
          </p:cNvPr>
          <p:cNvSpPr>
            <a:spLocks noGrp="1"/>
          </p:cNvSpPr>
          <p:nvPr/>
        </p:nvSpPr>
        <p:spPr>
          <a:xfrm>
            <a:off x="5448300" y="38481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Is the schema readable?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3F1374-8083-4AFB-B5B9-2CA1DF46CF1F}"/>
              </a:ext>
            </a:extLst>
          </p:cNvPr>
          <p:cNvSpPr>
            <a:spLocks noGrp="1"/>
          </p:cNvSpPr>
          <p:nvPr/>
        </p:nvSpPr>
        <p:spPr>
          <a:xfrm>
            <a:off x="8439150" y="38481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What obvious defects are present?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CF0377-336C-4505-843F-ACAB49059D69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4E04F1-EBF6-42C3-BEC8-F0C23F712DEB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Silver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C6B37E-5931-4B0C-9935-4579DAB6DB5C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Were bad rows handled correctly?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395695-6AB2-4793-8C29-C553E25CEAAD}"/>
              </a:ext>
            </a:extLst>
          </p:cNvPr>
          <p:cNvSpPr>
            <a:spLocks noGrp="1"/>
          </p:cNvSpPr>
          <p:nvPr/>
        </p:nvSpPr>
        <p:spPr>
          <a:xfrm>
            <a:off x="5448300" y="45339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Were keys and types standardized?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3B55B9-C7C7-4CA1-8F6A-AA1184E36238}"/>
              </a:ext>
            </a:extLst>
          </p:cNvPr>
          <p:cNvSpPr>
            <a:spLocks noGrp="1"/>
          </p:cNvSpPr>
          <p:nvPr/>
        </p:nvSpPr>
        <p:spPr>
          <a:xfrm>
            <a:off x="8439150" y="45339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444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business rules hold after cleansing?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582A9E-34D1-4414-8759-CDB7022A334A}"/>
              </a:ext>
            </a:extLst>
          </p:cNvPr>
          <p:cNvSpPr>
            <a:spLocks noGrp="1"/>
          </p:cNvSpPr>
          <p:nvPr/>
        </p:nvSpPr>
        <p:spPr>
          <a:xfrm>
            <a:off x="819150" y="51054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AFB71B-DA1A-4DAB-AD00-E77BF997A4E4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Gold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C93035-6F21-48B6-A5C1-8A600BE7CE3D}"/>
              </a:ext>
            </a:extLst>
          </p:cNvPr>
          <p:cNvSpPr>
            <a:spLocks noGrp="1"/>
          </p:cNvSpPr>
          <p:nvPr/>
        </p:nvSpPr>
        <p:spPr>
          <a:xfrm>
            <a:off x="2381250" y="52197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summaries reconcile?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14E392-D5DC-48AA-A933-2F3B568BCC90}"/>
              </a:ext>
            </a:extLst>
          </p:cNvPr>
          <p:cNvSpPr>
            <a:spLocks noGrp="1"/>
          </p:cNvSpPr>
          <p:nvPr/>
        </p:nvSpPr>
        <p:spPr>
          <a:xfrm>
            <a:off x="5448300" y="52197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444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business-ready outputs look trustworthy?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ED3F92-CBB0-4CEA-9A6D-EDDF2DC86A1C}"/>
              </a:ext>
            </a:extLst>
          </p:cNvPr>
          <p:cNvSpPr>
            <a:spLocks noGrp="1"/>
          </p:cNvSpPr>
          <p:nvPr/>
        </p:nvSpPr>
        <p:spPr>
          <a:xfrm>
            <a:off x="8439150" y="52197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444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Would downstream consumers get the right answer?</a:t>
            </a:r>
          </a:p>
        </p:txBody>
      </p:sp>
    </p:spTree>
    <p:extLst>
      <p:ext uri="{BB962C8B-B14F-4D97-AF65-F5344CB8AC3E}">
        <p14:creationId xmlns:p14="http://schemas.microsoft.com/office/powerpoint/2010/main" val="153091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41EF0C4-DCFC-4C02-9FB4-ADAB39EF4F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8403AB-0365-4592-9102-EAFC293283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CC92EB1-EBB8-4377-B2C1-D3BDBA35206E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2D77EA0-6183-4918-ACD7-2766F9942737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9452B40-C950-4C16-BBD9-F8C931455B6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AA6E1-58A3-4597-A7DB-DAECEE429051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QUALITY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53A2C-6A9A-4548-9AC2-D98C8201F8D4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EF8F55-3365-4A73-86A9-9D26CF73530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Core data quality dimensions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D29B09-9A29-4D84-914E-6B5413F3C48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Recognize 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more than one kind of defect.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56C137-966F-4834-A24F-D6FBF33F649D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3333750" cy="1143000"/>
          </a:xfrm>
          <a:prstGeom prst="roundRect">
            <a:avLst>
              <a:gd name="adj" fmla="val 6667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753C3-A399-45CE-99FC-B8EEA2D4AA81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76200" cy="11430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0E359-FD0D-4A72-A95A-F91E35359347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Schema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DF17D6-9AB5-4240-9DEC-AF9382AACCAE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names, columns, and types match expectations?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18450F-440C-40EA-8153-CD98F769CD13}"/>
              </a:ext>
            </a:extLst>
          </p:cNvPr>
          <p:cNvSpPr>
            <a:spLocks noGrp="1"/>
          </p:cNvSpPr>
          <p:nvPr/>
        </p:nvSpPr>
        <p:spPr>
          <a:xfrm>
            <a:off x="4286250" y="3162300"/>
            <a:ext cx="3333750" cy="1143000"/>
          </a:xfrm>
          <a:prstGeom prst="roundRect">
            <a:avLst>
              <a:gd name="adj" fmla="val 6667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1CC2B7-A741-47C3-AB9C-918A59C6342B}"/>
              </a:ext>
            </a:extLst>
          </p:cNvPr>
          <p:cNvSpPr>
            <a:spLocks noGrp="1"/>
          </p:cNvSpPr>
          <p:nvPr/>
        </p:nvSpPr>
        <p:spPr>
          <a:xfrm>
            <a:off x="4286250" y="3162300"/>
            <a:ext cx="76200" cy="11430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D83B30-B4C9-4C67-896B-5E50B81F89DE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Completeness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656EE8-2D7E-4BC6-9EB6-E0D329C5EE1E}"/>
              </a:ext>
            </a:extLst>
          </p:cNvPr>
          <p:cNvSpPr>
            <a:spLocks noGrp="1"/>
          </p:cNvSpPr>
          <p:nvPr/>
        </p:nvSpPr>
        <p:spPr>
          <a:xfrm>
            <a:off x="4476750" y="36766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required values present, or do nulls break downstream logic?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9EE1EF-901E-4AF1-968E-577287ABBF5D}"/>
              </a:ext>
            </a:extLst>
          </p:cNvPr>
          <p:cNvSpPr>
            <a:spLocks noGrp="1"/>
          </p:cNvSpPr>
          <p:nvPr/>
        </p:nvSpPr>
        <p:spPr>
          <a:xfrm>
            <a:off x="7962900" y="3162300"/>
            <a:ext cx="3333750" cy="1143000"/>
          </a:xfrm>
          <a:prstGeom prst="roundRect">
            <a:avLst>
              <a:gd name="adj" fmla="val 6667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C282B3-ED23-4E84-94C1-DEFD1EA9D844}"/>
              </a:ext>
            </a:extLst>
          </p:cNvPr>
          <p:cNvSpPr>
            <a:spLocks noGrp="1"/>
          </p:cNvSpPr>
          <p:nvPr/>
        </p:nvSpPr>
        <p:spPr>
          <a:xfrm>
            <a:off x="7962900" y="3162300"/>
            <a:ext cx="76200" cy="11430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7A784F-737B-4F28-8546-CC84DF01BF7A}"/>
              </a:ext>
            </a:extLst>
          </p:cNvPr>
          <p:cNvSpPr>
            <a:spLocks noGrp="1"/>
          </p:cNvSpPr>
          <p:nvPr/>
        </p:nvSpPr>
        <p:spPr>
          <a:xfrm>
            <a:off x="8153400" y="3333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Uniqueness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12F672-7569-4D93-B0B3-46EA0FA8DD1E}"/>
              </a:ext>
            </a:extLst>
          </p:cNvPr>
          <p:cNvSpPr>
            <a:spLocks noGrp="1"/>
          </p:cNvSpPr>
          <p:nvPr/>
        </p:nvSpPr>
        <p:spPr>
          <a:xfrm>
            <a:off x="8153400" y="36766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keys or business identifiers duplicated?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8AD011-9CC0-47FE-94FD-D609D391A518}"/>
              </a:ext>
            </a:extLst>
          </p:cNvPr>
          <p:cNvSpPr>
            <a:spLocks noGrp="1"/>
          </p:cNvSpPr>
          <p:nvPr/>
        </p:nvSpPr>
        <p:spPr>
          <a:xfrm>
            <a:off x="2447925" y="4800600"/>
            <a:ext cx="3333750" cy="1143000"/>
          </a:xfrm>
          <a:prstGeom prst="roundRect">
            <a:avLst>
              <a:gd name="adj" fmla="val 6667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D45BA0-2F2E-4F83-9010-410BED7CFFBD}"/>
              </a:ext>
            </a:extLst>
          </p:cNvPr>
          <p:cNvSpPr>
            <a:spLocks noGrp="1"/>
          </p:cNvSpPr>
          <p:nvPr/>
        </p:nvSpPr>
        <p:spPr>
          <a:xfrm>
            <a:off x="2447925" y="4800600"/>
            <a:ext cx="76200" cy="114300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B6EEA0-D133-454A-BF02-BF82A963D5B1}"/>
              </a:ext>
            </a:extLst>
          </p:cNvPr>
          <p:cNvSpPr>
            <a:spLocks noGrp="1"/>
          </p:cNvSpPr>
          <p:nvPr/>
        </p:nvSpPr>
        <p:spPr>
          <a:xfrm>
            <a:off x="2638425" y="49720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Validity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8B4DC7-2A66-4199-8DB6-5B585261F418}"/>
              </a:ext>
            </a:extLst>
          </p:cNvPr>
          <p:cNvSpPr>
            <a:spLocks noGrp="1"/>
          </p:cNvSpPr>
          <p:nvPr/>
        </p:nvSpPr>
        <p:spPr>
          <a:xfrm>
            <a:off x="2638425" y="53149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values fall within allowed ranges, sets, or formats?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B7A489-0ED4-42AF-BCD5-EF72C74774D4}"/>
              </a:ext>
            </a:extLst>
          </p:cNvPr>
          <p:cNvSpPr>
            <a:spLocks noGrp="1"/>
          </p:cNvSpPr>
          <p:nvPr/>
        </p:nvSpPr>
        <p:spPr>
          <a:xfrm>
            <a:off x="6124575" y="4800600"/>
            <a:ext cx="3333750" cy="1143000"/>
          </a:xfrm>
          <a:prstGeom prst="roundRect">
            <a:avLst>
              <a:gd name="adj" fmla="val 6667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18B7BF-22A7-40E6-B839-AC24DFD4B507}"/>
              </a:ext>
            </a:extLst>
          </p:cNvPr>
          <p:cNvSpPr>
            <a:spLocks noGrp="1"/>
          </p:cNvSpPr>
          <p:nvPr/>
        </p:nvSpPr>
        <p:spPr>
          <a:xfrm>
            <a:off x="6124575" y="4800600"/>
            <a:ext cx="76200" cy="11430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5F6240-70D1-4C44-B123-41E4508BFD2B}"/>
              </a:ext>
            </a:extLst>
          </p:cNvPr>
          <p:cNvSpPr>
            <a:spLocks noGrp="1"/>
          </p:cNvSpPr>
          <p:nvPr/>
        </p:nvSpPr>
        <p:spPr>
          <a:xfrm>
            <a:off x="6315075" y="49720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Consistency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22A3D7-03A6-47EB-A80E-5E14088F9BC1}"/>
              </a:ext>
            </a:extLst>
          </p:cNvPr>
          <p:cNvSpPr>
            <a:spLocks noGrp="1"/>
          </p:cNvSpPr>
          <p:nvPr/>
        </p:nvSpPr>
        <p:spPr>
          <a:xfrm>
            <a:off x="6315075" y="531495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related tables and layers agree with each other?</a:t>
            </a:r>
          </a:p>
        </p:txBody>
      </p:sp>
    </p:spTree>
    <p:extLst>
      <p:ext uri="{BB962C8B-B14F-4D97-AF65-F5344CB8AC3E}">
        <p14:creationId xmlns:p14="http://schemas.microsoft.com/office/powerpoint/2010/main" val="29905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9582A4A-E053-4B6F-87AE-5408B2906D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0F0E98-4329-479B-A2FC-D78DDF192C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15E160-2053-47CF-A5D4-3A277C12A858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A0F649-D0ED-4C43-ADC9-81EEA4AC1F6B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9BD1F5-BE59-4477-9F08-A142C2EE878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DDF03C-5B44-43A2-B78F-6CAED70203F4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SCHEMA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AE590-7D46-48F8-A471-8B04A1276515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50D57-0625-4BF2-A4FB-3211907080B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Schema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F05DE-F1B5-47C0-878B-24DF9FB8DAF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Schema checks answer whether the shape of the data is what the solution expects.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E3834D-AB06-426E-A291-8A40FB97858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429000" cy="2781300"/>
          </a:xfrm>
          <a:prstGeom prst="roundRect">
            <a:avLst>
              <a:gd name="adj" fmla="val 274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798AB-FDD6-4521-93B1-0F2FA1B9C6C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AA882-4055-45B6-A653-E2404DE103E0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78914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Typical schema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EA8B7-EAD1-4F89-9BB3-7213517D14B3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2705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Expected columns exist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Columns appear in the right semantic structure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Data types match what downstream logic expects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Optional vs. required fields are understood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9FD538-0D52-4E29-A812-AFBFBD54D15A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67437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DCCA0B-2A4D-4136-BAEF-3069D68C7F3E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E4C4C-B6BB-4B0B-B12C-5397F2662963}"/>
              </a:ext>
            </a:extLst>
          </p:cNvPr>
          <p:cNvSpPr>
            <a:spLocks noGrp="1"/>
          </p:cNvSpPr>
          <p:nvPr/>
        </p:nvSpPr>
        <p:spPr>
          <a:xfrm>
            <a:off x="4800600" y="3333750"/>
            <a:ext cx="3083858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Example QA questions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B19E5-42A0-48D0-B3DC-9BA9E8F040CE}"/>
              </a:ext>
            </a:extLst>
          </p:cNvPr>
          <p:cNvSpPr>
            <a:spLocks noGrp="1"/>
          </p:cNvSpPr>
          <p:nvPr/>
        </p:nvSpPr>
        <p:spPr>
          <a:xfrm>
            <a:off x="4819650" y="37338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Bronze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065D03-4AE0-4CDA-8DE9-1A016DE2CDBE}"/>
              </a:ext>
            </a:extLst>
          </p:cNvPr>
          <p:cNvSpPr>
            <a:spLocks noGrp="1"/>
          </p:cNvSpPr>
          <p:nvPr/>
        </p:nvSpPr>
        <p:spPr>
          <a:xfrm>
            <a:off x="6076950" y="37338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the raw file include the expected columns?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3F520-6804-4A34-ABB8-6CF0A385A695}"/>
              </a:ext>
            </a:extLst>
          </p:cNvPr>
          <p:cNvSpPr>
            <a:spLocks noGrp="1"/>
          </p:cNvSpPr>
          <p:nvPr/>
        </p:nvSpPr>
        <p:spPr>
          <a:xfrm>
            <a:off x="4819650" y="41910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Silver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2875D-8938-47DD-BC41-2562F4A4AF28}"/>
              </a:ext>
            </a:extLst>
          </p:cNvPr>
          <p:cNvSpPr>
            <a:spLocks noGrp="1"/>
          </p:cNvSpPr>
          <p:nvPr/>
        </p:nvSpPr>
        <p:spPr>
          <a:xfrm>
            <a:off x="6076950" y="41910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Was `OrderDate` converted to a usable date field?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AAF048-B4C6-414A-9BA1-D7C5733096F9}"/>
              </a:ext>
            </a:extLst>
          </p:cNvPr>
          <p:cNvSpPr>
            <a:spLocks noGrp="1"/>
          </p:cNvSpPr>
          <p:nvPr/>
        </p:nvSpPr>
        <p:spPr>
          <a:xfrm>
            <a:off x="4819650" y="46482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Gold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F7754-10A1-476C-B749-49D1EE2000E3}"/>
              </a:ext>
            </a:extLst>
          </p:cNvPr>
          <p:cNvSpPr>
            <a:spLocks noGrp="1"/>
          </p:cNvSpPr>
          <p:nvPr/>
        </p:nvSpPr>
        <p:spPr>
          <a:xfrm>
            <a:off x="6076950" y="46482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summary outputs built from the intended columns only?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686CEE-C07A-4377-9B80-F63EC2F951E6}"/>
              </a:ext>
            </a:extLst>
          </p:cNvPr>
          <p:cNvSpPr>
            <a:spLocks noGrp="1"/>
          </p:cNvSpPr>
          <p:nvPr/>
        </p:nvSpPr>
        <p:spPr>
          <a:xfrm>
            <a:off x="4819650" y="51054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Cross-layer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9668BB-6989-450E-B9FE-3BC6F36BB5FF}"/>
              </a:ext>
            </a:extLst>
          </p:cNvPr>
          <p:cNvSpPr>
            <a:spLocks noGrp="1"/>
          </p:cNvSpPr>
          <p:nvPr/>
        </p:nvSpPr>
        <p:spPr>
          <a:xfrm>
            <a:off x="6076950" y="51054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291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any column disappear or change type without an agreed design change?</a:t>
            </a:r>
          </a:p>
        </p:txBody>
      </p:sp>
    </p:spTree>
    <p:extLst>
      <p:ext uri="{BB962C8B-B14F-4D97-AF65-F5344CB8AC3E}">
        <p14:creationId xmlns:p14="http://schemas.microsoft.com/office/powerpoint/2010/main" val="1567982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2ACB5B2-CA71-4231-BF65-E53D82E447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9044F4-8B12-4F42-B002-5B51E5F3A0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7BE05E-949F-45D1-9D26-E4B7C460FD57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76EA01-E2CB-4EE7-9643-1DB7E27FE181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979174D-BC34-49A1-BB78-DAB2D0E8E8F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4BE47-E2FC-443E-8063-0C9D015CEBF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INTEGRITY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A88D9-9F62-449E-8B7A-936865D6BECC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AF2B63-0D21-4582-9CAB-3C31A027FEB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Null, duplicate, and type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FAE684-9B27-4003-814B-A7DE19B92B8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These are common high-signal checks because they reveal both technical and data-entry defects.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214B5D-0FDF-4E07-85EA-BC4EFB60A6FF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3219450" cy="2076450"/>
          </a:xfrm>
          <a:prstGeom prst="roundRect">
            <a:avLst>
              <a:gd name="adj" fmla="val 367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A240-A530-419E-8211-FBB2DCE454AE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76200" cy="20764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4AD2D2-5000-44CD-8EAF-B41620C28D87}"/>
              </a:ext>
            </a:extLst>
          </p:cNvPr>
          <p:cNvSpPr>
            <a:spLocks noGrp="1"/>
          </p:cNvSpPr>
          <p:nvPr/>
        </p:nvSpPr>
        <p:spPr>
          <a:xfrm>
            <a:off x="1009650" y="36385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Null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E9409-64AD-49A0-B377-1ED0A70B33D2}"/>
              </a:ext>
            </a:extLst>
          </p:cNvPr>
          <p:cNvSpPr>
            <a:spLocks noGrp="1"/>
          </p:cNvSpPr>
          <p:nvPr/>
        </p:nvSpPr>
        <p:spPr>
          <a:xfrm>
            <a:off x="1009650" y="4076700"/>
            <a:ext cx="2705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required values missing where business logic depends on them?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020F26-5A4F-4C95-B9A6-1A5BF194C85E}"/>
              </a:ext>
            </a:extLst>
          </p:cNvPr>
          <p:cNvSpPr>
            <a:spLocks noGrp="1"/>
          </p:cNvSpPr>
          <p:nvPr/>
        </p:nvSpPr>
        <p:spPr>
          <a:xfrm>
            <a:off x="1009650" y="4953000"/>
            <a:ext cx="270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071"/>
          </a:bodyPr>
          <a:lstStyle/>
          <a:p>
            <a:pPr algn="l">
              <a:defRPr sz="900" b="0">
                <a:solidFill>
                  <a:srgbClr val="55606D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606D"/>
                </a:solidFill>
                <a:latin typeface="Aptos Mono"/>
                <a:ea typeface="Aptos Mono"/>
                <a:cs typeface="Aptos Mono"/>
              </a:rPr>
              <a:t>QA evidence: query result, row sample, or exception list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22B35DF-81A5-45F3-911F-37430B1DEB72}"/>
              </a:ext>
            </a:extLst>
          </p:cNvPr>
          <p:cNvSpPr>
            <a:spLocks noGrp="1"/>
          </p:cNvSpPr>
          <p:nvPr/>
        </p:nvSpPr>
        <p:spPr>
          <a:xfrm>
            <a:off x="4381500" y="3390900"/>
            <a:ext cx="3219450" cy="2076450"/>
          </a:xfrm>
          <a:prstGeom prst="roundRect">
            <a:avLst>
              <a:gd name="adj" fmla="val 367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DB7538-DA67-4C9B-8B80-6209F12793D4}"/>
              </a:ext>
            </a:extLst>
          </p:cNvPr>
          <p:cNvSpPr>
            <a:spLocks noGrp="1"/>
          </p:cNvSpPr>
          <p:nvPr/>
        </p:nvSpPr>
        <p:spPr>
          <a:xfrm>
            <a:off x="4381500" y="3390900"/>
            <a:ext cx="76200" cy="20764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7B679F-1193-4CAB-B9E8-EB20CEC21636}"/>
              </a:ext>
            </a:extLst>
          </p:cNvPr>
          <p:cNvSpPr>
            <a:spLocks noGrp="1"/>
          </p:cNvSpPr>
          <p:nvPr/>
        </p:nvSpPr>
        <p:spPr>
          <a:xfrm>
            <a:off x="4572000" y="36385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Duplicate checks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450FC6-A779-4DE1-B6E7-4AA6B00DD738}"/>
              </a:ext>
            </a:extLst>
          </p:cNvPr>
          <p:cNvSpPr>
            <a:spLocks noGrp="1"/>
          </p:cNvSpPr>
          <p:nvPr/>
        </p:nvSpPr>
        <p:spPr>
          <a:xfrm>
            <a:off x="4572000" y="4076700"/>
            <a:ext cx="2705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primary or business identifiers repeated unexpectedly?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207699-1611-41A8-A59D-5B0CD22D44A3}"/>
              </a:ext>
            </a:extLst>
          </p:cNvPr>
          <p:cNvSpPr>
            <a:spLocks noGrp="1"/>
          </p:cNvSpPr>
          <p:nvPr/>
        </p:nvSpPr>
        <p:spPr>
          <a:xfrm>
            <a:off x="4572000" y="4953000"/>
            <a:ext cx="270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071"/>
          </a:bodyPr>
          <a:lstStyle/>
          <a:p>
            <a:pPr algn="l">
              <a:defRPr sz="900" b="0">
                <a:solidFill>
                  <a:srgbClr val="55606D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606D"/>
                </a:solidFill>
                <a:latin typeface="Aptos Mono"/>
                <a:ea typeface="Aptos Mono"/>
                <a:cs typeface="Aptos Mono"/>
              </a:rPr>
              <a:t>QA evidence: query result, row sample, or exception list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9E1014D-2A01-434D-8C8E-6458AF046439}"/>
              </a:ext>
            </a:extLst>
          </p:cNvPr>
          <p:cNvSpPr>
            <a:spLocks noGrp="1"/>
          </p:cNvSpPr>
          <p:nvPr/>
        </p:nvSpPr>
        <p:spPr>
          <a:xfrm>
            <a:off x="7943850" y="3390900"/>
            <a:ext cx="3219450" cy="2076450"/>
          </a:xfrm>
          <a:prstGeom prst="roundRect">
            <a:avLst>
              <a:gd name="adj" fmla="val 367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D019F7-A802-4049-B529-B31229F19303}"/>
              </a:ext>
            </a:extLst>
          </p:cNvPr>
          <p:cNvSpPr>
            <a:spLocks noGrp="1"/>
          </p:cNvSpPr>
          <p:nvPr/>
        </p:nvSpPr>
        <p:spPr>
          <a:xfrm>
            <a:off x="7943850" y="3390900"/>
            <a:ext cx="76200" cy="20764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64AF99-AAB9-413A-A570-83FC5693CC67}"/>
              </a:ext>
            </a:extLst>
          </p:cNvPr>
          <p:cNvSpPr>
            <a:spLocks noGrp="1"/>
          </p:cNvSpPr>
          <p:nvPr/>
        </p:nvSpPr>
        <p:spPr>
          <a:xfrm>
            <a:off x="8134350" y="36385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Type checks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E06998-8CBE-4F79-8574-D012FE8BC538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05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fields convert to the right numeric, date, or text form?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BC9FBB-D7B4-4CEB-AD42-C1AFBF130219}"/>
              </a:ext>
            </a:extLst>
          </p:cNvPr>
          <p:cNvSpPr>
            <a:spLocks noGrp="1"/>
          </p:cNvSpPr>
          <p:nvPr/>
        </p:nvSpPr>
        <p:spPr>
          <a:xfrm>
            <a:off x="8134350" y="4953000"/>
            <a:ext cx="270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071"/>
          </a:bodyPr>
          <a:lstStyle/>
          <a:p>
            <a:pPr algn="l">
              <a:defRPr sz="900" b="0">
                <a:solidFill>
                  <a:srgbClr val="55606D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606D"/>
                </a:solidFill>
                <a:latin typeface="Aptos Mono"/>
                <a:ea typeface="Aptos Mono"/>
                <a:cs typeface="Aptos Mono"/>
              </a:rPr>
              <a:t>QA evidence: query result, row sample, or exception list</a:t>
            </a:r>
          </a:p>
        </p:txBody>
      </p:sp>
    </p:spTree>
    <p:extLst>
      <p:ext uri="{BB962C8B-B14F-4D97-AF65-F5344CB8AC3E}">
        <p14:creationId xmlns:p14="http://schemas.microsoft.com/office/powerpoint/2010/main" val="42472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DEAA9FF-571F-4FB6-A4D6-F764FD810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EE687C-0053-4C4D-B83F-6616A6EAA2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E5BAA7-9A74-4F93-BBA5-72E7E77AC542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EAF565-A549-444F-95A6-4A15DEBD7305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C54A05-6ABC-4E89-A574-A395CED187D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705B7-8DAA-4D32-B036-8CF8C2B6C12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RULES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AAC015-4A6F-4C39-B6D4-0204CDDDC654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000F0-8DFB-43A0-86BD-38845701057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Business-rule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7F7C84-C12D-4E81-A342-72C670310752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dataset can be structurally valid but still violate the business meaning of the solution.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813B31-4D6A-4CB3-AEE3-B6D08D4C0587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476750" cy="2781300"/>
          </a:xfrm>
          <a:prstGeom prst="roundRect">
            <a:avLst>
              <a:gd name="adj" fmla="val 274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EB2D4F-1501-4C2D-BD13-6FC036B34AC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FD5134-1F67-44FB-BF4D-63107C47881C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Example rule types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B26075-E077-4E85-A14E-667BA693222F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37338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Order status must be one of the approved values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OrderAmount should equal Quantity multiplied by UnitPrice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Inactive customers should not produce new shipped orders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Products should belong to recognized business categories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B9D5A7B-AFCA-4ED8-89D9-34FCFBF07EEC}"/>
              </a:ext>
            </a:extLst>
          </p:cNvPr>
          <p:cNvSpPr>
            <a:spLocks noGrp="1"/>
          </p:cNvSpPr>
          <p:nvPr/>
        </p:nvSpPr>
        <p:spPr>
          <a:xfrm>
            <a:off x="5619750" y="3105150"/>
            <a:ext cx="569595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943E8D-C376-41FE-8C93-4E0AF527A9A9}"/>
              </a:ext>
            </a:extLst>
          </p:cNvPr>
          <p:cNvSpPr>
            <a:spLocks noGrp="1"/>
          </p:cNvSpPr>
          <p:nvPr/>
        </p:nvSpPr>
        <p:spPr>
          <a:xfrm>
            <a:off x="5619750" y="3105150"/>
            <a:ext cx="76200" cy="278130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8E944E-93D5-48A2-B7BC-05D9504C20A3}"/>
              </a:ext>
            </a:extLst>
          </p:cNvPr>
          <p:cNvSpPr>
            <a:spLocks noGrp="1"/>
          </p:cNvSpPr>
          <p:nvPr/>
        </p:nvSpPr>
        <p:spPr>
          <a:xfrm>
            <a:off x="58483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QA mindset shift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97FF36-75CC-4A64-BA97-096CB43FD1CB}"/>
              </a:ext>
            </a:extLst>
          </p:cNvPr>
          <p:cNvSpPr>
            <a:spLocks noGrp="1"/>
          </p:cNvSpPr>
          <p:nvPr/>
        </p:nvSpPr>
        <p:spPr>
          <a:xfrm>
            <a:off x="5867400" y="3733800"/>
            <a:ext cx="48006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Ask what the business expects, not only what the pipeline produced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Document the rule, the evidence, and the expected failure behavior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Treat rule exceptions as either defects or controlled business exceptions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Use examples and rejected records to make the check teachable</a:t>
            </a:r>
          </a:p>
        </p:txBody>
      </p:sp>
    </p:spTree>
    <p:extLst>
      <p:ext uri="{BB962C8B-B14F-4D97-AF65-F5344CB8AC3E}">
        <p14:creationId xmlns:p14="http://schemas.microsoft.com/office/powerpoint/2010/main" val="201237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036B238-BDA4-408F-B532-A5A6ED4A04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A3F8A3-B832-4ACA-ACD2-5CC43FB258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1EFA1E-024F-459E-8CEE-F583F2639ACE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5B18FD-941C-4279-A40B-78932FEA7A96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175DED-395D-4883-9184-D826E7D4183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1E77B-0822-4356-858E-F387A8663EEB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CROSS-TABLE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C6487-9622-4F2C-9A6F-884DDAD5DB9D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204C31-A101-4EC6-882C-064D3D7A209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Referential and cross-table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0BDE76-B3E6-45B9-8698-2FAE7007E9F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Good data in one table can still fail when related tables disagree.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824C4F-7224-4DBC-998B-A180EC946B2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0572750" cy="2781300"/>
          </a:xfrm>
          <a:prstGeom prst="roundRect">
            <a:avLst>
              <a:gd name="adj" fmla="val 2740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83B6A6-1B96-4691-91DC-6E0DE7629B4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703949-94FE-46DE-8C2B-4368F722C0AC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4762500" cy="857250"/>
          </a:xfrm>
          <a:prstGeom prst="roundRect">
            <a:avLst>
              <a:gd name="adj" fmla="val 8889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14BF17-95E0-44F0-BFD4-FA761B20FFED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76200" cy="857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A0254F-FB84-47E3-BDC9-8D56E6689BAC}"/>
              </a:ext>
            </a:extLst>
          </p:cNvPr>
          <p:cNvSpPr>
            <a:spLocks noGrp="1"/>
          </p:cNvSpPr>
          <p:nvPr/>
        </p:nvSpPr>
        <p:spPr>
          <a:xfrm>
            <a:off x="1257300" y="36195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Customer reference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93B896-E190-4401-87F4-CAAC5F445084}"/>
              </a:ext>
            </a:extLst>
          </p:cNvPr>
          <p:cNvSpPr>
            <a:spLocks noGrp="1"/>
          </p:cNvSpPr>
          <p:nvPr/>
        </p:nvSpPr>
        <p:spPr>
          <a:xfrm>
            <a:off x="3086100" y="361950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Every order should point to a known customer.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7D3B28-9B22-4F00-8680-B00CC5ACC305}"/>
              </a:ext>
            </a:extLst>
          </p:cNvPr>
          <p:cNvSpPr>
            <a:spLocks noGrp="1"/>
          </p:cNvSpPr>
          <p:nvPr/>
        </p:nvSpPr>
        <p:spPr>
          <a:xfrm>
            <a:off x="6115050" y="3448050"/>
            <a:ext cx="4762500" cy="857250"/>
          </a:xfrm>
          <a:prstGeom prst="roundRect">
            <a:avLst>
              <a:gd name="adj" fmla="val 8889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D544DA-281E-4574-9BD7-4AF1E844D083}"/>
              </a:ext>
            </a:extLst>
          </p:cNvPr>
          <p:cNvSpPr>
            <a:spLocks noGrp="1"/>
          </p:cNvSpPr>
          <p:nvPr/>
        </p:nvSpPr>
        <p:spPr>
          <a:xfrm>
            <a:off x="6115050" y="3448050"/>
            <a:ext cx="76200" cy="8572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6C8CF8-DA4B-4DFD-A5F3-5DF2AA70B396}"/>
              </a:ext>
            </a:extLst>
          </p:cNvPr>
          <p:cNvSpPr>
            <a:spLocks noGrp="1"/>
          </p:cNvSpPr>
          <p:nvPr/>
        </p:nvSpPr>
        <p:spPr>
          <a:xfrm>
            <a:off x="6305550" y="36195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Product reference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D07A31-63D2-4A4C-BEF0-D2D6FF2A98CC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Every order should point to a known product.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4F8162-5E12-43E4-B3F4-AA82C531372F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4762500" cy="857250"/>
          </a:xfrm>
          <a:prstGeom prst="roundRect">
            <a:avLst>
              <a:gd name="adj" fmla="val 8889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B741DE-52DE-40F0-87FB-BDBAD76B075A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76200" cy="857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7158FC-ABC7-49E2-BDB4-B746AAEE0941}"/>
              </a:ext>
            </a:extLst>
          </p:cNvPr>
          <p:cNvSpPr>
            <a:spLocks noGrp="1"/>
          </p:cNvSpPr>
          <p:nvPr/>
        </p:nvSpPr>
        <p:spPr>
          <a:xfrm>
            <a:off x="1257300" y="4686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Regional summary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6CB6C-3DD5-495D-987D-FC06D260D6E5}"/>
              </a:ext>
            </a:extLst>
          </p:cNvPr>
          <p:cNvSpPr>
            <a:spLocks noGrp="1"/>
          </p:cNvSpPr>
          <p:nvPr/>
        </p:nvSpPr>
        <p:spPr>
          <a:xfrm>
            <a:off x="3086100" y="468630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337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Aggregated order totals by region should reconcile with the detail records.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AF14E9D-FEA5-4AAC-82FE-00BA8AE8D445}"/>
              </a:ext>
            </a:extLst>
          </p:cNvPr>
          <p:cNvSpPr>
            <a:spLocks noGrp="1"/>
          </p:cNvSpPr>
          <p:nvPr/>
        </p:nvSpPr>
        <p:spPr>
          <a:xfrm>
            <a:off x="6115050" y="4514850"/>
            <a:ext cx="4762500" cy="857250"/>
          </a:xfrm>
          <a:prstGeom prst="roundRect">
            <a:avLst>
              <a:gd name="adj" fmla="val 8889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503DC-45F4-4C05-BB64-4CC27CD9404D}"/>
              </a:ext>
            </a:extLst>
          </p:cNvPr>
          <p:cNvSpPr>
            <a:spLocks noGrp="1"/>
          </p:cNvSpPr>
          <p:nvPr/>
        </p:nvSpPr>
        <p:spPr>
          <a:xfrm>
            <a:off x="6115050" y="4514850"/>
            <a:ext cx="76200" cy="8572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C3944B-B3BA-4EB3-A577-1F12820C04D1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Layer consistency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D809C6-00B4-4DDA-BF3B-D7C1A4882CD6}"/>
              </a:ext>
            </a:extLst>
          </p:cNvPr>
          <p:cNvSpPr>
            <a:spLocks noGrp="1"/>
          </p:cNvSpPr>
          <p:nvPr/>
        </p:nvSpPr>
        <p:spPr>
          <a:xfrm>
            <a:off x="8134350" y="468630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9363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Bronze, Silver, and Gold counts should reconcile after expected filtering and rejection.</a:t>
            </a:r>
          </a:p>
        </p:txBody>
      </p:sp>
    </p:spTree>
    <p:extLst>
      <p:ext uri="{BB962C8B-B14F-4D97-AF65-F5344CB8AC3E}">
        <p14:creationId xmlns:p14="http://schemas.microsoft.com/office/powerpoint/2010/main" val="46808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0AE7BE9-7588-469E-843F-17875564DB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F47489-88F7-4479-9116-43412686AF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CB8CC2-26BC-42E9-86C9-8FCA18DD2444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234AA1-51FA-4E4D-9D2C-883B03C61046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A88AE6-AD7F-4CBE-82BF-0A33A6710B8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A674A-7703-4744-9979-2882E8C91F69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LOADS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FEC20-A2B6-4A65-AEA9-8C6449A5514F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EEE48-DE4B-4F29-B4D4-4D28CAC94EF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Full load vs. incremental load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63219B-6842-4174-909C-6375004F0AF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loading pattern changes what QA needs to prove.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8BE1A5D-6592-4D90-AC76-364F1E7AE1B6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953000" cy="2781300"/>
          </a:xfrm>
          <a:prstGeom prst="roundRect">
            <a:avLst>
              <a:gd name="adj" fmla="val 274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BC9CFC-9C74-45EC-B2B6-A433206FDEA9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BB99B2-BED7-49F6-A028-AA67617976CD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Full load validation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92CCC6-0FCA-4D22-865C-6AAA1D3FE580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4229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Was the complete dataset reloaded?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Do row counts and totals match the expected full state?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Were old rows replaced correctly where required?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Did the load accidentally duplicate or omit records?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95FEAD-66E5-4628-ADA3-6F98719AEAEB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5219700" cy="2781300"/>
          </a:xfrm>
          <a:prstGeom prst="roundRect">
            <a:avLst>
              <a:gd name="adj" fmla="val 274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B6E6C7-5727-4177-991A-C6648DF4BEFC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D5551F-9595-444C-95E1-12ED9F5614E7}"/>
              </a:ext>
            </a:extLst>
          </p:cNvPr>
          <p:cNvSpPr>
            <a:spLocks noGrp="1"/>
          </p:cNvSpPr>
          <p:nvPr/>
        </p:nvSpPr>
        <p:spPr>
          <a:xfrm>
            <a:off x="6324599" y="3333750"/>
            <a:ext cx="288663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Incremental load validation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C372F2-78A9-4277-8E67-76F98A748D14}"/>
              </a:ext>
            </a:extLst>
          </p:cNvPr>
          <p:cNvSpPr>
            <a:spLocks noGrp="1"/>
          </p:cNvSpPr>
          <p:nvPr/>
        </p:nvSpPr>
        <p:spPr>
          <a:xfrm>
            <a:off x="6343650" y="3733800"/>
            <a:ext cx="44958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Did only the intended changed records land?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Were existing rows updated without unwanted duplication?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Did history or current-state logic behave as designed?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Can QA explain why row counts changed between runs?</a:t>
            </a:r>
          </a:p>
        </p:txBody>
      </p:sp>
    </p:spTree>
    <p:extLst>
      <p:ext uri="{BB962C8B-B14F-4D97-AF65-F5344CB8AC3E}">
        <p14:creationId xmlns:p14="http://schemas.microsoft.com/office/powerpoint/2010/main" val="1685907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B3D2AAA-4567-42C7-A1C1-3AE1259195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30E58D-DB72-4770-9626-C8C738CEA6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F19FC3-2F6E-442D-B980-A6470359C2F9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1781E9-C010-4349-9EC1-881C974CFFA7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5B1E8B-3646-4499-AFE2-233EA351EFD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AEBADB-AC3E-4ECF-A601-9701C0236F1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EXCEPTIONS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E517FD-B0B5-415A-84FC-551DA3D01E89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C9B76-5B0D-41C5-95C7-DAFF074C38CB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Late-arriving and incorrect data scenarios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878988-04D7-47FA-BE90-6DD9C52AA87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These scenarios are not edge cases; they are the situations that expose real QA gaps.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2B1CDE-480A-4244-9CB0-2221CA1E65D5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AE0615-6518-4819-899A-F68A651D0DC1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76200" cy="11239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04491-A019-41B3-9BA5-38EB0991010E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Late-arriving record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27F329-0CA9-44DD-BA77-DB787246D4E3}"/>
              </a:ext>
            </a:extLst>
          </p:cNvPr>
          <p:cNvSpPr>
            <a:spLocks noGrp="1"/>
          </p:cNvSpPr>
          <p:nvPr/>
        </p:nvSpPr>
        <p:spPr>
          <a:xfrm>
            <a:off x="3143250" y="33337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valid order shows up after the first load window.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0AF3604-E56E-4688-B59E-C7BD06B0B617}"/>
              </a:ext>
            </a:extLst>
          </p:cNvPr>
          <p:cNvSpPr>
            <a:spLocks noGrp="1"/>
          </p:cNvSpPr>
          <p:nvPr/>
        </p:nvSpPr>
        <p:spPr>
          <a:xfrm>
            <a:off x="6153150" y="31623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DD0B6-8BBE-47DD-A268-CB1902142A7D}"/>
              </a:ext>
            </a:extLst>
          </p:cNvPr>
          <p:cNvSpPr>
            <a:spLocks noGrp="1"/>
          </p:cNvSpPr>
          <p:nvPr/>
        </p:nvSpPr>
        <p:spPr>
          <a:xfrm>
            <a:off x="6153150" y="3162300"/>
            <a:ext cx="76200" cy="11239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BE83F6-12DB-4B0C-83D7-B3CDF7A2F581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Invalid reference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FC74EA-E6A3-4F93-8666-DA07E12D8B0E}"/>
              </a:ext>
            </a:extLst>
          </p:cNvPr>
          <p:cNvSpPr>
            <a:spLocks noGrp="1"/>
          </p:cNvSpPr>
          <p:nvPr/>
        </p:nvSpPr>
        <p:spPr>
          <a:xfrm>
            <a:off x="8477250" y="33337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An order arrives with a CustomerID not found in the customer dataset.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12DB625-C846-457E-B542-87483B4A0B10}"/>
              </a:ext>
            </a:extLst>
          </p:cNvPr>
          <p:cNvSpPr>
            <a:spLocks noGrp="1"/>
          </p:cNvSpPr>
          <p:nvPr/>
        </p:nvSpPr>
        <p:spPr>
          <a:xfrm>
            <a:off x="819150" y="45339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2872A4-5662-4E72-BDB5-A6564A23EEB8}"/>
              </a:ext>
            </a:extLst>
          </p:cNvPr>
          <p:cNvSpPr>
            <a:spLocks noGrp="1"/>
          </p:cNvSpPr>
          <p:nvPr/>
        </p:nvSpPr>
        <p:spPr>
          <a:xfrm>
            <a:off x="819150" y="4533900"/>
            <a:ext cx="76200" cy="11239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8A5B32-6F36-4487-ADCD-487B1E62517E}"/>
              </a:ext>
            </a:extLst>
          </p:cNvPr>
          <p:cNvSpPr>
            <a:spLocks noGrp="1"/>
          </p:cNvSpPr>
          <p:nvPr/>
        </p:nvSpPr>
        <p:spPr>
          <a:xfrm>
            <a:off x="1009650" y="47053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Bad business value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BFCBB-331D-4DD6-A5F9-9E353CFF931E}"/>
              </a:ext>
            </a:extLst>
          </p:cNvPr>
          <p:cNvSpPr>
            <a:spLocks noGrp="1"/>
          </p:cNvSpPr>
          <p:nvPr/>
        </p:nvSpPr>
        <p:spPr>
          <a:xfrm>
            <a:off x="3143250" y="47053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An order has an unapproved status or an impossible amount.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BCF95F7-B2F5-4721-8C0F-9BB723270740}"/>
              </a:ext>
            </a:extLst>
          </p:cNvPr>
          <p:cNvSpPr>
            <a:spLocks noGrp="1"/>
          </p:cNvSpPr>
          <p:nvPr/>
        </p:nvSpPr>
        <p:spPr>
          <a:xfrm>
            <a:off x="6153150" y="45339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09B0E-47BB-4704-B943-589F8C9F415F}"/>
              </a:ext>
            </a:extLst>
          </p:cNvPr>
          <p:cNvSpPr>
            <a:spLocks noGrp="1"/>
          </p:cNvSpPr>
          <p:nvPr/>
        </p:nvSpPr>
        <p:spPr>
          <a:xfrm>
            <a:off x="6153150" y="4533900"/>
            <a:ext cx="76200" cy="11239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69089C-F108-42FA-950A-ABC9D77A24FA}"/>
              </a:ext>
            </a:extLst>
          </p:cNvPr>
          <p:cNvSpPr>
            <a:spLocks noGrp="1"/>
          </p:cNvSpPr>
          <p:nvPr/>
        </p:nvSpPr>
        <p:spPr>
          <a:xfrm>
            <a:off x="6343650" y="47053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Duplicate replay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B472AE-CBEC-4DDA-90D3-4B2310157214}"/>
              </a:ext>
            </a:extLst>
          </p:cNvPr>
          <p:cNvSpPr>
            <a:spLocks noGrp="1"/>
          </p:cNvSpPr>
          <p:nvPr/>
        </p:nvSpPr>
        <p:spPr>
          <a:xfrm>
            <a:off x="8477250" y="47053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An already-processed order arrives again during an incremental load.</a:t>
            </a:r>
          </a:p>
        </p:txBody>
      </p:sp>
    </p:spTree>
    <p:extLst>
      <p:ext uri="{BB962C8B-B14F-4D97-AF65-F5344CB8AC3E}">
        <p14:creationId xmlns:p14="http://schemas.microsoft.com/office/powerpoint/2010/main" val="670192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04BFBAF-D975-489E-B980-0E27B2010D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91AC9A-CDDF-4809-922B-A4F44D552E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D72ACC-46A2-4CF4-98A7-7668CF47BB96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F815F8-52BE-4535-8A80-003AB56652BF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EC64EC-4D30-4ADE-8DEE-F931D2FBF8A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7791A-4BD5-4830-96F4-C714308DDEE0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4D44E-87E5-44A6-9662-5274BC4BBC90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1050A4-CB28-4539-9140-79D53756259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Tools and execution options in Fabric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1DC455-C9E6-4335-B62C-908C0D6FD29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K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now where checks can run.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6A5CE3-D70E-47B0-AC47-0722F78083E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1587FA-53E4-4516-96EC-919FE18714DA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B569D-7138-445A-A9E9-DCE31D2DDA83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SQL endpoint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B89D5E-0026-4F0E-9009-C9452970BCE6}"/>
              </a:ext>
            </a:extLst>
          </p:cNvPr>
          <p:cNvSpPr>
            <a:spLocks noGrp="1"/>
          </p:cNvSpPr>
          <p:nvPr/>
        </p:nvSpPr>
        <p:spPr>
          <a:xfrm>
            <a:off x="3200400" y="327660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Fast for counts, joins, aggregates, and anomaly checks.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274D44-9BF2-4F4C-8774-FA73EBFE1B5C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1F5D40-90C4-4352-A54A-5A129781B36B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76200" cy="10477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94AD3-2C4B-4186-9DBE-20625CC09128}"/>
              </a:ext>
            </a:extLst>
          </p:cNvPr>
          <p:cNvSpPr>
            <a:spLocks noGrp="1"/>
          </p:cNvSpPr>
          <p:nvPr/>
        </p:nvSpPr>
        <p:spPr>
          <a:xfrm>
            <a:off x="63436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Notebooks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4DC9BF-B904-4441-AEB6-7DDE6DA1F0DB}"/>
              </a:ext>
            </a:extLst>
          </p:cNvPr>
          <p:cNvSpPr>
            <a:spLocks noGrp="1"/>
          </p:cNvSpPr>
          <p:nvPr/>
        </p:nvSpPr>
        <p:spPr>
          <a:xfrm>
            <a:off x="8534400" y="327660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Useful for profiling, transformations, and richer data logic.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B2FAD60-CDBB-4A63-BD16-3E18F71D9611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D3E299-9B56-45ED-B263-D6AB64614E7A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76200" cy="10477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D5126C-A8A6-4B0B-A659-B11FC1B90C8C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Dataflows Gen2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B8B759-7119-459E-AA26-19C5CA67DDC9}"/>
              </a:ext>
            </a:extLst>
          </p:cNvPr>
          <p:cNvSpPr>
            <a:spLocks noGrp="1"/>
          </p:cNvSpPr>
          <p:nvPr/>
        </p:nvSpPr>
        <p:spPr>
          <a:xfrm>
            <a:off x="3200400" y="4552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677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Useful for visible low-code transformations and cleansing steps.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65DC16E-6968-4886-8EAD-F05C9DA1B1CC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56A6BA-04F6-44A9-96DE-2E619FF3C73F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76200" cy="10477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9C6013-EF96-4312-B292-D3F57E4334DC}"/>
              </a:ext>
            </a:extLst>
          </p:cNvPr>
          <p:cNvSpPr>
            <a:spLocks noGrp="1"/>
          </p:cNvSpPr>
          <p:nvPr/>
        </p:nvSpPr>
        <p:spPr>
          <a:xfrm>
            <a:off x="6343650" y="4552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Validation frameworks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64E2C3-F021-4346-A216-36091B24BE1A}"/>
              </a:ext>
            </a:extLst>
          </p:cNvPr>
          <p:cNvSpPr>
            <a:spLocks noGrp="1"/>
          </p:cNvSpPr>
          <p:nvPr/>
        </p:nvSpPr>
        <p:spPr>
          <a:xfrm>
            <a:off x="8534400" y="4552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Great Expectations or Pandera can turn rules into reusable checks.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456B5A4-1631-40B7-B793-C47F68D1817B}"/>
              </a:ext>
            </a:extLst>
          </p:cNvPr>
          <p:cNvSpPr>
            <a:spLocks noGrp="1"/>
          </p:cNvSpPr>
          <p:nvPr/>
        </p:nvSpPr>
        <p:spPr>
          <a:xfrm>
            <a:off x="2724150" y="5715000"/>
            <a:ext cx="6743700" cy="304800"/>
          </a:xfrm>
          <a:prstGeom prst="roundRect">
            <a:avLst>
              <a:gd name="adj" fmla="val 25000"/>
            </a:avLst>
          </a:prstGeom>
          <a:solidFill>
            <a:srgbClr val="F1ECE4"/>
          </a:solidFill>
          <a:ln w="0">
            <a:solidFill>
              <a:srgbClr val="F1ECE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21F6DD-CE33-4D87-9D80-9E628B94591C}"/>
              </a:ext>
            </a:extLst>
          </p:cNvPr>
          <p:cNvSpPr>
            <a:spLocks noGrp="1"/>
          </p:cNvSpPr>
          <p:nvPr/>
        </p:nvSpPr>
        <p:spPr>
          <a:xfrm>
            <a:off x="2857500" y="5781675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QA takeaway: the best tool is the one that makes the rule observable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1854763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D934087-EC5A-4451-8697-5C279A8B1C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665E5-BF11-46FD-98F9-9894EFD7C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B0F2A4-F745-4CD1-BD22-4B955AB195B2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E1E5CB-51BE-41F2-84CF-2F9F46F55593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EA8D6D-1593-42CF-B326-230E464555D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2C447-AFFF-44AF-A4E2-5F117781F623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TEST-CASES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BAF2A-65C1-4650-AEF7-5C5BD81C7A94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08540-ED82-43FD-A716-E9856515606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Turning rules into test cases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992BB-7E3E-497F-902D-993C21169ABC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N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ot only finding issues; it is learning how to describe checks repeatably.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85DCB3-ACCB-4967-A3CC-BE112942B797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0572750" cy="2781300"/>
          </a:xfrm>
          <a:prstGeom prst="roundRect">
            <a:avLst>
              <a:gd name="adj" fmla="val 2740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13F1F-123F-4104-B33E-1B8CC523532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ADEA1E-6F1D-4C8A-841B-EBA0C4AB5395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AC466C-7FEB-47B9-A10F-4F5581625FFD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76200" cy="17526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DB9C64-CE6E-4171-AF5A-8B459A0780D3}"/>
              </a:ext>
            </a:extLst>
          </p:cNvPr>
          <p:cNvSpPr>
            <a:spLocks noGrp="1"/>
          </p:cNvSpPr>
          <p:nvPr/>
        </p:nvSpPr>
        <p:spPr>
          <a:xfrm>
            <a:off x="1219200" y="3867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928A24-FEC7-4C4B-BF60-FC3DBBB35CD7}"/>
              </a:ext>
            </a:extLst>
          </p:cNvPr>
          <p:cNvSpPr>
            <a:spLocks noGrp="1"/>
          </p:cNvSpPr>
          <p:nvPr/>
        </p:nvSpPr>
        <p:spPr>
          <a:xfrm>
            <a:off x="12192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State the expected business or structural behavior.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B250B20-802F-40DA-AA64-6A8392620EF7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C9DBDD-3FEF-4E93-BEA6-3DF06864077E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76200" cy="17526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C67C9C-D352-4DBB-9657-3D6F140A8BB8}"/>
              </a:ext>
            </a:extLst>
          </p:cNvPr>
          <p:cNvSpPr>
            <a:spLocks noGrp="1"/>
          </p:cNvSpPr>
          <p:nvPr/>
        </p:nvSpPr>
        <p:spPr>
          <a:xfrm>
            <a:off x="3238500" y="3867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Input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E9427A-8651-4A5B-B2E5-0ADFD2A4F873}"/>
              </a:ext>
            </a:extLst>
          </p:cNvPr>
          <p:cNvSpPr>
            <a:spLocks noGrp="1"/>
          </p:cNvSpPr>
          <p:nvPr/>
        </p:nvSpPr>
        <p:spPr>
          <a:xfrm>
            <a:off x="32385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Identify the layer, table, or file where the check runs.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74F358E-487A-48F9-B1DB-CE48C587F823}"/>
              </a:ext>
            </a:extLst>
          </p:cNvPr>
          <p:cNvSpPr>
            <a:spLocks noGrp="1"/>
          </p:cNvSpPr>
          <p:nvPr/>
        </p:nvSpPr>
        <p:spPr>
          <a:xfrm>
            <a:off x="51054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BB6731-13CB-4F87-830F-2FCECE86F195}"/>
              </a:ext>
            </a:extLst>
          </p:cNvPr>
          <p:cNvSpPr>
            <a:spLocks noGrp="1"/>
          </p:cNvSpPr>
          <p:nvPr/>
        </p:nvSpPr>
        <p:spPr>
          <a:xfrm>
            <a:off x="5105400" y="3638550"/>
            <a:ext cx="76200" cy="17526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077A8-067D-4948-81BB-0EB1A4FDB2DD}"/>
              </a:ext>
            </a:extLst>
          </p:cNvPr>
          <p:cNvSpPr>
            <a:spLocks noGrp="1"/>
          </p:cNvSpPr>
          <p:nvPr/>
        </p:nvSpPr>
        <p:spPr>
          <a:xfrm>
            <a:off x="5257800" y="3867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B8AC02-8009-4850-A9B5-5571187656DD}"/>
              </a:ext>
            </a:extLst>
          </p:cNvPr>
          <p:cNvSpPr>
            <a:spLocks noGrp="1"/>
          </p:cNvSpPr>
          <p:nvPr/>
        </p:nvSpPr>
        <p:spPr>
          <a:xfrm>
            <a:off x="52578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Describe the query, notebook logic, or framework check.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39379A0-C6CD-4CDA-991E-DACF7E3E858A}"/>
              </a:ext>
            </a:extLst>
          </p:cNvPr>
          <p:cNvSpPr>
            <a:spLocks noGrp="1"/>
          </p:cNvSpPr>
          <p:nvPr/>
        </p:nvSpPr>
        <p:spPr>
          <a:xfrm>
            <a:off x="71247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9873E9-47D3-4818-A8E8-59D919549311}"/>
              </a:ext>
            </a:extLst>
          </p:cNvPr>
          <p:cNvSpPr>
            <a:spLocks noGrp="1"/>
          </p:cNvSpPr>
          <p:nvPr/>
        </p:nvSpPr>
        <p:spPr>
          <a:xfrm>
            <a:off x="7124700" y="3638550"/>
            <a:ext cx="76200" cy="175260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B8ABEA-7A2B-48A6-B27A-478B792F86CB}"/>
              </a:ext>
            </a:extLst>
          </p:cNvPr>
          <p:cNvSpPr>
            <a:spLocks noGrp="1"/>
          </p:cNvSpPr>
          <p:nvPr/>
        </p:nvSpPr>
        <p:spPr>
          <a:xfrm>
            <a:off x="7277100" y="386715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Expected result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672FA4-65D7-44E3-AF74-8758FF4861A6}"/>
              </a:ext>
            </a:extLst>
          </p:cNvPr>
          <p:cNvSpPr>
            <a:spLocks noGrp="1"/>
          </p:cNvSpPr>
          <p:nvPr/>
        </p:nvSpPr>
        <p:spPr>
          <a:xfrm>
            <a:off x="72771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Define pass, fail, reject, or warning outcomes.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70A67E8-CDAE-412C-81C1-82C792EBE5B4}"/>
              </a:ext>
            </a:extLst>
          </p:cNvPr>
          <p:cNvSpPr>
            <a:spLocks noGrp="1"/>
          </p:cNvSpPr>
          <p:nvPr/>
        </p:nvSpPr>
        <p:spPr>
          <a:xfrm>
            <a:off x="91440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6C7251-DFA7-499D-BAB5-9E15EE493E19}"/>
              </a:ext>
            </a:extLst>
          </p:cNvPr>
          <p:cNvSpPr>
            <a:spLocks noGrp="1"/>
          </p:cNvSpPr>
          <p:nvPr/>
        </p:nvSpPr>
        <p:spPr>
          <a:xfrm>
            <a:off x="9144000" y="3638550"/>
            <a:ext cx="76200" cy="17526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11FCBD-0194-4FF3-ACBD-BAA8FA05C779}"/>
              </a:ext>
            </a:extLst>
          </p:cNvPr>
          <p:cNvSpPr>
            <a:spLocks noGrp="1"/>
          </p:cNvSpPr>
          <p:nvPr/>
        </p:nvSpPr>
        <p:spPr>
          <a:xfrm>
            <a:off x="9296400" y="3867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Evidence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7CDFBE-470F-418E-8894-6FDD1245DC71}"/>
              </a:ext>
            </a:extLst>
          </p:cNvPr>
          <p:cNvSpPr>
            <a:spLocks noGrp="1"/>
          </p:cNvSpPr>
          <p:nvPr/>
        </p:nvSpPr>
        <p:spPr>
          <a:xfrm>
            <a:off x="92964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Record the output that proves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1075140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014F117-78A8-4756-B69E-5CCB8BEACE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5A3C45-9F01-43BD-8726-C2CF3DAD38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738F6A-E18A-4290-99E2-8239A7FCFEA5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5E3108-D075-4A7B-B145-F2B2ABAA3A8B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538C6D-5A85-4F87-AE00-7EF964F8D03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8BB68-5983-4C87-A87B-9DEC44A1DE5F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2073B-D85B-48C4-8F08-1B175B448272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45FC7-B306-498E-91BD-0A48AFF4B28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Day 2 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2B23D-C9E7-486F-AB5F-85B64D2789A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L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ab uses a medallion-style quality-testing story for Contoso Outdoor Retail.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353C9A-C440-4A52-B1B3-36C7E3F19A6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448050" cy="2781300"/>
          </a:xfrm>
          <a:prstGeom prst="roundRect">
            <a:avLst>
              <a:gd name="adj" fmla="val 274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E4FBE3-67D3-4662-A6CF-801DC699D036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71BA97-C81F-4EE6-B996-0FE044EA6CA8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Raw inputs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CE4C4-41EA-443F-97FF-7255E8731425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7241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Customer, product, and order files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small dataset that contains quality issues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An incremental order file with late-arriving and invalid records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5762E2B-25B6-4D91-BE50-179E67585419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67437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F5CF80-3124-455F-BDE3-B944B16BCAC4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76200" cy="278130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77F73A-EF54-4346-A560-9C7BB79ED087}"/>
              </a:ext>
            </a:extLst>
          </p:cNvPr>
          <p:cNvSpPr>
            <a:spLocks noGrp="1"/>
          </p:cNvSpPr>
          <p:nvPr/>
        </p:nvSpPr>
        <p:spPr>
          <a:xfrm>
            <a:off x="480060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Lab outputs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12133E-DCD4-4FCF-85CC-64BFA9B7C5FE}"/>
              </a:ext>
            </a:extLst>
          </p:cNvPr>
          <p:cNvSpPr>
            <a:spLocks noGrp="1"/>
          </p:cNvSpPr>
          <p:nvPr/>
        </p:nvSpPr>
        <p:spPr>
          <a:xfrm>
            <a:off x="4819650" y="3733800"/>
            <a:ext cx="58102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Bronze tables that expose raw data and defects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Silver tables that apply cleansing and validation logic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Gold summaries that support business-ready checks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rejected-record or issue view learners can inspect as QA evidence</a:t>
            </a:r>
          </a:p>
        </p:txBody>
      </p:sp>
    </p:spTree>
    <p:extLst>
      <p:ext uri="{BB962C8B-B14F-4D97-AF65-F5344CB8AC3E}">
        <p14:creationId xmlns:p14="http://schemas.microsoft.com/office/powerpoint/2010/main" val="505597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7F54727-AE97-4AD8-92F4-1DD1E8D486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53A968-89A4-4AC8-9EDD-4E7F3C497D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5B90C9-8B47-4164-A9C2-3340C86621B6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578ABA-81E4-485A-9C79-30E9E962B5B6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A9B964-540F-48F5-A3CA-65871A95C16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8C8B9A-CB67-4E25-BC5F-374F20B43B95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5B601-659C-4DC1-939C-3D587D189360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50763C-0FEE-49F3-81D6-EA6CCD5C1AF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</a:t>
            </a:r>
            <a:r>
              <a:rPr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ab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1C8CE-92FF-4618-9119-D355BDAA1655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lab moves from raw data to validation evidence in a logical sequence.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EEA8387-FBA1-44CC-82D8-5C6072E1E68F}"/>
              </a:ext>
            </a:extLst>
          </p:cNvPr>
          <p:cNvSpPr>
            <a:spLocks noGrp="1"/>
          </p:cNvSpPr>
          <p:nvPr/>
        </p:nvSpPr>
        <p:spPr>
          <a:xfrm>
            <a:off x="1200150" y="302895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8DDB3-98C7-4346-B298-46BE51D7C081}"/>
              </a:ext>
            </a:extLst>
          </p:cNvPr>
          <p:cNvSpPr>
            <a:spLocks noGrp="1"/>
          </p:cNvSpPr>
          <p:nvPr/>
        </p:nvSpPr>
        <p:spPr>
          <a:xfrm>
            <a:off x="1200150" y="3028950"/>
            <a:ext cx="76200" cy="476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E828C4F-C5AD-40DD-B443-EA68179B5694}"/>
              </a:ext>
            </a:extLst>
          </p:cNvPr>
          <p:cNvSpPr>
            <a:spLocks noGrp="1"/>
          </p:cNvSpPr>
          <p:nvPr/>
        </p:nvSpPr>
        <p:spPr>
          <a:xfrm>
            <a:off x="1409700" y="311467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D63D5F-614D-479E-9930-F62FE3550E13}"/>
              </a:ext>
            </a:extLst>
          </p:cNvPr>
          <p:cNvSpPr>
            <a:spLocks noGrp="1"/>
          </p:cNvSpPr>
          <p:nvPr/>
        </p:nvSpPr>
        <p:spPr>
          <a:xfrm>
            <a:off x="1543050" y="31813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244D77-180E-464D-9316-06DD6B73EF15}"/>
              </a:ext>
            </a:extLst>
          </p:cNvPr>
          <p:cNvSpPr>
            <a:spLocks noGrp="1"/>
          </p:cNvSpPr>
          <p:nvPr/>
        </p:nvSpPr>
        <p:spPr>
          <a:xfrm>
            <a:off x="2133600" y="31432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Create the Day 2 workspace and Lakehouse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681198-767D-47B8-8B34-DA5B8A6AF3BF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1E55E1-05F6-4D15-B560-F4B3A43AA2DD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76200" cy="4762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FFA71C-43C9-492C-9733-D017869710C9}"/>
              </a:ext>
            </a:extLst>
          </p:cNvPr>
          <p:cNvSpPr>
            <a:spLocks noGrp="1"/>
          </p:cNvSpPr>
          <p:nvPr/>
        </p:nvSpPr>
        <p:spPr>
          <a:xfrm>
            <a:off x="1409700" y="370522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4CA2D3-8696-4F42-9330-92D9B9FB6A9C}"/>
              </a:ext>
            </a:extLst>
          </p:cNvPr>
          <p:cNvSpPr>
            <a:spLocks noGrp="1"/>
          </p:cNvSpPr>
          <p:nvPr/>
        </p:nvSpPr>
        <p:spPr>
          <a:xfrm>
            <a:off x="1543050" y="37719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F7FDA8-9927-4837-882E-C6D67922D1EB}"/>
              </a:ext>
            </a:extLst>
          </p:cNvPr>
          <p:cNvSpPr>
            <a:spLocks noGrp="1"/>
          </p:cNvSpPr>
          <p:nvPr/>
        </p:nvSpPr>
        <p:spPr>
          <a:xfrm>
            <a:off x="2133600" y="3733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Load raw files and build Bronze tables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AE482A5-124A-4039-B800-A40C068B3A3B}"/>
              </a:ext>
            </a:extLst>
          </p:cNvPr>
          <p:cNvSpPr>
            <a:spLocks noGrp="1"/>
          </p:cNvSpPr>
          <p:nvPr/>
        </p:nvSpPr>
        <p:spPr>
          <a:xfrm>
            <a:off x="1200150" y="421005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C4192-BBFF-44D1-B73C-0236F2528C80}"/>
              </a:ext>
            </a:extLst>
          </p:cNvPr>
          <p:cNvSpPr>
            <a:spLocks noGrp="1"/>
          </p:cNvSpPr>
          <p:nvPr/>
        </p:nvSpPr>
        <p:spPr>
          <a:xfrm>
            <a:off x="1200150" y="4210050"/>
            <a:ext cx="76200" cy="476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4F2167A-6C06-4BC5-B6D9-154D31C967A9}"/>
              </a:ext>
            </a:extLst>
          </p:cNvPr>
          <p:cNvSpPr>
            <a:spLocks noGrp="1"/>
          </p:cNvSpPr>
          <p:nvPr/>
        </p:nvSpPr>
        <p:spPr>
          <a:xfrm>
            <a:off x="1409700" y="429577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8B96BF-CD5C-43A6-A468-78879B44F96A}"/>
              </a:ext>
            </a:extLst>
          </p:cNvPr>
          <p:cNvSpPr>
            <a:spLocks noGrp="1"/>
          </p:cNvSpPr>
          <p:nvPr/>
        </p:nvSpPr>
        <p:spPr>
          <a:xfrm>
            <a:off x="1543050" y="43624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7D03DB-365F-4B24-98F0-7C525EECED43}"/>
              </a:ext>
            </a:extLst>
          </p:cNvPr>
          <p:cNvSpPr>
            <a:spLocks noGrp="1"/>
          </p:cNvSpPr>
          <p:nvPr/>
        </p:nvSpPr>
        <p:spPr>
          <a:xfrm>
            <a:off x="2133600" y="43243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Run quality checks and identify defects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4C90D99-3675-4643-A167-9F98C156D167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073566-C211-4F5A-9C19-B9660C31312C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76200" cy="4762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812F55E-50B0-4942-A754-86411A40060F}"/>
              </a:ext>
            </a:extLst>
          </p:cNvPr>
          <p:cNvSpPr>
            <a:spLocks noGrp="1"/>
          </p:cNvSpPr>
          <p:nvPr/>
        </p:nvSpPr>
        <p:spPr>
          <a:xfrm>
            <a:off x="1409700" y="488632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F13B0D-8419-429E-8B81-5553D274DB87}"/>
              </a:ext>
            </a:extLst>
          </p:cNvPr>
          <p:cNvSpPr>
            <a:spLocks noGrp="1"/>
          </p:cNvSpPr>
          <p:nvPr/>
        </p:nvSpPr>
        <p:spPr>
          <a:xfrm>
            <a:off x="1543050" y="4953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0D3D22-1198-4163-A46E-DF69697142B7}"/>
              </a:ext>
            </a:extLst>
          </p:cNvPr>
          <p:cNvSpPr>
            <a:spLocks noGrp="1"/>
          </p:cNvSpPr>
          <p:nvPr/>
        </p:nvSpPr>
        <p:spPr>
          <a:xfrm>
            <a:off x="2133600" y="49149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Create Silver and Gold outputs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C9CB11B-CECB-4F57-A810-1DF853A73FCE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570039-CC41-45CA-BE38-322B4F422B18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76200" cy="476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E5B95E0-AD82-44FB-9A1C-17F142DB0600}"/>
              </a:ext>
            </a:extLst>
          </p:cNvPr>
          <p:cNvSpPr>
            <a:spLocks noGrp="1"/>
          </p:cNvSpPr>
          <p:nvPr/>
        </p:nvSpPr>
        <p:spPr>
          <a:xfrm>
            <a:off x="1409700" y="547687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98EA98-EBED-456E-83C7-12820481A256}"/>
              </a:ext>
            </a:extLst>
          </p:cNvPr>
          <p:cNvSpPr>
            <a:spLocks noGrp="1"/>
          </p:cNvSpPr>
          <p:nvPr/>
        </p:nvSpPr>
        <p:spPr>
          <a:xfrm>
            <a:off x="1543050" y="55435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C168AE-C3AA-4BE1-B87E-E291520F4385}"/>
              </a:ext>
            </a:extLst>
          </p:cNvPr>
          <p:cNvSpPr>
            <a:spLocks noGrp="1"/>
          </p:cNvSpPr>
          <p:nvPr/>
        </p:nvSpPr>
        <p:spPr>
          <a:xfrm>
            <a:off x="2133600" y="55054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Test the incremental file and record findings</a:t>
            </a:r>
          </a:p>
        </p:txBody>
      </p:sp>
    </p:spTree>
    <p:extLst>
      <p:ext uri="{BB962C8B-B14F-4D97-AF65-F5344CB8AC3E}">
        <p14:creationId xmlns:p14="http://schemas.microsoft.com/office/powerpoint/2010/main" val="194956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75E481D-8580-46AA-906D-9E855A8A67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27731F-E40A-4547-806D-30BF1B8601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1C7024F-6193-4DF0-A17A-3AB4CD7681E6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34BBDC-95F8-428D-8BAA-B334179D8519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8E8397-9496-43E0-8756-02A84DF53BB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7E49D-E223-403D-890B-CBBF3A687F49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E5808-96F5-4282-AA3F-B956F5E22AD1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45DD2-9C0C-449D-96E4-664787E76C1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Expected outputs and QA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3FBDF2-5712-42F1-AB10-C0CFA5662EC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Should 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produce both data outputs and explicit evidence of how the rules behaved.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98238A-C699-49F7-8F34-0096A9C2562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9954E-026C-4D0E-AB12-5DC12DE575B9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E74779-5FDB-4758-89D5-A8355C7A6235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Bronze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EEB7E-086C-49A5-A036-4C88263E9290}"/>
              </a:ext>
            </a:extLst>
          </p:cNvPr>
          <p:cNvSpPr>
            <a:spLocks noGrp="1"/>
          </p:cNvSpPr>
          <p:nvPr/>
        </p:nvSpPr>
        <p:spPr>
          <a:xfrm>
            <a:off x="3276600" y="32766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Raw row counts, visible defects, and file-to-table landing proof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B719C2-FBEB-49B3-BBD9-E4ABCA64858A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94B852-94BA-4A06-BA25-7EF92833B275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76200" cy="10477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686D4B-8F6D-4397-80A0-0FDB77F77493}"/>
              </a:ext>
            </a:extLst>
          </p:cNvPr>
          <p:cNvSpPr>
            <a:spLocks noGrp="1"/>
          </p:cNvSpPr>
          <p:nvPr/>
        </p:nvSpPr>
        <p:spPr>
          <a:xfrm>
            <a:off x="6343650" y="3276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Silver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F7B870-2148-4DDF-9ECD-32E7BF0F2D7E}"/>
              </a:ext>
            </a:extLst>
          </p:cNvPr>
          <p:cNvSpPr>
            <a:spLocks noGrp="1"/>
          </p:cNvSpPr>
          <p:nvPr/>
        </p:nvSpPr>
        <p:spPr>
          <a:xfrm>
            <a:off x="8610600" y="32766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Cleansed rows, filtered rejects, and validation query outputs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9D9233-6561-4544-889D-5FE260360CA5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E6A4AF-1A16-4DDE-9B9C-BDD94C7887CE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76200" cy="104775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7FFDD8-6531-4729-8AE5-340DD6140BEC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Gold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344255-44E9-4145-858A-C6EC6BECD28A}"/>
              </a:ext>
            </a:extLst>
          </p:cNvPr>
          <p:cNvSpPr>
            <a:spLocks noGrp="1"/>
          </p:cNvSpPr>
          <p:nvPr/>
        </p:nvSpPr>
        <p:spPr>
          <a:xfrm>
            <a:off x="3276600" y="455295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Reconciled totals, summaries, and business-facing sanity checks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10EA68-3680-4638-BCAA-F41C05F51CB4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57B294-25C0-4415-A588-5BE84E1B755B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76200" cy="10477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DA5B9F-01F2-4230-B7E0-F40C7CF45594}"/>
              </a:ext>
            </a:extLst>
          </p:cNvPr>
          <p:cNvSpPr>
            <a:spLocks noGrp="1"/>
          </p:cNvSpPr>
          <p:nvPr/>
        </p:nvSpPr>
        <p:spPr>
          <a:xfrm>
            <a:off x="6343650" y="4552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QA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35B2C8-66D4-460C-943C-90F397F9DFB3}"/>
              </a:ext>
            </a:extLst>
          </p:cNvPr>
          <p:cNvSpPr>
            <a:spLocks noGrp="1"/>
          </p:cNvSpPr>
          <p:nvPr/>
        </p:nvSpPr>
        <p:spPr>
          <a:xfrm>
            <a:off x="8610600" y="455295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377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Worksheet notes, query results, issue counts, and proposed test cases</a:t>
            </a:r>
          </a:p>
        </p:txBody>
      </p:sp>
    </p:spTree>
    <p:extLst>
      <p:ext uri="{BB962C8B-B14F-4D97-AF65-F5344CB8AC3E}">
        <p14:creationId xmlns:p14="http://schemas.microsoft.com/office/powerpoint/2010/main" val="1106879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1B2B81B-78E9-44FD-8DD7-2AA6E7E9EE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6E0E08-9614-4CC3-B1C0-7DA42D7782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3A3FFE-72B9-4436-BD1B-777D128EC89C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402D21-3414-4B08-9E51-4437CFC582CC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761EFC-7834-4F77-BB3E-521BBB41769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C4FE6-EC6D-46EC-A0E9-F970E3546264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PITFALLS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B2EDB-7A95-4483-9F4C-A9B2D6643B43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71A13-3F14-4137-B408-57161084AF9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Common pitfalls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99CE95-1A98-492A-92F9-61A5F37165C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These mistakes are common because people often confuse data loading with data quality validation.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8B2052-B2E6-4802-9B9C-3BAC33B0F02D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029200" cy="2781300"/>
          </a:xfrm>
          <a:prstGeom prst="roundRect">
            <a:avLst>
              <a:gd name="adj" fmla="val 2740"/>
            </a:avLst>
          </a:prstGeom>
          <a:solidFill>
            <a:srgbClr val="F6E2DE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41-219D-4EA5-AAC5-F30B64F49823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65EC2-C6AF-4A4B-AB57-003444E56019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Common mistakes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F3A2F6-B3E0-4ED3-BFBC-B5705F977C42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42100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Checking only row counts and skipping business rules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Treating Bronze data as if it should already be clean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Ignoring incremental-load behavior and replays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Recording results without preserving enough QA evidence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C355555-2D30-4080-B239-5835A2E471F1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5124450" cy="2781300"/>
          </a:xfrm>
          <a:prstGeom prst="roundRect">
            <a:avLst>
              <a:gd name="adj" fmla="val 274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6F5175-BFEF-46B2-B444-9E25F92A6F91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76200" cy="2781300"/>
          </a:xfrm>
          <a:prstGeom prst="rect">
            <a:avLst/>
          </a:prstGeom>
          <a:solidFill>
            <a:srgbClr val="5B8B62"/>
          </a:solidFill>
          <a:ln w="0">
            <a:solidFill>
              <a:srgbClr val="5B8B6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2892B2-DFB9-41FC-8BDF-DCDD75B7E468}"/>
              </a:ext>
            </a:extLst>
          </p:cNvPr>
          <p:cNvSpPr>
            <a:spLocks noGrp="1"/>
          </p:cNvSpPr>
          <p:nvPr/>
        </p:nvSpPr>
        <p:spPr>
          <a:xfrm>
            <a:off x="64198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Better habits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FC5DC8-0108-4499-85D1-9C5FC2AF89E3}"/>
              </a:ext>
            </a:extLst>
          </p:cNvPr>
          <p:cNvSpPr>
            <a:spLocks noGrp="1"/>
          </p:cNvSpPr>
          <p:nvPr/>
        </p:nvSpPr>
        <p:spPr>
          <a:xfrm>
            <a:off x="6438900" y="3733800"/>
            <a:ext cx="43053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Match checks to the purpose of each medallion layer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Separate structural failures from business-rule failures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Track expected and unexpected record rejection behavior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Turn findings into reusable test cases for future runs</a:t>
            </a:r>
          </a:p>
        </p:txBody>
      </p:sp>
    </p:spTree>
    <p:extLst>
      <p:ext uri="{BB962C8B-B14F-4D97-AF65-F5344CB8AC3E}">
        <p14:creationId xmlns:p14="http://schemas.microsoft.com/office/powerpoint/2010/main" val="1722915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D070D3E-CF18-42D2-A514-64F0A148D8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E46DF-F3D0-4498-8E46-0A49161737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7A90D2-3F32-4801-A570-07FAF446F623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97A510-BDF1-41E8-B357-002DDADA1A99}"/>
              </a:ext>
            </a:extLst>
          </p:cNvPr>
          <p:cNvSpPr>
            <a:spLocks noGrp="1"/>
          </p:cNvSpPr>
          <p:nvPr/>
        </p:nvSpPr>
        <p:spPr>
          <a:xfrm>
            <a:off x="11010900" y="209550"/>
            <a:ext cx="952500" cy="9525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84E437-F202-4D6B-8015-9FA67ACA20D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962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0FB774-D328-486A-B3B4-3D28F743321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RECAP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C1F809-3641-4AF3-A026-C2736B6C3A51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9C88C3-FF85-4946-A758-8AC43BCF7D7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Recap and transition to Module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BEC6B3-7B3B-45AB-B02A-E2822AFC50D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Module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 2 turns platform awareness into data-validation behavior.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0B0D58-63E4-49B3-A682-F6A3073FDFF0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21177-E1AA-49F1-A444-D16E30B3AD95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76200" cy="10668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6B718-DE44-4A1F-A2FA-A64340995A8C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3588124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Medallion layers are QA checkpoints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062257-2DE1-49CE-BDA5-3096BFB792D4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Each layer changes what 'correct' should mean.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26A55C-21A0-4AE1-B033-DDE69C4AAC0A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5B750-D444-48B0-A67E-4012487693E7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76200" cy="10668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69F5F5-E463-4B16-9892-5DC32B91E3C8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350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Data quality has multiple dimensions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AEFD17-AB75-4F26-B948-B4FD6A841D15}"/>
              </a:ext>
            </a:extLst>
          </p:cNvPr>
          <p:cNvSpPr>
            <a:spLocks noGrp="1"/>
          </p:cNvSpPr>
          <p:nvPr/>
        </p:nvSpPr>
        <p:spPr>
          <a:xfrm>
            <a:off x="6248400" y="363855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66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Schema, completeness, uniqueness, validity, and consistency all matter.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78A389-49F6-49A0-9ED3-87C49187B3FD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7B3ECC-0230-42FF-9CF6-55B055285E6B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64B6FE-DCED-4DBC-9E54-11487A091FDC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381000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Load strategy changes the test plan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F218A1-7EB1-4602-AE86-8CBBBA4D2252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897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Full and incremental loads require different evidence and questions.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E78F2D0-D476-45BB-A2D7-014F1A998525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FEE1FD-9CF9-4C57-8889-E8279DB50F66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1B2FEA-2C7F-4210-9EF3-A2BF2BE423E6}"/>
              </a:ext>
            </a:extLst>
          </p:cNvPr>
          <p:cNvSpPr>
            <a:spLocks noGrp="1"/>
          </p:cNvSpPr>
          <p:nvPr/>
        </p:nvSpPr>
        <p:spPr>
          <a:xfrm>
            <a:off x="6248400" y="4591050"/>
            <a:ext cx="3680012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Evidence matters as much as the result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6DF16D-B173-4A7A-99DA-8BC1C679CE84}"/>
              </a:ext>
            </a:extLst>
          </p:cNvPr>
          <p:cNvSpPr>
            <a:spLocks noGrp="1"/>
          </p:cNvSpPr>
          <p:nvPr/>
        </p:nvSpPr>
        <p:spPr>
          <a:xfrm>
            <a:off x="6248400" y="491490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884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Good QA records queries, findings, and the logic behind each check.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BF73C9A-81CC-4D01-9FF6-84A51FCDB7AB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0496550" cy="552450"/>
          </a:xfrm>
          <a:prstGeom prst="roundRect">
            <a:avLst>
              <a:gd name="adj" fmla="val 13793"/>
            </a:avLst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CA6BA4-743E-4D8D-8738-7A8DCAE21618}"/>
              </a:ext>
            </a:extLst>
          </p:cNvPr>
          <p:cNvSpPr>
            <a:spLocks noGrp="1"/>
          </p:cNvSpPr>
          <p:nvPr/>
        </p:nvSpPr>
        <p:spPr>
          <a:xfrm>
            <a:off x="1104900" y="5962650"/>
            <a:ext cx="990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Next up: Module 3 focuses on deeper Lakehouse and Warehouse testing, including Delta details, SQL validation, and reconciliation.</a:t>
            </a:r>
          </a:p>
        </p:txBody>
      </p:sp>
    </p:spTree>
    <p:extLst>
      <p:ext uri="{BB962C8B-B14F-4D97-AF65-F5344CB8AC3E}">
        <p14:creationId xmlns:p14="http://schemas.microsoft.com/office/powerpoint/2010/main" val="10642025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6400</Words>
  <Application>Microsoft Macintosh PowerPoint</Application>
  <DocSecurity>0</DocSecurity>
  <PresentationFormat>Widescreen</PresentationFormat>
  <Paragraphs>1045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Mono</vt:lpstr>
      <vt:lpstr>Caladea</vt:lpstr>
      <vt:lpstr>Calibri</vt:lpstr>
      <vt:lpstr>Lato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Kishore Chowdary</cp:lastModifiedBy>
  <cp:revision>1</cp:revision>
  <dcterms:created xsi:type="dcterms:W3CDTF">2026-04-28T10:45:46Z</dcterms:created>
  <dcterms:modified xsi:type="dcterms:W3CDTF">2026-05-05T06:01:32Z</dcterms:modified>
</cp:coreProperties>
</file>